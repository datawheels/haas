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978512-7594-4A81-8079-000856773A6C}">
  <a:tblStyle styleId="{76978512-7594-4A81-8079-000856773A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089059b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089059b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I remember watching </a:t>
            </a:r>
            <a:r>
              <a:rPr i="1" lang="en" sz="1050">
                <a:solidFill>
                  <a:srgbClr val="BBBEBF"/>
                </a:solidFill>
              </a:rPr>
              <a:t>The Social N</a:t>
            </a:r>
            <a:r>
              <a:rPr i="1" lang="en" sz="1050">
                <a:solidFill>
                  <a:srgbClr val="BBBEBF"/>
                </a:solidFill>
              </a:rPr>
              <a:t>e</a:t>
            </a:r>
            <a:r>
              <a:rPr i="1" lang="en" sz="1050">
                <a:solidFill>
                  <a:srgbClr val="BBBEBF"/>
                </a:solidFill>
              </a:rPr>
              <a:t>twork</a:t>
            </a:r>
            <a:r>
              <a:rPr lang="en" sz="1050">
                <a:solidFill>
                  <a:srgbClr val="BBBEBF"/>
                </a:solidFill>
              </a:rPr>
              <a:t> back in 2010. I got so charged up — all I could talk about with my friends was starting something of our own. We'd sit around at lunch, brainstorming ideas, full of energy.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Slowly, that energy faded for most of the group — except for one friend and me. We were hell-bent on making it happen.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BBBEBF"/>
                </a:solidFill>
              </a:rPr>
              <a:t>We finally landed on an idea, built a basic roadmap... and when it came to execution, we were all over the place. Six months in, we realized this took far more than we'd ever envisioned</a:t>
            </a:r>
            <a:r>
              <a:rPr lang="en" sz="1050">
                <a:solidFill>
                  <a:srgbClr val="BBBEBF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089059b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089059b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It starts with a goal. But not just the goal — you need to know your </a:t>
            </a:r>
            <a:r>
              <a:rPr i="1" lang="en" sz="1050">
                <a:solidFill>
                  <a:srgbClr val="BBBEBF"/>
                </a:solidFill>
              </a:rPr>
              <a:t>why</a:t>
            </a:r>
            <a:r>
              <a:rPr lang="en" sz="1050">
                <a:solidFill>
                  <a:srgbClr val="BBBEBF"/>
                </a:solidFill>
              </a:rPr>
              <a:t>, because that's what drives conviction and determination. Then you take a hard look at your calendar, and you carve out the time.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Let's try it right now. We're all here for our EMBA — how many hours a week do you think that actually takes? I estimated 20 hours, on a non-class week.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A week is 168 hours. Sleep takes 49. Work, including commute, 45. Exercise, 4. Showering and breakfast, 7. Dinner and cleanup, 11. Family, 10. That's 126 hours already spoken for.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That leaves 42.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BBBEBF"/>
                </a:solidFill>
              </a:rPr>
              <a:t>And before this program, those 42 hours were already spoken for too — friends, outings, projects, golf, hobbies, just relaxing.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6089059b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6089059b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Now every one of us has to pull 20 hours out of that 42 — and we have to be strategic about what stays and what goes.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We have two options. We can be reactive — let life happen, react to deadlines, scramble to deliver. Or we can be deliberate — sit down every Sunday evening for 30 minutes, and plan the week ahead.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BBBEBF"/>
                </a:solidFill>
              </a:rPr>
              <a:t>I know which one I'm choosing.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089059b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089059b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Calendar doesn’t Lie!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</a:t>
            </a:r>
            <a:r>
              <a:rPr i="1" lang="en"/>
              <a:t>t reveals the truth about your priorities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a Goal?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25" y="1196638"/>
            <a:ext cx="2111925" cy="332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7650" y="1196650"/>
            <a:ext cx="4638426" cy="33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Average week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21" y="1212262"/>
            <a:ext cx="5190474" cy="32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6666150" y="2360450"/>
            <a:ext cx="1515300" cy="1442700"/>
          </a:xfrm>
          <a:prstGeom prst="ellipse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hours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{76978512-7594-4A81-8079-000856773A6C}</a:tableStyleId>
              </a:tblPr>
              <a:tblGrid>
                <a:gridCol w="3619500"/>
                <a:gridCol w="3619500"/>
              </a:tblGrid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Reactive / Passive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Deliberate / Pro-active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Life happens to you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happen to your week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React to deadlines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Sunday, 30 minutes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Scramble to deliver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Plan, then execute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AutoNum type="arabicPeriod"/>
            </a:pPr>
            <a:r>
              <a:rPr lang="en" sz="3400"/>
              <a:t>Open your calendar. </a:t>
            </a:r>
            <a:endParaRPr sz="3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-444500" lvl="0" marL="457200" rtl="0" algn="l">
              <a:spcBef>
                <a:spcPts val="1200"/>
              </a:spcBef>
              <a:spcAft>
                <a:spcPts val="0"/>
              </a:spcAft>
              <a:buSzPts val="3400"/>
              <a:buAutoNum type="arabicPeriod"/>
            </a:pPr>
            <a:r>
              <a:rPr lang="en" sz="3400"/>
              <a:t>Block 30 minutes — tomorrow evening.</a:t>
            </a:r>
            <a:endParaRPr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
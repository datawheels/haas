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6978512-7594-4A81-8079-000856773A6C}">
  <a:tblStyle styleId="{76978512-7594-4A81-8079-000856773A6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Knowledge</c:v>
                </c:pt>
              </c:strCache>
            </c:strRef>
          </c:tx>
          <c:spPr>
            <a:solidFill>
              <a:srgbClr val="2A78D6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Effort needed</c:v>
                </c:pt>
                <c:pt idx="1">
                  <c:v>Current effort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95</c:v>
                </c:pt>
                <c:pt idx="1">
                  <c:v>20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Planning</c:v>
                </c:pt>
              </c:strCache>
            </c:strRef>
          </c:tx>
          <c:spPr>
            <a:solidFill>
              <a:srgbClr val="EB6834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Effort needed</c:v>
                </c:pt>
                <c:pt idx="1">
                  <c:v>Current effort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98</c:v>
                </c:pt>
                <c:pt idx="1">
                  <c:v>10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Execution</c:v>
                </c:pt>
              </c:strCache>
            </c:strRef>
          </c:tx>
          <c:spPr>
            <a:solidFill>
              <a:srgbClr val="1BAF7A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Effort needed</c:v>
                </c:pt>
                <c:pt idx="1">
                  <c:v>Current effort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99</c:v>
                </c:pt>
                <c:pt idx="1">
                  <c:v>24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Accountability</c:v>
                </c:pt>
              </c:strCache>
            </c:strRef>
          </c:tx>
          <c:spPr>
            <a:solidFill>
              <a:srgbClr val="EDA100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Effort needed</c:v>
                </c:pt>
                <c:pt idx="1">
                  <c:v>Current effort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95</c:v>
                </c:pt>
                <c:pt idx="1">
                  <c:v>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100" b="1"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3C2B7"/>
            </a:solidFill>
          </a:ln>
        </c:spPr>
        <c:txPr>
          <a:bodyPr/>
          <a:lstStyle/>
          <a:p>
            <a:pPr>
              <a:defRPr sz="1500" b="1">
                <a:solidFill>
                  <a:srgbClr val="0B0B0B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1E0D9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898781"/>
                </a:solidFill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300">
              <a:latin typeface="Arial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layout>
        <c:manualLayout>
          <c:layoutTarget val="inner"/>
          <c:xMode val="edge"/>
          <c:yMode val="edge"/>
          <c:x val="0.16"/>
          <c:y val="0.08"/>
          <c:w val="0.68"/>
          <c:h val="0.68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Hours</c:v>
                </c:pt>
              </c:strCache>
            </c:strRef>
          </c:tx>
          <c:dPt>
            <c:idx val="0"/>
            <c:spPr>
              <a:solidFill>
                <a:srgbClr val="2A78D6"/>
              </a:solidFill>
              <a:ln w="19050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EB6834"/>
              </a:solidFill>
              <a:ln w="19050"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1BAF7A"/>
              </a:solidFill>
              <a:ln w="19050"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EDA100"/>
              </a:solidFill>
              <a:ln w="19050">
                <a:solidFill>
                  <a:srgbClr val="FFFFFF"/>
                </a:solidFill>
              </a:ln>
            </c:spPr>
          </c:dPt>
          <c:dPt>
            <c:idx val="4"/>
            <c:spPr>
              <a:solidFill>
                <a:srgbClr val="E87BA4"/>
              </a:solidFill>
              <a:ln w="19050">
                <a:solidFill>
                  <a:srgbClr val="FFFFFF"/>
                </a:solidFill>
              </a:ln>
            </c:spPr>
          </c:dPt>
          <c:dPt>
            <c:idx val="5"/>
            <c:spPr>
              <a:solidFill>
                <a:srgbClr val="008300"/>
              </a:solidFill>
              <a:ln w="19050">
                <a:solidFill>
                  <a:srgbClr val="FFFFFF"/>
                </a:solidFill>
              </a:ln>
            </c:spPr>
          </c:dPt>
          <c:dPt>
            <c:idx val="6"/>
            <c:spPr>
              <a:solidFill>
                <a:srgbClr val="4A3AA7"/>
              </a:solidFill>
              <a:ln w="19050">
                <a:solidFill>
                  <a:srgbClr val="FFFFFF"/>
                </a:solidFill>
              </a:ln>
            </c:spPr>
          </c:dPt>
          <c:cat>
            <c:strRef>
              <c:f>Sheet1!$A$2:$A$8</c:f>
              <c:strCache>
                <c:ptCount val="7"/>
                <c:pt idx="0">
                  <c:v>Sleep</c:v>
                </c:pt>
                <c:pt idx="1">
                  <c:v>Work (incl. commute)</c:v>
                </c:pt>
                <c:pt idx="2">
                  <c:v>Exercise</c:v>
                </c:pt>
                <c:pt idx="3">
                  <c:v>Showering &amp; breakfast</c:v>
                </c:pt>
                <c:pt idx="4">
                  <c:v>Dinner &amp; cleanup</c:v>
                </c:pt>
                <c:pt idx="5">
                  <c:v>Family</c:v>
                </c:pt>
                <c:pt idx="6">
                  <c:v>Remaining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49</c:v>
                </c:pt>
                <c:pt idx="1">
                  <c:v>45</c:v>
                </c:pt>
                <c:pt idx="2">
                  <c:v>4</c:v>
                </c:pt>
                <c:pt idx="3">
                  <c:v>7</c:v>
                </c:pt>
                <c:pt idx="4">
                  <c:v>11</c:v>
                </c:pt>
                <c:pt idx="5">
                  <c:v>10</c:v>
                </c:pt>
                <c:pt idx="6">
                  <c:v>42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300" b="1">
                  <a:solidFill>
                    <a:srgbClr val="0B0B0B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legend>
      <c:legendPos val="b"/>
      <c:overlay val="0"/>
      <c:txPr>
        <a:bodyPr/>
        <a:lstStyle/>
        <a:p>
          <a:pPr>
            <a:defRPr sz="1100">
              <a:solidFill>
                <a:srgbClr val="0B0B0B"/>
              </a:solidFill>
              <a:latin typeface="Arial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f6089059bc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f6089059bc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BBBEBF"/>
                </a:solidFill>
              </a:rPr>
              <a:t>I remember watching </a:t>
            </a:r>
            <a:r>
              <a:rPr i="1" lang="en" sz="1050">
                <a:solidFill>
                  <a:srgbClr val="BBBEBF"/>
                </a:solidFill>
              </a:rPr>
              <a:t>The Social N</a:t>
            </a:r>
            <a:r>
              <a:rPr i="1" lang="en" sz="1050">
                <a:solidFill>
                  <a:srgbClr val="BBBEBF"/>
                </a:solidFill>
              </a:rPr>
              <a:t>e</a:t>
            </a:r>
            <a:r>
              <a:rPr i="1" lang="en" sz="1050">
                <a:solidFill>
                  <a:srgbClr val="BBBEBF"/>
                </a:solidFill>
              </a:rPr>
              <a:t>twork</a:t>
            </a:r>
            <a:r>
              <a:rPr lang="en" sz="1050">
                <a:solidFill>
                  <a:srgbClr val="BBBEBF"/>
                </a:solidFill>
              </a:rPr>
              <a:t> back in 2010. I got so charged up — all I could talk about with my friends was starting something of our own. We'd sit around at lunch, brainstorming ideas, full of energy.</a:t>
            </a:r>
            <a:endParaRPr sz="1050">
              <a:solidFill>
                <a:srgbClr val="BBBEB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BBBEBF"/>
                </a:solidFill>
              </a:rPr>
              <a:t>Slowly, that energy faded for most of the group — except for one friend and me. We were hell-bent on making it happen.</a:t>
            </a:r>
            <a:endParaRPr sz="1050">
              <a:solidFill>
                <a:srgbClr val="BBBEB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050">
                <a:solidFill>
                  <a:srgbClr val="BBBEBF"/>
                </a:solidFill>
              </a:rPr>
              <a:t>We finally landed on an idea, built a basic roadmap... and when it came to execution, we were all over the place. Six months in, we realized this took far more than we'd ever envisioned</a:t>
            </a:r>
            <a:r>
              <a:rPr lang="en" sz="1050">
                <a:solidFill>
                  <a:srgbClr val="BBBEBF"/>
                </a:solidFill>
              </a:rPr>
              <a:t>.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f6089059bc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f6089059bc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BBBEBF"/>
                </a:solidFill>
              </a:rPr>
              <a:t>It starts with a goal. But not just the goal — you need to know your </a:t>
            </a:r>
            <a:r>
              <a:rPr i="1" lang="en" sz="1050">
                <a:solidFill>
                  <a:srgbClr val="BBBEBF"/>
                </a:solidFill>
              </a:rPr>
              <a:t>why</a:t>
            </a:r>
            <a:r>
              <a:rPr lang="en" sz="1050">
                <a:solidFill>
                  <a:srgbClr val="BBBEBF"/>
                </a:solidFill>
              </a:rPr>
              <a:t>, because that's what drives conviction and determination. Then you take a hard look at your calendar, and you carve out the time.</a:t>
            </a:r>
            <a:endParaRPr sz="1050">
              <a:solidFill>
                <a:srgbClr val="BBBEB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BBBEBF"/>
                </a:solidFill>
              </a:rPr>
              <a:t>Let's try it right now. We're all here for our EMBA — how many hours a week do you think that actually takes? I estimated 20 hours, on a non-class week.</a:t>
            </a:r>
            <a:endParaRPr sz="1050">
              <a:solidFill>
                <a:srgbClr val="BBBEB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BBBEBF"/>
                </a:solidFill>
              </a:rPr>
              <a:t>A week is 168 hours. Sleep takes 49. Work, including commute, 45. Exercise, 4. Showering and breakfast, 7. Dinner and cleanup, 11. Family, 10. That's 126 hours already spoken for.</a:t>
            </a:r>
            <a:endParaRPr sz="1050">
              <a:solidFill>
                <a:srgbClr val="BBBEB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BBBEBF"/>
                </a:solidFill>
              </a:rPr>
              <a:t>That leaves 42.</a:t>
            </a:r>
            <a:endParaRPr sz="1050">
              <a:solidFill>
                <a:srgbClr val="BBBEB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050">
                <a:solidFill>
                  <a:srgbClr val="BBBEBF"/>
                </a:solidFill>
              </a:rPr>
              <a:t>And before this program, those 42 hours were already spoken for too — friends, outings, projects, golf, hobbies, just relaxing.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6089059bc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f6089059bc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BBBEBF"/>
                </a:solidFill>
              </a:rPr>
              <a:t>Now every one of us has to pull 20 hours out of that 42 — and we have to be strategic about what stays and what goes.</a:t>
            </a:r>
            <a:endParaRPr sz="1050">
              <a:solidFill>
                <a:srgbClr val="BBBEB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BBBEBF"/>
                </a:solidFill>
              </a:rPr>
              <a:t>We have two options. We can be reactive — let life happen, react to deadlines, scramble to deliver. Or we can be deliberate — sit down every Sunday evening for 30 minutes, and plan the week ahead.</a:t>
            </a:r>
            <a:endParaRPr sz="1050">
              <a:solidFill>
                <a:srgbClr val="BBBEB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050">
                <a:solidFill>
                  <a:srgbClr val="BBBEBF"/>
                </a:solidFill>
              </a:rPr>
              <a:t>I know which one I'm choosing.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f6089059bc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f6089059bc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4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FFFFFF"/>
                </a:solidFill>
                <a:latin typeface="Arial"/>
              </a:rPr>
              <a:t>The Calendar doesn’t Lie!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F2B899"/>
                </a:solidFill>
                <a:latin typeface="Arial"/>
              </a:rPr>
              <a:t>I</a:t>
            </a:r>
            <a:r>
              <a:rPr i="1" lang="en">
                <a:solidFill>
                  <a:srgbClr val="F2B899"/>
                </a:solidFill>
                <a:latin typeface="Arial"/>
              </a:rPr>
              <a:t>t reveals the truth about your priorities</a:t>
            </a:r>
            <a:endParaRPr i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>
                <a:solidFill>
                  <a:srgbClr val="184F95"/>
                </a:solidFill>
                <a:latin typeface="Arial"/>
              </a:rPr>
              <a:t>Have a Goal?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0425" y="1196638"/>
            <a:ext cx="2111925" cy="3328075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Rectangle 63"/>
          <p:cNvSpPr/>
          <p:nvPr/>
        </p:nvSpPr>
        <p:spPr>
          <a:xfrm>
            <a:off x="311700" y="1030000"/>
            <a:ext cx="1600000" cy="38000"/>
          </a:xfrm>
          <a:prstGeom prst="rect">
            <a:avLst/>
          </a:prstGeom>
          <a:solidFill>
            <a:srgbClr val="184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5" name="Chart 64"/>
          <p:cNvGraphicFramePr>
            <a:graphicFrameLocks noGrp="1"/>
          </p:cNvGraphicFramePr>
          <p:nvPr/>
        </p:nvGraphicFramePr>
        <p:xfrm>
          <a:off x="3067650" y="1196650"/>
          <a:ext cx="4638426" cy="3328075"/>
        </p:xfrm>
        <a:graphic>
          <a:graphicData uri="http://schemas.openxmlformats.org/drawingml/2006/chart">
            <c:chart r:id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>
                <a:solidFill>
                  <a:srgbClr val="184F95"/>
                </a:solidFill>
                <a:latin typeface="Arial"/>
              </a:rPr>
              <a:t>My Average week</a:t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/>
          <p:cNvSpPr/>
          <p:nvPr/>
        </p:nvSpPr>
        <p:spPr>
          <a:xfrm>
            <a:off x="6666150" y="2360450"/>
            <a:ext cx="1515300" cy="1442700"/>
          </a:xfrm>
          <a:prstGeom prst="ellipse">
            <a:avLst/>
          </a:prstGeom>
          <a:solidFill>
            <a:srgbClr val="184F95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FFFFFF"/>
                </a:solidFill>
                <a:latin typeface="Arial"/>
              </a:rPr>
              <a:t>EMBA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FFFFFF"/>
                </a:solidFill>
                <a:latin typeface="Arial"/>
              </a:rP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FFFFFF"/>
                </a:solidFill>
                <a:latin typeface="Arial"/>
              </a:rPr>
              <a:t>20 hours</a:t>
            </a:r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311700" y="1030000"/>
            <a:ext cx="1600000" cy="38000"/>
          </a:xfrm>
          <a:prstGeom prst="rect">
            <a:avLst/>
          </a:prstGeom>
          <a:solidFill>
            <a:srgbClr val="184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3" name="Chart 72"/>
          <p:cNvGraphicFramePr>
            <a:graphicFrameLocks noGrp="1"/>
          </p:cNvGraphicFramePr>
          <p:nvPr/>
        </p:nvGraphicFramePr>
        <p:xfrm>
          <a:off x="311700" y="1152475"/>
          <a:ext cx="5750000" cy="3700000"/>
        </p:xfrm>
        <a:graphic>
          <a:graphicData uri="http://schemas.openxmlformats.org/drawingml/2006/chart">
            <c:chart r:id="rId4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>
                <a:solidFill>
                  <a:srgbClr val="184F95"/>
                </a:solidFill>
                <a:latin typeface="Arial"/>
              </a:rPr>
              <a:t>Decision</a:t>
            </a:r>
            <a:endParaRPr/>
          </a:p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78" name="Google Shape;78;p16"/>
          <p:cNvGraphicFramePr/>
          <p:nvPr/>
        </p:nvGraphicFramePr>
        <p:xfrm>
          <a:off x="952500" y="1809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{76978512-7594-4A81-8079-000856773A6C}</a:tableStyleId>
              </a:tblPr>
              <a:tblGrid>
                <a:gridCol w="3619500"/>
                <a:gridCol w="3619500"/>
              </a:tblGrid>
              <a:tr h="552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rgbClr val="FFFFFF"/>
                          </a:solidFill>
                          <a:latin typeface="Arial"/>
                        </a:rPr>
                        <a:t>Reactive / Passive</a:t>
                      </a:r>
                      <a:endParaRPr b="1"/>
                    </a:p>
                  </a:txBody>
                  <a:tcPr marT="91425" marB="91425" marR="91440" marL="91440" anchor="ctr">
                    <a:solidFill>
                      <a:srgbClr val="184F9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rgbClr val="FFFFFF"/>
                          </a:solidFill>
                          <a:latin typeface="Arial"/>
                        </a:rPr>
                        <a:t>Deliberate / Pro-active</a:t>
                      </a:r>
                      <a:endParaRPr b="1"/>
                    </a:p>
                  </a:txBody>
                  <a:tcPr marT="91425" marB="91425" marR="91440" marL="91440" anchor="ctr">
                    <a:solidFill>
                      <a:srgbClr val="184F95"/>
                    </a:solidFill>
                  </a:tcPr>
                </a:tc>
              </a:tr>
              <a:tr h="552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0">
                          <a:solidFill>
                            <a:srgbClr val="0B0B0B"/>
                          </a:solidFill>
                          <a:latin typeface="Arial"/>
                        </a:rPr>
                        <a:t>Life happens to you</a:t>
                      </a:r>
                      <a:endParaRPr/>
                    </a:p>
                  </a:txBody>
                  <a:tcPr marT="91425" marB="91425" marR="91440" marL="91440" anchor="ctr"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>
                          <a:solidFill>
                            <a:srgbClr val="0B0B0B"/>
                          </a:solidFill>
                          <a:latin typeface="Arial"/>
                        </a:rPr>
                        <a:t>You happen to your week</a:t>
                      </a:r>
                      <a:endParaRPr/>
                    </a:p>
                  </a:txBody>
                  <a:tcPr marT="91425" marB="91425" marR="91440" marL="91440" anchor="ctr">
                    <a:solidFill>
                      <a:srgbClr val="E4F5EF"/>
                    </a:solidFill>
                  </a:tcPr>
                </a:tc>
              </a:tr>
              <a:tr h="552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0">
                          <a:solidFill>
                            <a:srgbClr val="0B0B0B"/>
                          </a:solidFill>
                          <a:latin typeface="Arial"/>
                        </a:rPr>
                        <a:t>React to deadlines</a:t>
                      </a:r>
                      <a:endParaRPr/>
                    </a:p>
                  </a:txBody>
                  <a:tcPr marT="91425" marB="91425" marR="91440" marL="91440" anchor="ctr"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 b="1">
                          <a:solidFill>
                            <a:srgbClr val="0B0B0B"/>
                          </a:solidFill>
                          <a:latin typeface="Arial"/>
                        </a:rPr>
                        <a:t>Sunday, 30 minutes</a:t>
                      </a:r>
                      <a:endParaRPr/>
                    </a:p>
                  </a:txBody>
                  <a:tcPr marT="91425" marB="91425" marR="91440" marL="91440" anchor="ctr">
                    <a:solidFill>
                      <a:srgbClr val="E4F5EF"/>
                    </a:solidFill>
                  </a:tcPr>
                </a:tc>
              </a:tr>
              <a:tr h="552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0">
                          <a:solidFill>
                            <a:srgbClr val="0B0B0B"/>
                          </a:solidFill>
                          <a:latin typeface="Arial"/>
                        </a:rPr>
                        <a:t>Scramble to deliver</a:t>
                      </a:r>
                      <a:endParaRPr/>
                    </a:p>
                  </a:txBody>
                  <a:tcPr marT="91425" marB="91425" marR="91440" marL="91440" anchor="ctr"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 b="1">
                          <a:solidFill>
                            <a:srgbClr val="0B0B0B"/>
                          </a:solidFill>
                          <a:latin typeface="Arial"/>
                        </a:rPr>
                        <a:t>Plan, then execute</a:t>
                      </a:r>
                      <a:endParaRPr/>
                    </a:p>
                  </a:txBody>
                  <a:tcPr marT="91425" marB="91425" marR="91440" marL="91440" anchor="ctr">
                    <a:solidFill>
                      <a:srgbClr val="E4F5EF"/>
                    </a:solidFill>
                  </a:tcPr>
                </a:tc>
              </a:tr>
            </a:tbl>
          </a:graphicData>
        </a:graphic>
      </p:graphicFrame>
      <p:sp>
        <p:nvSpPr>
          <p:cNvPr id="79" name="Rectangle 78"/>
          <p:cNvSpPr/>
          <p:nvPr/>
        </p:nvSpPr>
        <p:spPr>
          <a:xfrm>
            <a:off x="311700" y="1030000"/>
            <a:ext cx="1600000" cy="38000"/>
          </a:xfrm>
          <a:prstGeom prst="rect">
            <a:avLst/>
          </a:prstGeom>
          <a:solidFill>
            <a:srgbClr val="184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Rectangle 8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4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Google Shape;83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444500" lvl="0" marL="457200" rtl="0" algn="l">
              <a:spcBef>
                <a:spcPts val="0"/>
              </a:spcBef>
              <a:spcAft>
                <a:spcPts val="0"/>
              </a:spcAft>
              <a:buSzPts val="3400"/>
              <a:buAutoNum type="arabicPeriod"/>
            </a:pPr>
            <a:r>
              <a:rPr lang="en" sz="3400" b="1">
                <a:solidFill>
                  <a:srgbClr val="FFFFFF"/>
                </a:solidFill>
                <a:latin typeface="Arial"/>
              </a:rPr>
              <a:t>Open your calendar. </a:t>
            </a:r>
            <a:endParaRPr sz="3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sz="3400" b="1">
                <a:solidFill>
                  <a:srgbClr val="FFFFFF"/>
                </a:solidFill>
                <a:latin typeface="Arial"/>
              </a:rPr>
              <a:t/>
            </a:r>
            <a:endParaRPr sz="3400"/>
          </a:p>
          <a:p>
            <a:pPr indent="-444500" lvl="0" marL="457200" rtl="0" algn="l">
              <a:spcBef>
                <a:spcPts val="1200"/>
              </a:spcBef>
              <a:spcAft>
                <a:spcPts val="0"/>
              </a:spcAft>
              <a:buSzPts val="3400"/>
              <a:buAutoNum type="arabicPeriod"/>
            </a:pPr>
            <a:r>
              <a:rPr lang="en" sz="3400" b="1">
                <a:solidFill>
                  <a:srgbClr val="EB6834"/>
                </a:solidFill>
                <a:latin typeface="Arial"/>
              </a:rPr>
              <a:t>Block 30 minutes — tomorrow evening.</a:t>
            </a:r>
            <a:endParaRPr sz="3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
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1" r:id="rId9"/>
    <p:sldId id="293" r:id="rId10"/>
    <p:sldId id="290" r:id="rId11"/>
    <p:sldId id="266" r:id="rId12"/>
    <p:sldId id="294" r:id="rId13"/>
    <p:sldId id="271" r:id="rId14"/>
    <p:sldId id="274" r:id="rId15"/>
    <p:sldId id="282" r:id="rId16"/>
    <p:sldId id="28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AF5112-DCCC-F442-B9BB-91E91E5BE225}">
          <p14:sldIdLst>
            <p14:sldId id="256"/>
            <p14:sldId id="284"/>
            <p14:sldId id="285"/>
            <p14:sldId id="286"/>
            <p14:sldId id="287"/>
            <p14:sldId id="288"/>
            <p14:sldId id="289"/>
            <p14:sldId id="291"/>
            <p14:sldId id="293"/>
            <p14:sldId id="290"/>
            <p14:sldId id="266"/>
            <p14:sldId id="294"/>
            <p14:sldId id="271"/>
            <p14:sldId id="274"/>
            <p14:sldId id="282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515"/>
    <a:srgbClr val="15284B"/>
    <a:srgbClr val="00274C"/>
    <a:srgbClr val="545454"/>
    <a:srgbClr val="1C5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 autoAdjust="0"/>
    <p:restoredTop sz="93586" autoAdjust="0"/>
  </p:normalViewPr>
  <p:slideViewPr>
    <p:cSldViewPr snapToGrid="0" snapToObjects="1">
      <p:cViewPr varScale="1">
        <p:scale>
          <a:sx n="86" d="100"/>
          <a:sy n="86" d="100"/>
        </p:scale>
        <p:origin x="1298" y="2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59644637-663F-493B-AD14-1256EE2124B3}"/>
    <pc:docChg chg="modSld">
      <pc:chgData name="Veselina Dinova" userId="5935860719f7b8c5" providerId="LiveId" clId="{59644637-663F-493B-AD14-1256EE2124B3}" dt="2025-08-14T17:27:33.540" v="1" actId="12"/>
      <pc:docMkLst>
        <pc:docMk/>
      </pc:docMkLst>
      <pc:sldChg chg="modSp mod">
        <pc:chgData name="Veselina Dinova" userId="5935860719f7b8c5" providerId="LiveId" clId="{59644637-663F-493B-AD14-1256EE2124B3}" dt="2025-08-14T17:27:33.540" v="1" actId="12"/>
        <pc:sldMkLst>
          <pc:docMk/>
          <pc:sldMk cId="1905985138" sldId="286"/>
        </pc:sldMkLst>
        <pc:spChg chg="mod">
          <ac:chgData name="Veselina Dinova" userId="5935860719f7b8c5" providerId="LiveId" clId="{59644637-663F-493B-AD14-1256EE2124B3}" dt="2025-08-14T17:27:33.540" v="1" actId="12"/>
          <ac:spMkLst>
            <pc:docMk/>
            <pc:sldMk cId="1905985138" sldId="286"/>
            <ac:spMk id="3" creationId="{00000000-0000-0000-0000-000000000000}"/>
          </ac:spMkLst>
        </pc:spChg>
      </pc:sldChg>
    </pc:docChg>
  </pc:docChgLst>
  <pc:docChgLst>
    <pc:chgData name="Veselina Dinova" userId="5935860719f7b8c5" providerId="LiveId" clId="{0C353CE2-99A1-4B46-8426-F0375A243A39}"/>
    <pc:docChg chg="undo custSel delSld modSld sldOrd modSection">
      <pc:chgData name="Veselina Dinova" userId="5935860719f7b8c5" providerId="LiveId" clId="{0C353CE2-99A1-4B46-8426-F0375A243A39}" dt="2025-07-12T21:59:33.171" v="2303" actId="20577"/>
      <pc:docMkLst>
        <pc:docMk/>
      </pc:docMkLst>
      <pc:sldChg chg="modSp mod">
        <pc:chgData name="Veselina Dinova" userId="5935860719f7b8c5" providerId="LiveId" clId="{0C353CE2-99A1-4B46-8426-F0375A243A39}" dt="2025-07-12T21:43:29.581" v="2028" actId="20577"/>
        <pc:sldMkLst>
          <pc:docMk/>
          <pc:sldMk cId="695796125" sldId="256"/>
        </pc:sldMkLst>
      </pc:sldChg>
      <pc:sldChg chg="del">
        <pc:chgData name="Veselina Dinova" userId="5935860719f7b8c5" providerId="LiveId" clId="{0C353CE2-99A1-4B46-8426-F0375A243A39}" dt="2025-07-07T15:37:02.455" v="0" actId="47"/>
        <pc:sldMkLst>
          <pc:docMk/>
          <pc:sldMk cId="919480105" sldId="265"/>
        </pc:sldMkLst>
      </pc:sldChg>
      <pc:sldChg chg="modSp mod">
        <pc:chgData name="Veselina Dinova" userId="5935860719f7b8c5" providerId="LiveId" clId="{0C353CE2-99A1-4B46-8426-F0375A243A39}" dt="2025-07-12T21:56:28.251" v="2272" actId="20577"/>
        <pc:sldMkLst>
          <pc:docMk/>
          <pc:sldMk cId="1254787890" sldId="271"/>
        </pc:sldMkLst>
      </pc:sldChg>
      <pc:sldChg chg="modSp">
        <pc:chgData name="Veselina Dinova" userId="5935860719f7b8c5" providerId="LiveId" clId="{0C353CE2-99A1-4B46-8426-F0375A243A39}" dt="2025-07-12T21:56:42.465" v="2273"/>
        <pc:sldMkLst>
          <pc:docMk/>
          <pc:sldMk cId="2473982754" sldId="274"/>
        </pc:sldMkLst>
      </pc:sldChg>
      <pc:sldChg chg="del">
        <pc:chgData name="Veselina Dinova" userId="5935860719f7b8c5" providerId="LiveId" clId="{0C353CE2-99A1-4B46-8426-F0375A243A39}" dt="2025-07-07T17:49:03.301" v="1552" actId="47"/>
        <pc:sldMkLst>
          <pc:docMk/>
          <pc:sldMk cId="2168443399" sldId="279"/>
        </pc:sldMkLst>
      </pc:sldChg>
      <pc:sldChg chg="modSp mod ord">
        <pc:chgData name="Veselina Dinova" userId="5935860719f7b8c5" providerId="LiveId" clId="{0C353CE2-99A1-4B46-8426-F0375A243A39}" dt="2025-07-12T21:59:33.171" v="2303" actId="20577"/>
        <pc:sldMkLst>
          <pc:docMk/>
          <pc:sldMk cId="2162386325" sldId="281"/>
        </pc:sldMkLst>
      </pc:sldChg>
      <pc:sldChg chg="modSp mod ord">
        <pc:chgData name="Veselina Dinova" userId="5935860719f7b8c5" providerId="LiveId" clId="{0C353CE2-99A1-4B46-8426-F0375A243A39}" dt="2025-07-12T21:58:15.689" v="2293" actId="20577"/>
        <pc:sldMkLst>
          <pc:docMk/>
          <pc:sldMk cId="1448808976" sldId="282"/>
        </pc:sldMkLst>
      </pc:sldChg>
      <pc:sldChg chg="del">
        <pc:chgData name="Veselina Dinova" userId="5935860719f7b8c5" providerId="LiveId" clId="{0C353CE2-99A1-4B46-8426-F0375A243A39}" dt="2025-07-07T17:49:05.961" v="1553" actId="47"/>
        <pc:sldMkLst>
          <pc:docMk/>
          <pc:sldMk cId="1473022246" sldId="283"/>
        </pc:sldMkLst>
      </pc:sldChg>
      <pc:sldChg chg="modSp mod">
        <pc:chgData name="Veselina Dinova" userId="5935860719f7b8c5" providerId="LiveId" clId="{0C353CE2-99A1-4B46-8426-F0375A243A39}" dt="2025-07-12T21:45:17.974" v="2073" actId="1076"/>
        <pc:sldMkLst>
          <pc:docMk/>
          <pc:sldMk cId="2980480658" sldId="284"/>
        </pc:sldMkLst>
      </pc:sldChg>
      <pc:sldChg chg="modSp mod">
        <pc:chgData name="Veselina Dinova" userId="5935860719f7b8c5" providerId="LiveId" clId="{0C353CE2-99A1-4B46-8426-F0375A243A39}" dt="2025-07-07T15:38:24.495" v="5" actId="108"/>
        <pc:sldMkLst>
          <pc:docMk/>
          <pc:sldMk cId="3754816431" sldId="285"/>
        </pc:sldMkLst>
      </pc:sldChg>
      <pc:sldChg chg="modSp mod">
        <pc:chgData name="Veselina Dinova" userId="5935860719f7b8c5" providerId="LiveId" clId="{0C353CE2-99A1-4B46-8426-F0375A243A39}" dt="2025-07-12T21:46:38.696" v="2077" actId="20577"/>
        <pc:sldMkLst>
          <pc:docMk/>
          <pc:sldMk cId="1905985138" sldId="286"/>
        </pc:sldMkLst>
      </pc:sldChg>
      <pc:sldChg chg="modSp mod">
        <pc:chgData name="Veselina Dinova" userId="5935860719f7b8c5" providerId="LiveId" clId="{0C353CE2-99A1-4B46-8426-F0375A243A39}" dt="2025-07-12T21:47:53.689" v="2095" actId="20577"/>
        <pc:sldMkLst>
          <pc:docMk/>
          <pc:sldMk cId="1728862982" sldId="287"/>
        </pc:sldMkLst>
      </pc:sldChg>
      <pc:sldChg chg="modSp mod">
        <pc:chgData name="Veselina Dinova" userId="5935860719f7b8c5" providerId="LiveId" clId="{0C353CE2-99A1-4B46-8426-F0375A243A39}" dt="2025-07-07T15:49:35.691" v="798" actId="20577"/>
        <pc:sldMkLst>
          <pc:docMk/>
          <pc:sldMk cId="2621671741" sldId="288"/>
        </pc:sldMkLst>
      </pc:sldChg>
      <pc:sldChg chg="modSp mod">
        <pc:chgData name="Veselina Dinova" userId="5935860719f7b8c5" providerId="LiveId" clId="{0C353CE2-99A1-4B46-8426-F0375A243A39}" dt="2025-07-12T21:50:11.701" v="2124" actId="6549"/>
        <pc:sldMkLst>
          <pc:docMk/>
          <pc:sldMk cId="435599170" sldId="289"/>
        </pc:sldMkLst>
      </pc:sldChg>
      <pc:sldChg chg="modSp mod">
        <pc:chgData name="Veselina Dinova" userId="5935860719f7b8c5" providerId="LiveId" clId="{0C353CE2-99A1-4B46-8426-F0375A243A39}" dt="2025-07-12T21:53:24.366" v="2219" actId="20577"/>
        <pc:sldMkLst>
          <pc:docMk/>
          <pc:sldMk cId="2428555614" sldId="290"/>
        </pc:sldMkLst>
      </pc:sldChg>
      <pc:sldChg chg="modSp mod">
        <pc:chgData name="Veselina Dinova" userId="5935860719f7b8c5" providerId="LiveId" clId="{0C353CE2-99A1-4B46-8426-F0375A243A39}" dt="2025-07-12T21:51:32.792" v="2173" actId="12"/>
        <pc:sldMkLst>
          <pc:docMk/>
          <pc:sldMk cId="1348480380" sldId="291"/>
        </pc:sldMkLst>
      </pc:sldChg>
      <pc:sldChg chg="del">
        <pc:chgData name="Veselina Dinova" userId="5935860719f7b8c5" providerId="LiveId" clId="{0C353CE2-99A1-4B46-8426-F0375A243A39}" dt="2025-07-07T15:55:46.710" v="1141" actId="47"/>
        <pc:sldMkLst>
          <pc:docMk/>
          <pc:sldMk cId="2286952984" sldId="292"/>
        </pc:sldMkLst>
      </pc:sldChg>
      <pc:sldChg chg="addSp delSp modSp mod">
        <pc:chgData name="Veselina Dinova" userId="5935860719f7b8c5" providerId="LiveId" clId="{0C353CE2-99A1-4B46-8426-F0375A243A39}" dt="2025-07-07T15:55:40.412" v="1140" actId="1076"/>
        <pc:sldMkLst>
          <pc:docMk/>
          <pc:sldMk cId="901574626" sldId="293"/>
        </pc:sldMkLst>
      </pc:sldChg>
      <pc:sldChg chg="modSp mod">
        <pc:chgData name="Veselina Dinova" userId="5935860719f7b8c5" providerId="LiveId" clId="{0C353CE2-99A1-4B46-8426-F0375A243A39}" dt="2025-07-12T21:55:10.439" v="2221" actId="20577"/>
        <pc:sldMkLst>
          <pc:docMk/>
          <pc:sldMk cId="4253857090" sldId="294"/>
        </pc:sldMkLst>
      </pc:sldChg>
      <pc:sldChg chg="del">
        <pc:chgData name="Veselina Dinova" userId="5935860719f7b8c5" providerId="LiveId" clId="{0C353CE2-99A1-4B46-8426-F0375A243A39}" dt="2025-07-07T17:48:41.061" v="1551" actId="47"/>
        <pc:sldMkLst>
          <pc:docMk/>
          <pc:sldMk cId="4048676667" sldId="29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46756-95B1-9E4B-B4F0-13B47C763CA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1FC82-C81D-9041-A08B-05D60FC301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485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62887-402F-6941-80C6-F161CAE43A29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F7C42-AA86-B746-B3A7-2D9388352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93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1442754" y="1945264"/>
            <a:ext cx="7726680" cy="3319690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DB515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-7146" y="1938342"/>
            <a:ext cx="1371600" cy="331969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6590" y="2130425"/>
            <a:ext cx="6831609" cy="2949369"/>
          </a:xfrm>
        </p:spPr>
        <p:txBody>
          <a:bodyPr tIns="91440" bIns="91440" anchor="ctr" anchorCtr="0">
            <a:normAutofit/>
          </a:bodyPr>
          <a:lstStyle>
            <a:lvl1pPr>
              <a:defRPr sz="4400" b="0">
                <a:solidFill>
                  <a:srgbClr val="FDB515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2389" y="5380391"/>
            <a:ext cx="6145810" cy="601555"/>
          </a:xfrm>
        </p:spPr>
        <p:txBody>
          <a:bodyPr>
            <a:normAutofit/>
          </a:bodyPr>
          <a:lstStyle>
            <a:lvl1pPr marL="0" indent="0" algn="r">
              <a:buNone/>
              <a:defRPr sz="3000">
                <a:solidFill>
                  <a:srgbClr val="54545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9" y="1009907"/>
            <a:ext cx="3023616" cy="66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8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45454"/>
                </a:solidFill>
              </a:defRPr>
            </a:lvl1pPr>
            <a:lvl2pPr>
              <a:defRPr>
                <a:solidFill>
                  <a:srgbClr val="545454"/>
                </a:solidFill>
              </a:defRPr>
            </a:lvl2pPr>
            <a:lvl3pPr>
              <a:defRPr>
                <a:solidFill>
                  <a:srgbClr val="545454"/>
                </a:solidFill>
              </a:defRPr>
            </a:lvl3pPr>
            <a:lvl4pPr>
              <a:defRPr>
                <a:solidFill>
                  <a:srgbClr val="545454"/>
                </a:solidFill>
              </a:defRPr>
            </a:lvl4pPr>
            <a:lvl5pPr>
              <a:defRPr>
                <a:solidFill>
                  <a:srgbClr val="54545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9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1274" y="1331313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74" y="3308550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2" y="2838206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977741" y="2838206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65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ide-by-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99941"/>
            <a:ext cx="4038600" cy="431995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545454"/>
                </a:solidFill>
              </a:defRPr>
            </a:lvl1pPr>
            <a:lvl2pPr>
              <a:defRPr sz="2000">
                <a:solidFill>
                  <a:srgbClr val="545454"/>
                </a:solidFill>
              </a:defRPr>
            </a:lvl2pPr>
            <a:lvl3pPr>
              <a:defRPr sz="1800">
                <a:solidFill>
                  <a:srgbClr val="545454"/>
                </a:solidFill>
              </a:defRPr>
            </a:lvl3pPr>
            <a:lvl4pPr>
              <a:defRPr sz="1600">
                <a:solidFill>
                  <a:srgbClr val="545454"/>
                </a:solidFill>
              </a:defRPr>
            </a:lvl4pPr>
            <a:lvl5pPr>
              <a:defRPr sz="1600">
                <a:solidFill>
                  <a:srgbClr val="545454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10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000" b="1">
                <a:solidFill>
                  <a:srgbClr val="54545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647587"/>
          </a:xfrm>
        </p:spPr>
        <p:txBody>
          <a:bodyPr>
            <a:normAutofit/>
          </a:bodyPr>
          <a:lstStyle>
            <a:lvl1pPr>
              <a:defRPr sz="2000">
                <a:solidFill>
                  <a:srgbClr val="545454"/>
                </a:solidFill>
              </a:defRPr>
            </a:lvl1pPr>
            <a:lvl2pPr>
              <a:defRPr sz="1800">
                <a:solidFill>
                  <a:srgbClr val="545454"/>
                </a:solidFill>
              </a:defRPr>
            </a:lvl2pPr>
            <a:lvl3pPr>
              <a:defRPr sz="1600">
                <a:solidFill>
                  <a:srgbClr val="545454"/>
                </a:solidFill>
              </a:defRPr>
            </a:lvl3pPr>
            <a:lvl4pPr>
              <a:defRPr sz="1400">
                <a:solidFill>
                  <a:srgbClr val="545454"/>
                </a:solidFill>
              </a:defRPr>
            </a:lvl4pPr>
            <a:lvl5pPr>
              <a:defRPr sz="1400">
                <a:solidFill>
                  <a:srgbClr val="545454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46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5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935" y="4666920"/>
            <a:ext cx="7190154" cy="566738"/>
          </a:xfrm>
        </p:spPr>
        <p:txBody>
          <a:bodyPr anchor="b">
            <a:noAutofit/>
          </a:bodyPr>
          <a:lstStyle>
            <a:lvl1pPr algn="ctr">
              <a:defRPr sz="3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935" y="547480"/>
            <a:ext cx="7190154" cy="40444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88935" y="5233658"/>
            <a:ext cx="7190154" cy="464893"/>
          </a:xfrm>
        </p:spPr>
        <p:txBody>
          <a:bodyPr>
            <a:noAutofit/>
          </a:bodyPr>
          <a:lstStyle>
            <a:lvl1pPr marL="0" indent="0" algn="ctr">
              <a:buNone/>
              <a:defRPr sz="2600">
                <a:solidFill>
                  <a:srgbClr val="54545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5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62288" cy="68671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1011276" y="2068035"/>
            <a:ext cx="6631472" cy="1362075"/>
          </a:xfrm>
        </p:spPr>
        <p:txBody>
          <a:bodyPr lIns="0" rIns="457200" anchor="b" anchorCtr="0"/>
          <a:lstStyle>
            <a:lvl1pPr algn="l">
              <a:defRPr sz="4000" b="0" cap="all" spc="100" baseline="0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Click to edit Thank you Title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1011276" y="4043784"/>
            <a:ext cx="6631472" cy="1358157"/>
          </a:xfrm>
        </p:spPr>
        <p:txBody>
          <a:bodyPr lIns="0" rIns="457200" anchor="t" anchorCtr="0">
            <a:normAutofit/>
          </a:bodyPr>
          <a:lstStyle>
            <a:lvl1pPr marL="0" indent="0">
              <a:buNone/>
              <a:defRPr sz="2800" baseline="0">
                <a:solidFill>
                  <a:srgbClr val="54545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3572790"/>
            <a:ext cx="932688" cy="328314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977743" y="3572790"/>
            <a:ext cx="6720840" cy="32831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121" y="6004726"/>
            <a:ext cx="1839249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691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7789" y="5948707"/>
            <a:ext cx="969263" cy="768652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005840" y="5948707"/>
            <a:ext cx="8138160" cy="768652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90293"/>
            <a:ext cx="8229600" cy="1060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Header Style is Arial 38pt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03888"/>
            <a:ext cx="8229600" cy="435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508" y="6137824"/>
            <a:ext cx="32750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2"/>
          </p:nvPr>
        </p:nvSpPr>
        <p:spPr>
          <a:xfrm>
            <a:off x="4467554" y="6137824"/>
            <a:ext cx="1270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135792" y="6138686"/>
            <a:ext cx="642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274C"/>
                </a:solidFill>
              </a:defRPr>
            </a:lvl1pPr>
          </a:lstStyle>
          <a:p>
            <a:fld id="{EE9F94DA-C57B-8647-A4B1-94866CBB0A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849" y="6137824"/>
            <a:ext cx="1839951" cy="4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2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800" b="0" kern="1200">
          <a:solidFill>
            <a:srgbClr val="00274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545454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545454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545454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545454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545454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e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Long-term Assets: Tangible and</a:t>
            </a:r>
            <a:r>
              <a:rPr lang="en-US" b="0" dirty="0"/>
              <a:t> Intangible</a:t>
            </a:r>
          </a:p>
        </p:txBody>
      </p:sp>
    </p:spTree>
    <p:extLst>
      <p:ext uri="{BB962C8B-B14F-4D97-AF65-F5344CB8AC3E}">
        <p14:creationId xmlns:p14="http://schemas.microsoft.com/office/powerpoint/2010/main" val="69579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Asset-light vs Asset-heavy model </a:t>
            </a:r>
            <a:endParaRPr lang="en-US" dirty="0">
              <a:solidFill>
                <a:srgbClr val="15284B"/>
              </a:solidFill>
            </a:endParaRPr>
          </a:p>
        </p:txBody>
      </p:sp>
      <p:grpSp>
        <p:nvGrpSpPr>
          <p:cNvPr id="6" name="Group 1030">
            <a:extLst>
              <a:ext uri="{FF2B5EF4-FFF2-40B4-BE49-F238E27FC236}">
                <a16:creationId xmlns:a16="http://schemas.microsoft.com/office/drawing/2014/main" id="{19679742-EB6C-1B2F-4FE4-28E2DA3CAB2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509712"/>
            <a:ext cx="3733800" cy="2224088"/>
            <a:chOff x="48" y="912"/>
            <a:chExt cx="2352" cy="1401"/>
          </a:xfrm>
        </p:grpSpPr>
        <p:graphicFrame>
          <p:nvGraphicFramePr>
            <p:cNvPr id="7" name="Object 3">
              <a:hlinkClick r:id="" action="ppaction://ole?verb=0"/>
              <a:extLst>
                <a:ext uri="{FF2B5EF4-FFF2-40B4-BE49-F238E27FC236}">
                  <a16:creationId xmlns:a16="http://schemas.microsoft.com/office/drawing/2014/main" id="{82AFEEC3-8A9B-15C7-FE0B-EC5AA139122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" y="912"/>
            <a:ext cx="2352" cy="1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2" imgW="46053000" imgH="25781040" progId="">
                    <p:embed/>
                  </p:oleObj>
                </mc:Choice>
                <mc:Fallback>
                  <p:oleObj name="ClipArt" r:id="rId2" imgW="46053000" imgH="25781040" progId="">
                    <p:embed/>
                    <p:pic>
                      <p:nvPicPr>
                        <p:cNvPr id="7" name="Object 3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82AFEEC3-8A9B-15C7-FE0B-EC5AA139122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912"/>
                          <a:ext cx="2352" cy="14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032">
              <a:extLst>
                <a:ext uri="{FF2B5EF4-FFF2-40B4-BE49-F238E27FC236}">
                  <a16:creationId xmlns:a16="http://schemas.microsoft.com/office/drawing/2014/main" id="{2896D52C-D83D-FD12-9AFF-6790AA491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37"/>
              <a:ext cx="1079" cy="580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dirty="0"/>
                <a:t>Insufficient</a:t>
              </a:r>
              <a:br>
                <a:rPr lang="en-US" b="1" dirty="0"/>
              </a:br>
              <a:r>
                <a:rPr lang="en-US" b="1" dirty="0"/>
                <a:t> capacity results</a:t>
              </a:r>
              <a:br>
                <a:rPr lang="en-US" b="1" dirty="0"/>
              </a:br>
              <a:r>
                <a:rPr lang="en-US" b="1" dirty="0"/>
                <a:t>in lost sales.</a:t>
              </a:r>
            </a:p>
          </p:txBody>
        </p:sp>
      </p:grpSp>
      <p:grpSp>
        <p:nvGrpSpPr>
          <p:cNvPr id="9" name="Group 1033">
            <a:extLst>
              <a:ext uri="{FF2B5EF4-FFF2-40B4-BE49-F238E27FC236}">
                <a16:creationId xmlns:a16="http://schemas.microsoft.com/office/drawing/2014/main" id="{2CAAD3C0-2805-6FE9-80A4-7ADC4AF3E361}"/>
              </a:ext>
            </a:extLst>
          </p:cNvPr>
          <p:cNvGrpSpPr>
            <a:grpSpLocks/>
          </p:cNvGrpSpPr>
          <p:nvPr/>
        </p:nvGrpSpPr>
        <p:grpSpPr bwMode="auto">
          <a:xfrm>
            <a:off x="4159931" y="2590800"/>
            <a:ext cx="3838575" cy="2286000"/>
            <a:chOff x="3198" y="864"/>
            <a:chExt cx="2418" cy="1440"/>
          </a:xfrm>
        </p:grpSpPr>
        <p:graphicFrame>
          <p:nvGraphicFramePr>
            <p:cNvPr id="10" name="Object 2">
              <a:hlinkClick r:id="" action="ppaction://ole?verb=0"/>
              <a:extLst>
                <a:ext uri="{FF2B5EF4-FFF2-40B4-BE49-F238E27FC236}">
                  <a16:creationId xmlns:a16="http://schemas.microsoft.com/office/drawing/2014/main" id="{7C61E0BF-6735-1771-CA9D-86778DED492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98" y="864"/>
            <a:ext cx="2418" cy="1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4" imgW="7666920" imgH="4280040" progId="">
                    <p:embed/>
                  </p:oleObj>
                </mc:Choice>
                <mc:Fallback>
                  <p:oleObj name="ClipArt" r:id="rId4" imgW="7666920" imgH="4280040" progId="">
                    <p:embed/>
                    <p:pic>
                      <p:nvPicPr>
                        <p:cNvPr id="10" name="Object 2">
                          <a:hlinkClick r:id="" action="ppaction://ole?verb=0"/>
                          <a:extLst>
                            <a:ext uri="{FF2B5EF4-FFF2-40B4-BE49-F238E27FC236}">
                              <a16:creationId xmlns:a16="http://schemas.microsoft.com/office/drawing/2014/main" id="{7C61E0BF-6735-1771-CA9D-86778DED492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864"/>
                          <a:ext cx="2418" cy="1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1035">
              <a:extLst>
                <a:ext uri="{FF2B5EF4-FFF2-40B4-BE49-F238E27FC236}">
                  <a16:creationId xmlns:a16="http://schemas.microsoft.com/office/drawing/2014/main" id="{24AE94A2-C7C2-77DD-5252-15A532EC9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4" y="1172"/>
              <a:ext cx="1113" cy="580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b="1" dirty="0"/>
                <a:t>Costly excess</a:t>
              </a:r>
              <a:br>
                <a:rPr lang="en-US" b="1" dirty="0"/>
              </a:br>
              <a:r>
                <a:rPr lang="en-US" b="1" dirty="0"/>
                <a:t>capacity reduces</a:t>
              </a:r>
              <a:br>
                <a:rPr lang="en-US" b="1" dirty="0"/>
              </a:br>
              <a:r>
                <a:rPr lang="en-US" b="1" dirty="0"/>
                <a:t> profits.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7B7513-D65C-B1F5-E14F-E33455ABDD4B}"/>
              </a:ext>
            </a:extLst>
          </p:cNvPr>
          <p:cNvGrpSpPr/>
          <p:nvPr/>
        </p:nvGrpSpPr>
        <p:grpSpPr>
          <a:xfrm>
            <a:off x="2514600" y="4114800"/>
            <a:ext cx="2171815" cy="1450848"/>
            <a:chOff x="3471747" y="2627376"/>
            <a:chExt cx="2171815" cy="1450848"/>
          </a:xfrm>
        </p:grpSpPr>
        <p:sp>
          <p:nvSpPr>
            <p:cNvPr id="13" name="Cloud Callout 12">
              <a:extLst>
                <a:ext uri="{FF2B5EF4-FFF2-40B4-BE49-F238E27FC236}">
                  <a16:creationId xmlns:a16="http://schemas.microsoft.com/office/drawing/2014/main" id="{93334B37-4039-0D89-9754-ACDC9F875796}"/>
                </a:ext>
              </a:extLst>
            </p:cNvPr>
            <p:cNvSpPr/>
            <p:nvPr/>
          </p:nvSpPr>
          <p:spPr>
            <a:xfrm flipH="1">
              <a:off x="3471747" y="2627376"/>
              <a:ext cx="2133600" cy="1450848"/>
            </a:xfrm>
            <a:prstGeom prst="cloudCallou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029">
              <a:extLst>
                <a:ext uri="{FF2B5EF4-FFF2-40B4-BE49-F238E27FC236}">
                  <a16:creationId xmlns:a16="http://schemas.microsoft.com/office/drawing/2014/main" id="{8E872004-B82F-12DC-AF89-48DF3F14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7" y="2973387"/>
              <a:ext cx="2143125" cy="643766"/>
            </a:xfrm>
            <a:prstGeom prst="rect">
              <a:avLst/>
            </a:prstGeom>
            <a:noFill/>
            <a:ln w="12699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b="1" dirty="0"/>
                <a:t>How much</a:t>
              </a:r>
              <a:br>
                <a:rPr lang="en-US" b="1" dirty="0"/>
              </a:br>
              <a:r>
                <a:rPr lang="en-US" b="1" dirty="0"/>
                <a:t> is enough?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7577327-0BB9-6F5A-98BE-FD782FA20239}"/>
              </a:ext>
            </a:extLst>
          </p:cNvPr>
          <p:cNvSpPr txBox="1"/>
          <p:nvPr/>
        </p:nvSpPr>
        <p:spPr>
          <a:xfrm>
            <a:off x="4911165" y="5380982"/>
            <a:ext cx="331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Financial accounting, Libby, Libby and Hodge, 10</a:t>
            </a:r>
            <a:r>
              <a:rPr lang="en-US" sz="900" baseline="30000" dirty="0"/>
              <a:t>th</a:t>
            </a:r>
            <a:r>
              <a:rPr lang="en-US" sz="900" dirty="0"/>
              <a:t> edition, McGraw-Hill Education</a:t>
            </a:r>
          </a:p>
        </p:txBody>
      </p:sp>
    </p:spTree>
    <p:extLst>
      <p:ext uri="{BB962C8B-B14F-4D97-AF65-F5344CB8AC3E}">
        <p14:creationId xmlns:p14="http://schemas.microsoft.com/office/powerpoint/2010/main" val="29804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7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Long-term assets – overview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Long-term assets </a:t>
            </a:r>
            <a:r>
              <a:rPr lang="en-US" sz="2300" dirty="0">
                <a:solidFill>
                  <a:srgbClr val="15284B"/>
                </a:solidFill>
              </a:rPr>
              <a:t>mainly consist of: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Tangible assets </a:t>
            </a:r>
            <a:r>
              <a:rPr lang="en-US" sz="2300" dirty="0">
                <a:solidFill>
                  <a:srgbClr val="15284B"/>
                </a:solidFill>
              </a:rPr>
              <a:t>- property, plant and equipment (PPE)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Intangible assets </a:t>
            </a:r>
            <a:r>
              <a:rPr lang="en-US" sz="2300" dirty="0">
                <a:solidFill>
                  <a:srgbClr val="15284B"/>
                </a:solidFill>
              </a:rPr>
              <a:t>– no physical substance – patents, trademarks, goodwill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152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81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Long-term assets – examples by industry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Autofit/>
          </a:bodyPr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endParaRPr lang="en-US" sz="2300" b="1" dirty="0">
              <a:solidFill>
                <a:srgbClr val="FFC000"/>
              </a:solidFill>
            </a:endParaRPr>
          </a:p>
          <a:p>
            <a:pPr>
              <a:lnSpc>
                <a:spcPct val="113000"/>
              </a:lnSpc>
            </a:pPr>
            <a:r>
              <a:rPr lang="en-US" sz="2300" b="1" dirty="0">
                <a:solidFill>
                  <a:srgbClr val="FFC000"/>
                </a:solidFill>
              </a:rPr>
              <a:t>Tesla </a:t>
            </a:r>
            <a:r>
              <a:rPr lang="en-US" sz="2300" dirty="0">
                <a:solidFill>
                  <a:srgbClr val="15284B"/>
                </a:solidFill>
              </a:rPr>
              <a:t>– large balance for manufacturing facilities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Apple</a:t>
            </a:r>
            <a:r>
              <a:rPr lang="en-US" sz="2300" dirty="0">
                <a:solidFill>
                  <a:srgbClr val="15284B"/>
                </a:solidFill>
              </a:rPr>
              <a:t> – not much as most of the production is outsourced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Hilton</a:t>
            </a:r>
            <a:r>
              <a:rPr lang="en-US" sz="2300" dirty="0">
                <a:solidFill>
                  <a:srgbClr val="15284B"/>
                </a:solidFill>
              </a:rPr>
              <a:t> - asset-light model - Hilton does not own its hotels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Pfizer</a:t>
            </a:r>
            <a:r>
              <a:rPr lang="en-US" sz="2300" dirty="0">
                <a:solidFill>
                  <a:srgbClr val="15284B"/>
                </a:solidFill>
              </a:rPr>
              <a:t> – more than 50% of the assets are intangible assets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Salesforce</a:t>
            </a:r>
            <a:r>
              <a:rPr lang="en-US" sz="2300" dirty="0">
                <a:solidFill>
                  <a:srgbClr val="15284B"/>
                </a:solidFill>
              </a:rPr>
              <a:t> – SaaS business, low need for physical assets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FC000"/>
                </a:solidFill>
              </a:rPr>
              <a:t>Netflix </a:t>
            </a:r>
            <a:r>
              <a:rPr lang="en-US" sz="2300" dirty="0">
                <a:solidFill>
                  <a:srgbClr val="15284B"/>
                </a:solidFill>
              </a:rPr>
              <a:t>– mostly content (intangible) assets </a:t>
            </a:r>
          </a:p>
        </p:txBody>
      </p:sp>
    </p:spTree>
    <p:extLst>
      <p:ext uri="{BB962C8B-B14F-4D97-AF65-F5344CB8AC3E}">
        <p14:creationId xmlns:p14="http://schemas.microsoft.com/office/powerpoint/2010/main" val="190598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Long-term assets – reporting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390129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15284B"/>
                </a:solidFill>
              </a:rPr>
              <a:t>Long-term fixed assets are recorded as assets (no earnings impact) at </a:t>
            </a:r>
            <a:r>
              <a:rPr lang="en-US" sz="2300" b="1" dirty="0">
                <a:solidFill>
                  <a:srgbClr val="FFC000"/>
                </a:solidFill>
              </a:rPr>
              <a:t>acquisition cost</a:t>
            </a:r>
            <a:r>
              <a:rPr lang="en-US" sz="2300" dirty="0">
                <a:solidFill>
                  <a:srgbClr val="15284B"/>
                </a:solidFill>
              </a:rPr>
              <a:t>: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Purchase price or construction cost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All other changes to bring the asset in use 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Long-term improvements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Routine maintenance and repairs </a:t>
            </a:r>
            <a:r>
              <a:rPr lang="en-US" sz="2300" dirty="0">
                <a:solidFill>
                  <a:srgbClr val="15284B"/>
                </a:solidFill>
              </a:rPr>
              <a:t>are expensed right away – earnings impact.  </a:t>
            </a:r>
          </a:p>
        </p:txBody>
      </p:sp>
    </p:spTree>
    <p:extLst>
      <p:ext uri="{BB962C8B-B14F-4D97-AF65-F5344CB8AC3E}">
        <p14:creationId xmlns:p14="http://schemas.microsoft.com/office/powerpoint/2010/main" val="172886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Depreciation – terminology and process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Depreciation</a:t>
            </a:r>
            <a:r>
              <a:rPr lang="en-US" sz="2300" dirty="0">
                <a:solidFill>
                  <a:srgbClr val="15284B"/>
                </a:solidFill>
              </a:rPr>
              <a:t> is the process of allocating the cost of long-term tangible assets over their productive life to the income statement as expense.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Terms to know: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Depreciation expense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Accumulated depreciation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Net book value</a:t>
            </a:r>
          </a:p>
        </p:txBody>
      </p:sp>
    </p:spTree>
    <p:extLst>
      <p:ext uri="{BB962C8B-B14F-4D97-AF65-F5344CB8AC3E}">
        <p14:creationId xmlns:p14="http://schemas.microsoft.com/office/powerpoint/2010/main" val="262167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Depreciation expense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15284B"/>
                </a:solidFill>
              </a:rPr>
              <a:t>The depreciation expense depends on a few inputs - </a:t>
            </a:r>
            <a:r>
              <a:rPr lang="en-US" sz="2300" b="1" dirty="0">
                <a:solidFill>
                  <a:srgbClr val="FFC000"/>
                </a:solidFill>
              </a:rPr>
              <a:t>estimated useful life </a:t>
            </a:r>
            <a:r>
              <a:rPr lang="en-US" sz="2300" dirty="0">
                <a:solidFill>
                  <a:srgbClr val="15284B"/>
                </a:solidFill>
              </a:rPr>
              <a:t>and the chosen </a:t>
            </a:r>
            <a:r>
              <a:rPr lang="en-US" sz="2300" b="1" dirty="0">
                <a:solidFill>
                  <a:srgbClr val="FFC000"/>
                </a:solidFill>
              </a:rPr>
              <a:t>depreciation method</a:t>
            </a:r>
            <a:r>
              <a:rPr lang="en-US" sz="2300" dirty="0">
                <a:solidFill>
                  <a:srgbClr val="15284B"/>
                </a:solidFill>
              </a:rPr>
              <a:t>.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Depreciation methods</a:t>
            </a:r>
            <a:r>
              <a:rPr lang="en-US" sz="2300" dirty="0">
                <a:solidFill>
                  <a:srgbClr val="15284B"/>
                </a:solidFill>
              </a:rPr>
              <a:t>: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Straight-line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Declining-balance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Units-of-production</a:t>
            </a:r>
          </a:p>
        </p:txBody>
      </p:sp>
    </p:spTree>
    <p:extLst>
      <p:ext uri="{BB962C8B-B14F-4D97-AF65-F5344CB8AC3E}">
        <p14:creationId xmlns:p14="http://schemas.microsoft.com/office/powerpoint/2010/main" val="43559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Depreciation – methods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95" y="1503888"/>
            <a:ext cx="8390129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Straight-line </a:t>
            </a:r>
            <a:r>
              <a:rPr lang="en-US" sz="2300" dirty="0">
                <a:solidFill>
                  <a:srgbClr val="15284B"/>
                </a:solidFill>
              </a:rPr>
              <a:t>– same expense over the asset’s useful life.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Double-declining balance </a:t>
            </a:r>
            <a:r>
              <a:rPr lang="en-US" sz="2300" dirty="0">
                <a:solidFill>
                  <a:srgbClr val="15284B"/>
                </a:solidFill>
              </a:rPr>
              <a:t>– the expense is higher initially. 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b="1" dirty="0">
              <a:solidFill>
                <a:srgbClr val="FDB515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FC000"/>
                </a:solidFill>
              </a:rPr>
              <a:t>Units of production method </a:t>
            </a:r>
            <a:r>
              <a:rPr lang="en-US" sz="2300" dirty="0">
                <a:solidFill>
                  <a:srgbClr val="15284B"/>
                </a:solidFill>
              </a:rPr>
              <a:t>– based on the actual production compared to estimated total production.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Total depreciation expense over the useful life is the same under all methods. </a:t>
            </a:r>
          </a:p>
        </p:txBody>
      </p:sp>
    </p:spTree>
    <p:extLst>
      <p:ext uri="{BB962C8B-B14F-4D97-AF65-F5344CB8AC3E}">
        <p14:creationId xmlns:p14="http://schemas.microsoft.com/office/powerpoint/2010/main" val="1348480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Depreciation methods – comparison </a:t>
            </a:r>
            <a:endParaRPr lang="en-US" dirty="0">
              <a:solidFill>
                <a:srgbClr val="15284B"/>
              </a:solidFill>
            </a:endParaRPr>
          </a:p>
        </p:txBody>
      </p:sp>
      <p:pic>
        <p:nvPicPr>
          <p:cNvPr id="4" name="Picture 3" descr="Line chart titled Summary Depreciation Expense comparing two methods across years 2019 to 2021. The declining-balance method starts high and curves downward each year, while the straight-line method is a flat, constant line; the two lines cross, showing that accelerated depreciation front-loads the expense even though total depreciation is the same. Source: Libby, Libby and Hodge.">
            <a:extLst>
              <a:ext uri="{FF2B5EF4-FFF2-40B4-BE49-F238E27FC236}">
                <a16:creationId xmlns:a16="http://schemas.microsoft.com/office/drawing/2014/main" id="{56C82086-9242-C2B6-D46A-387EFCCF5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39" y="1344757"/>
            <a:ext cx="3734284" cy="4248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6D84C2-8CAC-2FFF-56DA-09E35D3BC0B2}"/>
              </a:ext>
            </a:extLst>
          </p:cNvPr>
          <p:cNvSpPr txBox="1"/>
          <p:nvPr/>
        </p:nvSpPr>
        <p:spPr>
          <a:xfrm>
            <a:off x="2388095" y="5660557"/>
            <a:ext cx="5402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Financial accounting, Libby, Libby and Hodge, 10</a:t>
            </a:r>
            <a:r>
              <a:rPr lang="en-US" sz="900" baseline="30000" dirty="0"/>
              <a:t>th</a:t>
            </a:r>
            <a:r>
              <a:rPr lang="en-US" sz="900" dirty="0"/>
              <a:t> edition, McGraw-Hill Education</a:t>
            </a:r>
          </a:p>
        </p:txBody>
      </p:sp>
    </p:spTree>
    <p:extLst>
      <p:ext uri="{BB962C8B-B14F-4D97-AF65-F5344CB8AC3E}">
        <p14:creationId xmlns:p14="http://schemas.microsoft.com/office/powerpoint/2010/main" val="901574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Impairment and sale of asset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Asset write-downs (impairment) </a:t>
            </a:r>
            <a:r>
              <a:rPr lang="en-US" sz="2300" dirty="0">
                <a:solidFill>
                  <a:srgbClr val="15284B"/>
                </a:solidFill>
              </a:rPr>
              <a:t>– an expense to bring the asset value down to its market value. Potential earnings management: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Insufficient write-down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Too large write-down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Sale of an asset </a:t>
            </a:r>
            <a:r>
              <a:rPr lang="en-US" sz="2300" dirty="0">
                <a:solidFill>
                  <a:srgbClr val="15284B"/>
                </a:solidFill>
              </a:rPr>
              <a:t>– proceeds relative to asset’s book value: 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Gain on sale results in income taxes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Loss on sale results in tax credit  </a:t>
            </a:r>
          </a:p>
        </p:txBody>
      </p:sp>
    </p:spTree>
    <p:extLst>
      <p:ext uri="{BB962C8B-B14F-4D97-AF65-F5344CB8AC3E}">
        <p14:creationId xmlns:p14="http://schemas.microsoft.com/office/powerpoint/2010/main" val="2428555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Goodwill and Intangib</a:t>
            </a:r>
            <a:r>
              <a:rPr lang="en-US" dirty="0"/>
              <a:t>le Assets 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3702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Intangible assets - overview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rmAutofit/>
          </a:bodyPr>
          <a:lstStyle/>
          <a:p>
            <a:pPr marL="0" indent="0">
              <a:lnSpc>
                <a:spcPct val="113000"/>
              </a:lnSpc>
              <a:spcBef>
                <a:spcPts val="300"/>
              </a:spcBef>
              <a:buNone/>
            </a:pPr>
            <a:r>
              <a:rPr lang="en-US" sz="2300" b="1" dirty="0">
                <a:solidFill>
                  <a:srgbClr val="FDB515"/>
                </a:solidFill>
              </a:rPr>
              <a:t>Intangible assets </a:t>
            </a:r>
            <a:r>
              <a:rPr lang="en-US" sz="2300" dirty="0">
                <a:solidFill>
                  <a:srgbClr val="15284B"/>
                </a:solidFill>
              </a:rPr>
              <a:t>are long-term assets without physical substance. </a:t>
            </a:r>
          </a:p>
          <a:p>
            <a:pPr marL="0" indent="0">
              <a:lnSpc>
                <a:spcPct val="113000"/>
              </a:lnSpc>
              <a:spcBef>
                <a:spcPts val="300"/>
              </a:spcBef>
              <a:buNone/>
            </a:pPr>
            <a:endParaRPr lang="en-US" sz="2300" b="1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spcBef>
                <a:spcPts val="300"/>
              </a:spcBef>
              <a:buNone/>
            </a:pPr>
            <a:r>
              <a:rPr lang="en-US" sz="2300" b="1" dirty="0">
                <a:solidFill>
                  <a:srgbClr val="FDB515"/>
                </a:solidFill>
              </a:rPr>
              <a:t>Examples:</a:t>
            </a:r>
          </a:p>
          <a:p>
            <a:pPr marL="285750" indent="-285750">
              <a:lnSpc>
                <a:spcPct val="113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Goodwill </a:t>
            </a:r>
          </a:p>
          <a:p>
            <a:pPr marL="285750" indent="-285750">
              <a:lnSpc>
                <a:spcPct val="113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Trademarks, copyrights, patents </a:t>
            </a:r>
          </a:p>
          <a:p>
            <a:pPr marL="285750" indent="-285750">
              <a:lnSpc>
                <a:spcPct val="113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Technology</a:t>
            </a:r>
          </a:p>
          <a:p>
            <a:pPr marL="285750" indent="-285750">
              <a:lnSpc>
                <a:spcPct val="113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Content </a:t>
            </a:r>
          </a:p>
          <a:p>
            <a:pPr marL="285750" indent="-285750">
              <a:lnSpc>
                <a:spcPct val="113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Customer lists and relationships</a:t>
            </a:r>
          </a:p>
          <a:p>
            <a:pPr marL="0" indent="0">
              <a:lnSpc>
                <a:spcPct val="113000"/>
              </a:lnSpc>
              <a:spcBef>
                <a:spcPts val="300"/>
              </a:spcBef>
              <a:buNone/>
            </a:pPr>
            <a:endParaRPr lang="en-US" sz="2300" dirty="0">
              <a:solidFill>
                <a:srgbClr val="1528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857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M&amp;A – Purchase Price Allocation </a:t>
            </a:r>
            <a:endParaRPr lang="en-US" dirty="0">
              <a:solidFill>
                <a:srgbClr val="15284B"/>
              </a:solidFill>
            </a:endParaRPr>
          </a:p>
        </p:txBody>
      </p:sp>
      <p:pic>
        <p:nvPicPr>
          <p:cNvPr id="5" name="Picture 3" descr="Stacked bar illustrating purchase price allocation in an acquisition. The purchase price paid by the acquirer is split into a premium agreed and paid on top, plus the fair value of the target below, which equals net intangible assets and net tangible assets (the target's operating and non-operating tangible and intangible assets net of its liabilities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743" y="1828791"/>
            <a:ext cx="1632857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9600" y="2998920"/>
            <a:ext cx="1255594" cy="1344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dirty="0"/>
              <a:t>Purchase price paid by the acquirer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1890" y="1823104"/>
            <a:ext cx="3124200" cy="103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b="1" dirty="0"/>
              <a:t>Premium paid </a:t>
            </a:r>
            <a:r>
              <a:rPr lang="en-US" dirty="0"/>
              <a:t>– estimated synergies, other; could be zero or substantial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3416291"/>
            <a:ext cx="3124200" cy="165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b="1" dirty="0"/>
              <a:t>Fair value of the target </a:t>
            </a:r>
            <a:r>
              <a:rPr lang="en-US" dirty="0"/>
              <a:t>= operating and non-operating tangible plus intangible assets net of operating and non-operating liabilities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1940355"/>
            <a:ext cx="1181100" cy="9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bg1"/>
                </a:solidFill>
              </a:rPr>
              <a:t>Premium agreed and paid</a:t>
            </a:r>
          </a:p>
        </p:txBody>
      </p:sp>
      <p:sp>
        <p:nvSpPr>
          <p:cNvPr id="11" name="Up-Down Arrow 10"/>
          <p:cNvSpPr/>
          <p:nvPr/>
        </p:nvSpPr>
        <p:spPr>
          <a:xfrm>
            <a:off x="2093794" y="1828791"/>
            <a:ext cx="116006" cy="3810000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-Down Arrow 11"/>
          <p:cNvSpPr/>
          <p:nvPr/>
        </p:nvSpPr>
        <p:spPr>
          <a:xfrm>
            <a:off x="4267200" y="3124190"/>
            <a:ext cx="116006" cy="2520287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-Down Arrow 12"/>
          <p:cNvSpPr/>
          <p:nvPr/>
        </p:nvSpPr>
        <p:spPr>
          <a:xfrm>
            <a:off x="4267200" y="1828791"/>
            <a:ext cx="116006" cy="1219200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093191" y="3075286"/>
            <a:ext cx="3810000" cy="1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7000" y="4454955"/>
            <a:ext cx="1181100" cy="9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bg1"/>
                </a:solidFill>
              </a:rPr>
              <a:t>Net tangible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900" y="3200391"/>
            <a:ext cx="1181100" cy="9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bg1"/>
                </a:solidFill>
              </a:rPr>
              <a:t>Net intangible assets</a:t>
            </a:r>
          </a:p>
        </p:txBody>
      </p:sp>
    </p:spTree>
    <p:extLst>
      <p:ext uri="{BB962C8B-B14F-4D97-AF65-F5344CB8AC3E}">
        <p14:creationId xmlns:p14="http://schemas.microsoft.com/office/powerpoint/2010/main" val="1254787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M&amp;A - Purchase Price Allocation </a:t>
            </a:r>
            <a:endParaRPr lang="en-US" dirty="0">
              <a:solidFill>
                <a:srgbClr val="15284B"/>
              </a:solidFill>
            </a:endParaRPr>
          </a:p>
        </p:txBody>
      </p:sp>
      <p:pic>
        <p:nvPicPr>
          <p:cNvPr id="5" name="Picture 2" descr="Stacked bar illustrating purchase price allocation and goodwill. Goodwill is the portion above the dashed line — the premium plus intangible assets that cannot be separately identified and measured — while the portion below is the net identifiable tangible and intangible assets recognized in the acquisition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69134"/>
            <a:ext cx="1637731" cy="3821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895599" y="1680507"/>
            <a:ext cx="5568779" cy="1970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b="1" dirty="0"/>
              <a:t>Goodwill: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excess over the net identifiable tangible and intangible assets 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dirty="0"/>
              <a:t>It represents the premium plus those intangible assets that cannot be clearly identified and measured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600" y="3833002"/>
            <a:ext cx="5568778" cy="165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00"/>
              </a:lnSpc>
            </a:pPr>
            <a:r>
              <a:rPr lang="en-US" b="1" dirty="0"/>
              <a:t>Net identifiable tangible and intangible assets: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dirty="0"/>
              <a:t>Assets and liabilities currently reported on the BS of the target prior to the acquisition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dirty="0"/>
              <a:t>Intangible assets not recorded on the BS of the target, but easily identifiable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083" y="1797757"/>
            <a:ext cx="1181100" cy="9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bg1"/>
                </a:solidFill>
              </a:rPr>
              <a:t>Premium agreed and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7083" y="4312357"/>
            <a:ext cx="1181100" cy="9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bg1"/>
                </a:solidFill>
              </a:rPr>
              <a:t>Net tangible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983" y="3057793"/>
            <a:ext cx="1181100" cy="926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b="1" dirty="0">
                <a:solidFill>
                  <a:schemeClr val="bg1"/>
                </a:solidFill>
              </a:rPr>
              <a:t>Net intangible assets</a:t>
            </a:r>
          </a:p>
        </p:txBody>
      </p:sp>
      <p:sp>
        <p:nvSpPr>
          <p:cNvPr id="11" name="Up-Down Arrow 10"/>
          <p:cNvSpPr/>
          <p:nvPr/>
        </p:nvSpPr>
        <p:spPr>
          <a:xfrm>
            <a:off x="2590800" y="3814107"/>
            <a:ext cx="116006" cy="1619026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-Down Arrow 11"/>
          <p:cNvSpPr/>
          <p:nvPr/>
        </p:nvSpPr>
        <p:spPr>
          <a:xfrm>
            <a:off x="2590800" y="1713489"/>
            <a:ext cx="116006" cy="1899313"/>
          </a:xfrm>
          <a:prstGeom prst="up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438400" y="3702653"/>
            <a:ext cx="6025978" cy="1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982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Accounting for goodwill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Autofit/>
          </a:bodyPr>
          <a:lstStyle/>
          <a:p>
            <a:pPr marL="0" indent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15284B"/>
                </a:solidFill>
              </a:rPr>
              <a:t>Goodwill arises only from </a:t>
            </a:r>
            <a:r>
              <a:rPr lang="en-US" sz="2300" b="1" dirty="0">
                <a:solidFill>
                  <a:srgbClr val="FDB515"/>
                </a:solidFill>
              </a:rPr>
              <a:t>acquisitions. </a:t>
            </a:r>
            <a:r>
              <a:rPr lang="en-US" sz="2300" dirty="0">
                <a:solidFill>
                  <a:srgbClr val="15284B"/>
                </a:solidFill>
              </a:rPr>
              <a:t>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Value</a:t>
            </a:r>
            <a:r>
              <a:rPr lang="en-US" sz="2300" dirty="0">
                <a:solidFill>
                  <a:srgbClr val="15284B"/>
                </a:solidFill>
              </a:rPr>
              <a:t> - the difference between the purchase price and the fair value of all net identifiable assets.  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Goodwill is usually treated as having an infinite life, so it is not amortized.</a:t>
            </a:r>
            <a:r>
              <a:rPr lang="en-US" sz="2300" dirty="0">
                <a:solidFill>
                  <a:srgbClr val="15284B"/>
                </a:solidFill>
              </a:rPr>
              <a:t/>
            </a:r>
            <a:r>
              <a:rPr lang="en-US" sz="2300" b="1" dirty="0">
                <a:solidFill>
                  <a:srgbClr val="FDB515"/>
                </a:solidFill>
              </a:rPr>
              <a:t/>
            </a:r>
            <a:r>
              <a:rPr lang="en-US" sz="2300" dirty="0">
                <a:solidFill>
                  <a:srgbClr val="15284B"/>
                </a:solidFill>
              </a:rPr>
              <a:t/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It is tested for </a:t>
            </a:r>
            <a:r>
              <a:rPr lang="en-US" sz="2300" b="1" dirty="0">
                <a:solidFill>
                  <a:srgbClr val="FDB515"/>
                </a:solidFill>
              </a:rPr>
              <a:t>impairment</a:t>
            </a:r>
            <a:r>
              <a:rPr lang="en-US" sz="2300" dirty="0">
                <a:solidFill>
                  <a:srgbClr val="15284B"/>
                </a:solidFill>
              </a:rPr>
              <a:t> and any write-downs are recorded in earnings. </a:t>
            </a:r>
          </a:p>
        </p:txBody>
      </p:sp>
    </p:spTree>
    <p:extLst>
      <p:ext uri="{BB962C8B-B14F-4D97-AF65-F5344CB8AC3E}">
        <p14:creationId xmlns:p14="http://schemas.microsoft.com/office/powerpoint/2010/main" val="1448808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15284B"/>
                </a:solidFill>
              </a:rPr>
              <a:t>Accounting for intangible assets </a:t>
            </a:r>
            <a:endParaRPr lang="en-US" dirty="0">
              <a:solidFill>
                <a:srgbClr val="15284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03888"/>
            <a:ext cx="8229601" cy="4357652"/>
          </a:xfrm>
        </p:spPr>
        <p:txBody>
          <a:bodyPr>
            <a:noAutofit/>
          </a:bodyPr>
          <a:lstStyle/>
          <a:p>
            <a:pPr marL="0" lvl="0" indent="0">
              <a:lnSpc>
                <a:spcPct val="113000"/>
              </a:lnSpc>
              <a:buNone/>
            </a:pPr>
            <a:r>
              <a:rPr lang="en-US" sz="2300" dirty="0">
                <a:solidFill>
                  <a:srgbClr val="15284B"/>
                </a:solidFill>
              </a:rPr>
              <a:t>Most are </a:t>
            </a:r>
            <a:r>
              <a:rPr lang="en-US" sz="2300">
                <a:solidFill>
                  <a:srgbClr val="15284B"/>
                </a:solidFill>
              </a:rPr>
              <a:t>reported after </a:t>
            </a:r>
            <a:r>
              <a:rPr lang="en-US" sz="2300" dirty="0">
                <a:solidFill>
                  <a:srgbClr val="15284B"/>
                </a:solidFill>
              </a:rPr>
              <a:t>an </a:t>
            </a:r>
            <a:r>
              <a:rPr lang="en-US" sz="2300" b="1" dirty="0">
                <a:solidFill>
                  <a:srgbClr val="FDB515"/>
                </a:solidFill>
              </a:rPr>
              <a:t>acquisition. </a:t>
            </a:r>
          </a:p>
          <a:p>
            <a:pPr>
              <a:lnSpc>
                <a:spcPct val="113000"/>
              </a:lnSpc>
            </a:pPr>
            <a:r>
              <a:rPr lang="en-US" sz="2300" dirty="0">
                <a:solidFill>
                  <a:srgbClr val="15284B"/>
                </a:solidFill>
              </a:rPr>
              <a:t>The cost of internally developed intangible assets is expensed as incurred.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Value</a:t>
            </a:r>
            <a:r>
              <a:rPr lang="en-US" sz="2300" dirty="0">
                <a:solidFill>
                  <a:srgbClr val="15284B"/>
                </a:solidFill>
              </a:rPr>
              <a:t> – the price paid by the acquirer. </a:t>
            </a:r>
          </a:p>
          <a:p>
            <a:pPr marL="0" indent="0">
              <a:lnSpc>
                <a:spcPct val="113000"/>
              </a:lnSpc>
              <a:buNone/>
            </a:pPr>
            <a:endParaRPr lang="en-US" sz="2300" dirty="0">
              <a:solidFill>
                <a:srgbClr val="15284B"/>
              </a:solidFill>
            </a:endParaRPr>
          </a:p>
          <a:p>
            <a:pPr marL="0" indent="0">
              <a:lnSpc>
                <a:spcPct val="113000"/>
              </a:lnSpc>
              <a:buNone/>
            </a:pPr>
            <a:r>
              <a:rPr lang="en-US" sz="2300" b="1" dirty="0">
                <a:solidFill>
                  <a:srgbClr val="FDB515"/>
                </a:solidFill>
              </a:rPr>
              <a:t>Regular expense:  </a:t>
            </a:r>
          </a:p>
          <a:p>
            <a:pPr marL="285750" lvl="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Those with</a:t>
            </a:r>
            <a:r>
              <a:rPr lang="en-US" sz="2300" b="1" dirty="0">
                <a:solidFill>
                  <a:srgbClr val="FDB515"/>
                </a:solidFill>
              </a:rPr>
              <a:t> finite </a:t>
            </a:r>
            <a:r>
              <a:rPr lang="en-US" sz="2300" dirty="0">
                <a:solidFill>
                  <a:srgbClr val="15284B"/>
                </a:solidFill>
              </a:rPr>
              <a:t>life are </a:t>
            </a:r>
            <a:r>
              <a:rPr lang="en-US" sz="2300" b="1" dirty="0">
                <a:solidFill>
                  <a:srgbClr val="FDB515"/>
                </a:solidFill>
              </a:rPr>
              <a:t>amortized</a:t>
            </a:r>
            <a:r>
              <a:rPr lang="en-US" sz="2300" dirty="0">
                <a:solidFill>
                  <a:srgbClr val="15284B"/>
                </a:solidFill>
              </a:rPr>
              <a:t> over this finite life. </a:t>
            </a:r>
          </a:p>
          <a:p>
            <a:pPr marL="285750" lvl="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15284B"/>
                </a:solidFill>
              </a:rPr>
              <a:t>Those with</a:t>
            </a:r>
            <a:r>
              <a:rPr lang="en-US" sz="2300" b="1" dirty="0">
                <a:solidFill>
                  <a:srgbClr val="FDB515"/>
                </a:solidFill>
              </a:rPr>
              <a:t> infinite </a:t>
            </a:r>
            <a:r>
              <a:rPr lang="en-US" sz="2300" dirty="0">
                <a:solidFill>
                  <a:srgbClr val="15284B"/>
                </a:solidFill>
              </a:rPr>
              <a:t>life are tested for </a:t>
            </a:r>
            <a:r>
              <a:rPr lang="en-US" sz="2300" b="1" dirty="0">
                <a:solidFill>
                  <a:srgbClr val="FDB515"/>
                </a:solidFill>
              </a:rPr>
              <a:t>impairment</a:t>
            </a:r>
            <a:r>
              <a:rPr lang="en-US" sz="2300" dirty="0">
                <a:solidFill>
                  <a:srgbClr val="15284B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62386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rkeley-Haas Color Palette">
      <a:dk1>
        <a:srgbClr val="003057"/>
      </a:dk1>
      <a:lt1>
        <a:sysClr val="window" lastClr="FFFFFF"/>
      </a:lt1>
      <a:dk2>
        <a:srgbClr val="75777B"/>
      </a:dk2>
      <a:lt2>
        <a:srgbClr val="C3BDAD"/>
      </a:lt2>
      <a:accent1>
        <a:srgbClr val="0072CE"/>
      </a:accent1>
      <a:accent2>
        <a:srgbClr val="D8623F"/>
      </a:accent2>
      <a:accent3>
        <a:srgbClr val="6AA603"/>
      </a:accent3>
      <a:accent4>
        <a:srgbClr val="EFB82B"/>
      </a:accent4>
      <a:accent5>
        <a:srgbClr val="EA4D6C"/>
      </a:accent5>
      <a:accent6>
        <a:srgbClr val="9BBFAD"/>
      </a:accent6>
      <a:hlink>
        <a:srgbClr val="B2B3B2"/>
      </a:hlink>
      <a:folHlink>
        <a:srgbClr val="77787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8587</TotalTime>
  <Words>677</Words>
  <Application>Microsoft Office PowerPoint</Application>
  <PresentationFormat>On-screen Show (4:3)</PresentationFormat>
  <Paragraphs>101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Office Theme</vt:lpstr>
      <vt:lpstr>ClipArt</vt:lpstr>
      <vt:lpstr>Long-term Assets: Tangible and Intangible</vt:lpstr>
      <vt:lpstr>Asset-light vs Asset-heavy model </vt:lpstr>
      <vt:lpstr>Long-term assets – overview </vt:lpstr>
      <vt:lpstr>Long-term assets – examples by industry</vt:lpstr>
      <vt:lpstr>Long-term assets – reporting </vt:lpstr>
      <vt:lpstr>Depreciation – terminology and process </vt:lpstr>
      <vt:lpstr>Depreciation expense</vt:lpstr>
      <vt:lpstr>Depreciation – methods </vt:lpstr>
      <vt:lpstr>Depreciation methods – comparison </vt:lpstr>
      <vt:lpstr>Impairment and sale of asset </vt:lpstr>
      <vt:lpstr>Goodwill and Intangible Assets </vt:lpstr>
      <vt:lpstr>Intangible assets - overview</vt:lpstr>
      <vt:lpstr>M&amp;A – Purchase Price Allocation </vt:lpstr>
      <vt:lpstr>M&amp;A - Purchase Price Allocation </vt:lpstr>
      <vt:lpstr>Accounting for goodwill </vt:lpstr>
      <vt:lpstr>Accounting for intangible assets </vt:lpstr>
    </vt:vector>
  </TitlesOfParts>
  <Company>Haas School of Business, 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 Pham Le</dc:creator>
  <cp:lastModifiedBy>Veselina Dinova</cp:lastModifiedBy>
  <cp:revision>126</cp:revision>
  <dcterms:created xsi:type="dcterms:W3CDTF">2014-11-25T20:43:26Z</dcterms:created>
  <dcterms:modified xsi:type="dcterms:W3CDTF">2025-08-14T17:27:40Z</dcterms:modified>
</cp:coreProperties>
</file>
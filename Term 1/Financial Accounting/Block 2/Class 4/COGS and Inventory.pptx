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handoutMasterIdLst>
    <p:handoutMasterId r:id="rId15"/>
  </p:handoutMasterIdLst>
  <p:sldIdLst>
    <p:sldId id="256" r:id="rId2"/>
    <p:sldId id="262" r:id="rId3"/>
    <p:sldId id="293" r:id="rId4"/>
    <p:sldId id="302" r:id="rId5"/>
    <p:sldId id="301" r:id="rId6"/>
    <p:sldId id="300" r:id="rId7"/>
    <p:sldId id="305" r:id="rId8"/>
    <p:sldId id="303" r:id="rId9"/>
    <p:sldId id="307" r:id="rId10"/>
    <p:sldId id="306" r:id="rId11"/>
    <p:sldId id="308" r:id="rId12"/>
    <p:sldId id="309"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7AF5112-DCCC-F442-B9BB-91E91E5BE225}">
          <p14:sldIdLst>
            <p14:sldId id="256"/>
            <p14:sldId id="262"/>
            <p14:sldId id="293"/>
            <p14:sldId id="302"/>
            <p14:sldId id="301"/>
            <p14:sldId id="300"/>
            <p14:sldId id="305"/>
            <p14:sldId id="303"/>
            <p14:sldId id="307"/>
            <p14:sldId id="306"/>
            <p14:sldId id="308"/>
            <p14:sldId id="30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B515"/>
    <a:srgbClr val="00274C"/>
    <a:srgbClr val="15284B"/>
    <a:srgbClr val="545454"/>
    <a:srgbClr val="1C569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198C29-B7EB-43CC-A3C6-0059CEB4B681}" v="5" dt="2025-07-06T01:17:31.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0" autoAdjust="0"/>
    <p:restoredTop sz="93586" autoAdjust="0"/>
  </p:normalViewPr>
  <p:slideViewPr>
    <p:cSldViewPr snapToGrid="0" snapToObjects="1">
      <p:cViewPr varScale="1">
        <p:scale>
          <a:sx n="86" d="100"/>
          <a:sy n="86" d="100"/>
        </p:scale>
        <p:origin x="1298" y="2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selina Dinova" userId="5935860719f7b8c5" providerId="LiveId" clId="{65198C29-B7EB-43CC-A3C6-0059CEB4B681}"/>
    <pc:docChg chg="custSel delSld modSld modSection">
      <pc:chgData name="Veselina Dinova" userId="5935860719f7b8c5" providerId="LiveId" clId="{65198C29-B7EB-43CC-A3C6-0059CEB4B681}" dt="2025-07-06T01:19:12.515" v="1086" actId="20577"/>
      <pc:docMkLst>
        <pc:docMk/>
      </pc:docMkLst>
      <pc:sldChg chg="modSp mod">
        <pc:chgData name="Veselina Dinova" userId="5935860719f7b8c5" providerId="LiveId" clId="{65198C29-B7EB-43CC-A3C6-0059CEB4B681}" dt="2025-07-06T01:04:50.074" v="729" actId="20577"/>
        <pc:sldMkLst>
          <pc:docMk/>
          <pc:sldMk cId="695796125" sldId="256"/>
        </pc:sldMkLst>
        <pc:spChg chg="mod">
          <ac:chgData name="Veselina Dinova" userId="5935860719f7b8c5" providerId="LiveId" clId="{65198C29-B7EB-43CC-A3C6-0059CEB4B681}" dt="2025-07-06T01:04:50.074" v="729" actId="20577"/>
          <ac:spMkLst>
            <pc:docMk/>
            <pc:sldMk cId="695796125" sldId="256"/>
            <ac:spMk id="2" creationId="{00000000-0000-0000-0000-000000000000}"/>
          </ac:spMkLst>
        </pc:spChg>
      </pc:sldChg>
      <pc:sldChg chg="modSp mod">
        <pc:chgData name="Veselina Dinova" userId="5935860719f7b8c5" providerId="LiveId" clId="{65198C29-B7EB-43CC-A3C6-0059CEB4B681}" dt="2025-07-06T01:05:24.110" v="736" actId="20577"/>
        <pc:sldMkLst>
          <pc:docMk/>
          <pc:sldMk cId="2893650772" sldId="262"/>
        </pc:sldMkLst>
        <pc:spChg chg="mod">
          <ac:chgData name="Veselina Dinova" userId="5935860719f7b8c5" providerId="LiveId" clId="{65198C29-B7EB-43CC-A3C6-0059CEB4B681}" dt="2025-07-06T01:05:24.110" v="736" actId="20577"/>
          <ac:spMkLst>
            <pc:docMk/>
            <pc:sldMk cId="2893650772" sldId="262"/>
            <ac:spMk id="3" creationId="{00000000-0000-0000-0000-000000000000}"/>
          </ac:spMkLst>
        </pc:spChg>
      </pc:sldChg>
      <pc:sldChg chg="del">
        <pc:chgData name="Veselina Dinova" userId="5935860719f7b8c5" providerId="LiveId" clId="{65198C29-B7EB-43CC-A3C6-0059CEB4B681}" dt="2025-07-06T00:09:06.265" v="0" actId="47"/>
        <pc:sldMkLst>
          <pc:docMk/>
          <pc:sldMk cId="461449252" sldId="277"/>
        </pc:sldMkLst>
      </pc:sldChg>
      <pc:sldChg chg="del">
        <pc:chgData name="Veselina Dinova" userId="5935860719f7b8c5" providerId="LiveId" clId="{65198C29-B7EB-43CC-A3C6-0059CEB4B681}" dt="2025-07-06T00:58:45.899" v="504" actId="47"/>
        <pc:sldMkLst>
          <pc:docMk/>
          <pc:sldMk cId="2201149398" sldId="284"/>
        </pc:sldMkLst>
      </pc:sldChg>
      <pc:sldChg chg="delSp modSp mod">
        <pc:chgData name="Veselina Dinova" userId="5935860719f7b8c5" providerId="LiveId" clId="{65198C29-B7EB-43CC-A3C6-0059CEB4B681}" dt="2025-07-06T01:12:32.841" v="956" actId="1076"/>
        <pc:sldMkLst>
          <pc:docMk/>
          <pc:sldMk cId="1630580632" sldId="300"/>
        </pc:sldMkLst>
        <pc:spChg chg="mod">
          <ac:chgData name="Veselina Dinova" userId="5935860719f7b8c5" providerId="LiveId" clId="{65198C29-B7EB-43CC-A3C6-0059CEB4B681}" dt="2025-07-06T01:12:32.841" v="956" actId="1076"/>
          <ac:spMkLst>
            <pc:docMk/>
            <pc:sldMk cId="1630580632" sldId="300"/>
            <ac:spMk id="6" creationId="{7F5C7076-0675-62BD-53C3-B986950CF935}"/>
          </ac:spMkLst>
        </pc:spChg>
        <pc:spChg chg="del">
          <ac:chgData name="Veselina Dinova" userId="5935860719f7b8c5" providerId="LiveId" clId="{65198C29-B7EB-43CC-A3C6-0059CEB4B681}" dt="2025-07-06T01:12:16.760" v="953" actId="478"/>
          <ac:spMkLst>
            <pc:docMk/>
            <pc:sldMk cId="1630580632" sldId="300"/>
            <ac:spMk id="7" creationId="{2EFEB952-3911-92FB-DE64-BC56DBC4188C}"/>
          </ac:spMkLst>
        </pc:spChg>
        <pc:picChg chg="mod">
          <ac:chgData name="Veselina Dinova" userId="5935860719f7b8c5" providerId="LiveId" clId="{65198C29-B7EB-43CC-A3C6-0059CEB4B681}" dt="2025-07-06T01:12:28.238" v="955" actId="1076"/>
          <ac:picMkLst>
            <pc:docMk/>
            <pc:sldMk cId="1630580632" sldId="300"/>
            <ac:picMk id="8" creationId="{E15B1D3F-7A2A-7934-FF2F-DB83070BDB5E}"/>
          </ac:picMkLst>
        </pc:picChg>
      </pc:sldChg>
      <pc:sldChg chg="modSp mod">
        <pc:chgData name="Veselina Dinova" userId="5935860719f7b8c5" providerId="LiveId" clId="{65198C29-B7EB-43CC-A3C6-0059CEB4B681}" dt="2025-07-06T01:09:19.822" v="951" actId="20577"/>
        <pc:sldMkLst>
          <pc:docMk/>
          <pc:sldMk cId="1856129245" sldId="301"/>
        </pc:sldMkLst>
        <pc:spChg chg="mod">
          <ac:chgData name="Veselina Dinova" userId="5935860719f7b8c5" providerId="LiveId" clId="{65198C29-B7EB-43CC-A3C6-0059CEB4B681}" dt="2025-07-06T01:09:19.822" v="951" actId="20577"/>
          <ac:spMkLst>
            <pc:docMk/>
            <pc:sldMk cId="1856129245" sldId="301"/>
            <ac:spMk id="3" creationId="{00000000-0000-0000-0000-000000000000}"/>
          </ac:spMkLst>
        </pc:spChg>
      </pc:sldChg>
      <pc:sldChg chg="modSp mod">
        <pc:chgData name="Veselina Dinova" userId="5935860719f7b8c5" providerId="LiveId" clId="{65198C29-B7EB-43CC-A3C6-0059CEB4B681}" dt="2025-07-06T01:15:09.600" v="999" actId="255"/>
        <pc:sldMkLst>
          <pc:docMk/>
          <pc:sldMk cId="4157836815" sldId="303"/>
        </pc:sldMkLst>
        <pc:spChg chg="mod">
          <ac:chgData name="Veselina Dinova" userId="5935860719f7b8c5" providerId="LiveId" clId="{65198C29-B7EB-43CC-A3C6-0059CEB4B681}" dt="2025-07-06T01:15:09.600" v="999" actId="255"/>
          <ac:spMkLst>
            <pc:docMk/>
            <pc:sldMk cId="4157836815" sldId="303"/>
            <ac:spMk id="3" creationId="{00000000-0000-0000-0000-000000000000}"/>
          </ac:spMkLst>
        </pc:spChg>
      </pc:sldChg>
      <pc:sldChg chg="del">
        <pc:chgData name="Veselina Dinova" userId="5935860719f7b8c5" providerId="LiveId" clId="{65198C29-B7EB-43CC-A3C6-0059CEB4B681}" dt="2025-07-06T00:16:29.586" v="98" actId="47"/>
        <pc:sldMkLst>
          <pc:docMk/>
          <pc:sldMk cId="2991611961" sldId="304"/>
        </pc:sldMkLst>
      </pc:sldChg>
      <pc:sldChg chg="modSp mod">
        <pc:chgData name="Veselina Dinova" userId="5935860719f7b8c5" providerId="LiveId" clId="{65198C29-B7EB-43CC-A3C6-0059CEB4B681}" dt="2025-07-06T01:10:56.766" v="952" actId="20577"/>
        <pc:sldMkLst>
          <pc:docMk/>
          <pc:sldMk cId="3995605770" sldId="305"/>
        </pc:sldMkLst>
        <pc:spChg chg="mod">
          <ac:chgData name="Veselina Dinova" userId="5935860719f7b8c5" providerId="LiveId" clId="{65198C29-B7EB-43CC-A3C6-0059CEB4B681}" dt="2025-07-06T01:10:56.766" v="952" actId="20577"/>
          <ac:spMkLst>
            <pc:docMk/>
            <pc:sldMk cId="3995605770" sldId="305"/>
            <ac:spMk id="3" creationId="{00000000-0000-0000-0000-000000000000}"/>
          </ac:spMkLst>
        </pc:spChg>
      </pc:sldChg>
      <pc:sldChg chg="modSp mod">
        <pc:chgData name="Veselina Dinova" userId="5935860719f7b8c5" providerId="LiveId" clId="{65198C29-B7EB-43CC-A3C6-0059CEB4B681}" dt="2025-07-06T01:15:45.383" v="1000" actId="6549"/>
        <pc:sldMkLst>
          <pc:docMk/>
          <pc:sldMk cId="4235759107" sldId="306"/>
        </pc:sldMkLst>
        <pc:spChg chg="mod">
          <ac:chgData name="Veselina Dinova" userId="5935860719f7b8c5" providerId="LiveId" clId="{65198C29-B7EB-43CC-A3C6-0059CEB4B681}" dt="2025-07-06T01:15:45.383" v="1000" actId="6549"/>
          <ac:spMkLst>
            <pc:docMk/>
            <pc:sldMk cId="4235759107" sldId="306"/>
            <ac:spMk id="3" creationId="{00000000-0000-0000-0000-000000000000}"/>
          </ac:spMkLst>
        </pc:spChg>
      </pc:sldChg>
      <pc:sldChg chg="modSp mod">
        <pc:chgData name="Veselina Dinova" userId="5935860719f7b8c5" providerId="LiveId" clId="{65198C29-B7EB-43CC-A3C6-0059CEB4B681}" dt="2025-07-06T01:17:50.689" v="1074" actId="20577"/>
        <pc:sldMkLst>
          <pc:docMk/>
          <pc:sldMk cId="764244419" sldId="308"/>
        </pc:sldMkLst>
        <pc:spChg chg="mod">
          <ac:chgData name="Veselina Dinova" userId="5935860719f7b8c5" providerId="LiveId" clId="{65198C29-B7EB-43CC-A3C6-0059CEB4B681}" dt="2025-07-06T01:17:50.689" v="1074" actId="20577"/>
          <ac:spMkLst>
            <pc:docMk/>
            <pc:sldMk cId="764244419" sldId="308"/>
            <ac:spMk id="3" creationId="{00000000-0000-0000-0000-000000000000}"/>
          </ac:spMkLst>
        </pc:spChg>
      </pc:sldChg>
      <pc:sldChg chg="modSp mod">
        <pc:chgData name="Veselina Dinova" userId="5935860719f7b8c5" providerId="LiveId" clId="{65198C29-B7EB-43CC-A3C6-0059CEB4B681}" dt="2025-07-06T01:19:12.515" v="1086" actId="20577"/>
        <pc:sldMkLst>
          <pc:docMk/>
          <pc:sldMk cId="10464385" sldId="309"/>
        </pc:sldMkLst>
        <pc:spChg chg="mod">
          <ac:chgData name="Veselina Dinova" userId="5935860719f7b8c5" providerId="LiveId" clId="{65198C29-B7EB-43CC-A3C6-0059CEB4B681}" dt="2025-07-06T01:19:12.515" v="1086" actId="20577"/>
          <ac:spMkLst>
            <pc:docMk/>
            <pc:sldMk cId="10464385" sldId="309"/>
            <ac:spMk id="3" creationId="{00000000-0000-0000-0000-000000000000}"/>
          </ac:spMkLst>
        </pc:spChg>
      </pc:sldChg>
      <pc:sldChg chg="del">
        <pc:chgData name="Veselina Dinova" userId="5935860719f7b8c5" providerId="LiveId" clId="{65198C29-B7EB-43CC-A3C6-0059CEB4B681}" dt="2025-07-06T00:58:47.519" v="505" actId="47"/>
        <pc:sldMkLst>
          <pc:docMk/>
          <pc:sldMk cId="3449692939" sldId="31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B046756-95B1-9E4B-B4F0-13B47C763CAF}" type="datetimeFigureOut">
              <a:rPr lang="en-US" smtClean="0"/>
              <a:t>7/5/2025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2D1FC82-C81D-9041-A08B-05D60FC301DD}" type="slidenum">
              <a:rPr lang="en-US" smtClean="0"/>
              <a:t>‹#›</a:t>
            </a:fld>
            <a:endParaRPr lang="en-US"/>
          </a:p>
        </p:txBody>
      </p:sp>
    </p:spTree>
    <p:extLst>
      <p:ext uri="{BB962C8B-B14F-4D97-AF65-F5344CB8AC3E}">
        <p14:creationId xmlns:p14="http://schemas.microsoft.com/office/powerpoint/2010/main" val="177004858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9B62887-402F-6941-80C6-F161CAE43A29}" type="datetimeFigureOut">
              <a:rPr lang="en-US" smtClean="0"/>
              <a:t>7/5/2025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6F7C42-AA86-B746-B3A7-2D9388352D31}" type="slidenum">
              <a:rPr lang="en-US" smtClean="0"/>
              <a:t>‹#›</a:t>
            </a:fld>
            <a:endParaRPr lang="en-US"/>
          </a:p>
        </p:txBody>
      </p:sp>
    </p:spTree>
    <p:extLst>
      <p:ext uri="{BB962C8B-B14F-4D97-AF65-F5344CB8AC3E}">
        <p14:creationId xmlns:p14="http://schemas.microsoft.com/office/powerpoint/2010/main" val="2455893811"/>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442754" y="1945264"/>
            <a:ext cx="7726680" cy="3319690"/>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rgbClr val="FDB515"/>
              </a:solidFill>
            </a:endParaRPr>
          </a:p>
        </p:txBody>
      </p:sp>
      <p:sp>
        <p:nvSpPr>
          <p:cNvPr id="15" name="Rectangle 14"/>
          <p:cNvSpPr/>
          <p:nvPr userDrawn="1"/>
        </p:nvSpPr>
        <p:spPr>
          <a:xfrm>
            <a:off x="-7146" y="1938342"/>
            <a:ext cx="1371600" cy="3319690"/>
          </a:xfrm>
          <a:prstGeom prst="rect">
            <a:avLst/>
          </a:prstGeom>
          <a:solidFill>
            <a:srgbClr val="FDB51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1626590" y="2130425"/>
            <a:ext cx="6831609" cy="2949369"/>
          </a:xfrm>
        </p:spPr>
        <p:txBody>
          <a:bodyPr tIns="91440" bIns="91440" anchor="ctr" anchorCtr="0">
            <a:normAutofit/>
          </a:bodyPr>
          <a:lstStyle>
            <a:lvl1pPr>
              <a:defRPr sz="4400" b="0">
                <a:solidFill>
                  <a:srgbClr val="FDB515"/>
                </a:solidFill>
                <a:latin typeface="Arial"/>
                <a:cs typeface="Arial"/>
              </a:defRPr>
            </a:lvl1pPr>
          </a:lstStyle>
          <a:p>
            <a:r>
              <a:rPr lang="en-US" dirty="0"/>
              <a:t>Master Title Style</a:t>
            </a:r>
          </a:p>
        </p:txBody>
      </p:sp>
      <p:sp>
        <p:nvSpPr>
          <p:cNvPr id="3" name="Subtitle 2"/>
          <p:cNvSpPr>
            <a:spLocks noGrp="1"/>
          </p:cNvSpPr>
          <p:nvPr>
            <p:ph type="subTitle" idx="1"/>
          </p:nvPr>
        </p:nvSpPr>
        <p:spPr>
          <a:xfrm>
            <a:off x="2312389" y="5380391"/>
            <a:ext cx="6145810" cy="601555"/>
          </a:xfrm>
        </p:spPr>
        <p:txBody>
          <a:bodyPr>
            <a:normAutofit/>
          </a:bodyPr>
          <a:lstStyle>
            <a:lvl1pPr marL="0" indent="0" algn="r">
              <a:buNone/>
              <a:defRPr sz="3000">
                <a:solidFill>
                  <a:srgbClr val="545454"/>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2429" y="1009907"/>
            <a:ext cx="3023616" cy="661416"/>
          </a:xfrm>
          <a:prstGeom prst="rect">
            <a:avLst/>
          </a:prstGeom>
        </p:spPr>
      </p:pic>
    </p:spTree>
    <p:extLst>
      <p:ext uri="{BB962C8B-B14F-4D97-AF65-F5344CB8AC3E}">
        <p14:creationId xmlns:p14="http://schemas.microsoft.com/office/powerpoint/2010/main" val="4207083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tandar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a:solidFill>
                  <a:srgbClr val="545454"/>
                </a:solidFill>
              </a:defRPr>
            </a:lvl1pPr>
            <a:lvl2pPr>
              <a:defRPr>
                <a:solidFill>
                  <a:srgbClr val="545454"/>
                </a:solidFill>
              </a:defRPr>
            </a:lvl2pPr>
            <a:lvl3pPr>
              <a:defRPr>
                <a:solidFill>
                  <a:srgbClr val="545454"/>
                </a:solidFill>
              </a:defRPr>
            </a:lvl3pPr>
            <a:lvl4pPr>
              <a:defRPr>
                <a:solidFill>
                  <a:srgbClr val="545454"/>
                </a:solidFill>
              </a:defRPr>
            </a:lvl4pPr>
            <a:lvl5pPr>
              <a:defRPr>
                <a:solidFill>
                  <a:srgbClr val="54545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438998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ivider">
    <p:spTree>
      <p:nvGrpSpPr>
        <p:cNvPr id="1" name=""/>
        <p:cNvGrpSpPr/>
        <p:nvPr/>
      </p:nvGrpSpPr>
      <p:grpSpPr>
        <a:xfrm>
          <a:off x="0" y="0"/>
          <a:ext cx="0" cy="0"/>
          <a:chOff x="0" y="0"/>
          <a:chExt cx="0" cy="0"/>
        </a:xfrm>
      </p:grpSpPr>
      <p:sp>
        <p:nvSpPr>
          <p:cNvPr id="7" name="Rectangle 6"/>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1011274" y="1331313"/>
            <a:ext cx="6631472" cy="1362075"/>
          </a:xfrm>
        </p:spPr>
        <p:txBody>
          <a:bodyPr lIns="0" rIns="457200" anchor="b" anchorCtr="0"/>
          <a:lstStyle>
            <a:lvl1pPr algn="l">
              <a:defRPr sz="4000" b="0" cap="all" spc="100">
                <a:solidFill>
                  <a:srgbClr val="00274C"/>
                </a:solidFill>
              </a:defRPr>
            </a:lvl1pPr>
          </a:lstStyle>
          <a:p>
            <a:r>
              <a:rPr lang="en-US" dirty="0"/>
              <a:t>Click to edit master title style</a:t>
            </a:r>
          </a:p>
        </p:txBody>
      </p:sp>
      <p:sp>
        <p:nvSpPr>
          <p:cNvPr id="3" name="Text Placeholder 2"/>
          <p:cNvSpPr>
            <a:spLocks noGrp="1"/>
          </p:cNvSpPr>
          <p:nvPr>
            <p:ph type="body" idx="1"/>
          </p:nvPr>
        </p:nvSpPr>
        <p:spPr>
          <a:xfrm>
            <a:off x="1011274" y="3308550"/>
            <a:ext cx="6631472" cy="1358157"/>
          </a:xfrm>
        </p:spPr>
        <p:txBody>
          <a:bodyPr lIns="0" rIns="457200" anchor="t" anchorCtr="0">
            <a:normAutofit/>
          </a:bodyPr>
          <a:lstStyle>
            <a:lvl1pPr marL="0" indent="0">
              <a:buNone/>
              <a:defRPr sz="2800" baseline="0">
                <a:solidFill>
                  <a:srgbClr val="54545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a:t>
            </a:r>
          </a:p>
        </p:txBody>
      </p:sp>
      <p:sp>
        <p:nvSpPr>
          <p:cNvPr id="8" name="Rectangle 7"/>
          <p:cNvSpPr/>
          <p:nvPr userDrawn="1"/>
        </p:nvSpPr>
        <p:spPr>
          <a:xfrm>
            <a:off x="-2" y="2838206"/>
            <a:ext cx="932688" cy="328314"/>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p:cNvSpPr/>
          <p:nvPr userDrawn="1"/>
        </p:nvSpPr>
        <p:spPr>
          <a:xfrm>
            <a:off x="977741" y="2838206"/>
            <a:ext cx="6720840" cy="328314"/>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23121" y="6004726"/>
            <a:ext cx="1839249" cy="402336"/>
          </a:xfrm>
          <a:prstGeom prst="rect">
            <a:avLst/>
          </a:prstGeom>
        </p:spPr>
      </p:pic>
    </p:spTree>
    <p:extLst>
      <p:ext uri="{BB962C8B-B14F-4D97-AF65-F5344CB8AC3E}">
        <p14:creationId xmlns:p14="http://schemas.microsoft.com/office/powerpoint/2010/main" val="2284656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Side-by-Side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57200" y="1499941"/>
            <a:ext cx="4038600" cy="4319954"/>
          </a:xfrm>
        </p:spPr>
        <p:txBody>
          <a:bodyPr>
            <a:normAutofit/>
          </a:bodyPr>
          <a:lstStyle>
            <a:lvl1pPr>
              <a:defRPr sz="2400">
                <a:solidFill>
                  <a:srgbClr val="545454"/>
                </a:solidFill>
              </a:defRPr>
            </a:lvl1pPr>
            <a:lvl2pPr>
              <a:defRPr sz="2000">
                <a:solidFill>
                  <a:srgbClr val="545454"/>
                </a:solidFill>
              </a:defRPr>
            </a:lvl2pPr>
            <a:lvl3pPr>
              <a:defRPr sz="1800">
                <a:solidFill>
                  <a:srgbClr val="545454"/>
                </a:solidFill>
              </a:defRPr>
            </a:lvl3pPr>
            <a:lvl4pPr>
              <a:defRPr sz="1600">
                <a:solidFill>
                  <a:srgbClr val="545454"/>
                </a:solidFill>
              </a:defRPr>
            </a:lvl4pPr>
            <a:lvl5pPr>
              <a:defRPr sz="1600">
                <a:solidFill>
                  <a:srgbClr val="545454"/>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499941"/>
            <a:ext cx="4038600" cy="4319954"/>
          </a:xfrm>
        </p:spPr>
        <p:txBody>
          <a:bodyPr>
            <a:normAutofit/>
          </a:bodyPr>
          <a:lstStyle>
            <a:lvl1pPr>
              <a:defRPr sz="2400">
                <a:solidFill>
                  <a:srgbClr val="545454"/>
                </a:solidFill>
              </a:defRPr>
            </a:lvl1pPr>
            <a:lvl2pPr>
              <a:defRPr sz="2000">
                <a:solidFill>
                  <a:srgbClr val="545454"/>
                </a:solidFill>
              </a:defRPr>
            </a:lvl2pPr>
            <a:lvl3pPr>
              <a:defRPr sz="1800">
                <a:solidFill>
                  <a:srgbClr val="545454"/>
                </a:solidFill>
              </a:defRPr>
            </a:lvl3pPr>
            <a:lvl4pPr>
              <a:defRPr sz="1600">
                <a:solidFill>
                  <a:srgbClr val="545454"/>
                </a:solidFill>
              </a:defRPr>
            </a:lvl4pPr>
            <a:lvl5pPr>
              <a:defRPr sz="1600">
                <a:solidFill>
                  <a:srgbClr val="545454"/>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4941107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ctr" anchorCtr="0">
            <a:noAutofit/>
          </a:bodyPr>
          <a:lstStyle>
            <a:lvl1pPr marL="0" indent="0" algn="ctr">
              <a:buNone/>
              <a:defRPr sz="2000" b="1">
                <a:solidFill>
                  <a:srgbClr val="54545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647587"/>
          </a:xfrm>
        </p:spPr>
        <p:txBody>
          <a:bodyPr>
            <a:normAutofit/>
          </a:bodyPr>
          <a:lstStyle>
            <a:lvl1pPr>
              <a:defRPr sz="2000">
                <a:solidFill>
                  <a:srgbClr val="545454"/>
                </a:solidFill>
              </a:defRPr>
            </a:lvl1pPr>
            <a:lvl2pPr>
              <a:defRPr sz="1800">
                <a:solidFill>
                  <a:srgbClr val="545454"/>
                </a:solidFill>
              </a:defRPr>
            </a:lvl2pPr>
            <a:lvl3pPr>
              <a:defRPr sz="1600">
                <a:solidFill>
                  <a:srgbClr val="545454"/>
                </a:solidFill>
              </a:defRPr>
            </a:lvl3pPr>
            <a:lvl4pPr>
              <a:defRPr sz="1400">
                <a:solidFill>
                  <a:srgbClr val="545454"/>
                </a:solidFill>
              </a:defRPr>
            </a:lvl4pPr>
            <a:lvl5pPr>
              <a:defRPr sz="1400">
                <a:solidFill>
                  <a:srgbClr val="545454"/>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ctr" anchorCtr="0">
            <a:noAutofit/>
          </a:bodyPr>
          <a:lstStyle>
            <a:lvl1pPr marL="0" indent="0" algn="ctr">
              <a:buNone/>
              <a:defRPr sz="2000" b="1">
                <a:solidFill>
                  <a:srgbClr val="54545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174875"/>
            <a:ext cx="4041775" cy="3647587"/>
          </a:xfrm>
        </p:spPr>
        <p:txBody>
          <a:bodyPr>
            <a:normAutofit/>
          </a:bodyPr>
          <a:lstStyle>
            <a:lvl1pPr>
              <a:defRPr sz="2000">
                <a:solidFill>
                  <a:srgbClr val="545454"/>
                </a:solidFill>
              </a:defRPr>
            </a:lvl1pPr>
            <a:lvl2pPr>
              <a:defRPr sz="1800">
                <a:solidFill>
                  <a:srgbClr val="545454"/>
                </a:solidFill>
              </a:defRPr>
            </a:lvl2pPr>
            <a:lvl3pPr>
              <a:defRPr sz="1600">
                <a:solidFill>
                  <a:srgbClr val="545454"/>
                </a:solidFill>
              </a:defRPr>
            </a:lvl3pPr>
            <a:lvl4pPr>
              <a:defRPr sz="1400">
                <a:solidFill>
                  <a:srgbClr val="545454"/>
                </a:solidFill>
              </a:defRPr>
            </a:lvl4pPr>
            <a:lvl5pPr>
              <a:defRPr sz="1400">
                <a:solidFill>
                  <a:srgbClr val="545454"/>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10"/>
          </p:nvPr>
        </p:nvSpPr>
        <p:spPr/>
        <p:txBody>
          <a:bodyPr/>
          <a:lstStyle/>
          <a:p>
            <a:endParaRPr lang="en-US" dirty="0"/>
          </a:p>
        </p:txBody>
      </p:sp>
      <p:sp>
        <p:nvSpPr>
          <p:cNvPr id="11" name="Footer Placeholder 10"/>
          <p:cNvSpPr>
            <a:spLocks noGrp="1"/>
          </p:cNvSpPr>
          <p:nvPr>
            <p:ph type="ftr" sz="quarter" idx="11"/>
          </p:nvPr>
        </p:nvSpPr>
        <p:spPr/>
        <p:txBody>
          <a:bodyPr/>
          <a:lstStyle/>
          <a:p>
            <a:pPr algn="l"/>
            <a:endParaRPr lang="en-US" dirty="0"/>
          </a:p>
        </p:txBody>
      </p:sp>
      <p:sp>
        <p:nvSpPr>
          <p:cNvPr id="12" name="Slide Number Placeholder 11"/>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400463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endParaRPr lang="en-US" dirty="0"/>
          </a:p>
        </p:txBody>
      </p:sp>
      <p:sp>
        <p:nvSpPr>
          <p:cNvPr id="7" name="Footer Placeholder 6"/>
          <p:cNvSpPr>
            <a:spLocks noGrp="1"/>
          </p:cNvSpPr>
          <p:nvPr>
            <p:ph type="ftr" sz="quarter" idx="11"/>
          </p:nvPr>
        </p:nvSpPr>
        <p:spPr/>
        <p:txBody>
          <a:bodyPr/>
          <a:lstStyle/>
          <a:p>
            <a:pPr algn="l"/>
            <a:endParaRPr lang="en-US" dirty="0"/>
          </a:p>
        </p:txBody>
      </p:sp>
      <p:sp>
        <p:nvSpPr>
          <p:cNvPr id="8" name="Slide Number Placeholder 7"/>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7270546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715346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88935" y="4666920"/>
            <a:ext cx="7190154" cy="566738"/>
          </a:xfrm>
        </p:spPr>
        <p:txBody>
          <a:bodyPr anchor="b">
            <a:noAutofit/>
          </a:bodyPr>
          <a:lstStyle>
            <a:lvl1pPr algn="ctr">
              <a:defRPr sz="3000" b="0"/>
            </a:lvl1pPr>
          </a:lstStyle>
          <a:p>
            <a:r>
              <a:rPr lang="en-US" dirty="0"/>
              <a:t>Click to edit Master title style</a:t>
            </a:r>
          </a:p>
        </p:txBody>
      </p:sp>
      <p:sp>
        <p:nvSpPr>
          <p:cNvPr id="3" name="Picture Placeholder 2"/>
          <p:cNvSpPr>
            <a:spLocks noGrp="1" noChangeAspect="1"/>
          </p:cNvSpPr>
          <p:nvPr>
            <p:ph type="pic" idx="1"/>
          </p:nvPr>
        </p:nvSpPr>
        <p:spPr>
          <a:xfrm>
            <a:off x="988935" y="547480"/>
            <a:ext cx="7190154" cy="404446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988935" y="5233658"/>
            <a:ext cx="7190154" cy="464893"/>
          </a:xfrm>
        </p:spPr>
        <p:txBody>
          <a:bodyPr>
            <a:noAutofit/>
          </a:bodyPr>
          <a:lstStyle>
            <a:lvl1pPr marL="0" indent="0" algn="ctr">
              <a:buNone/>
              <a:defRPr sz="2600">
                <a:solidFill>
                  <a:srgbClr val="545454"/>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8" name="Date Placeholder 7"/>
          <p:cNvSpPr>
            <a:spLocks noGrp="1"/>
          </p:cNvSpPr>
          <p:nvPr>
            <p:ph type="dt" sz="half" idx="10"/>
          </p:nvPr>
        </p:nvSpPr>
        <p:spPr/>
        <p:txBody>
          <a:bodyPr/>
          <a:lstStyle/>
          <a:p>
            <a:endParaRPr lang="en-US" dirty="0"/>
          </a:p>
        </p:txBody>
      </p:sp>
      <p:sp>
        <p:nvSpPr>
          <p:cNvPr id="9" name="Footer Placeholder 8"/>
          <p:cNvSpPr>
            <a:spLocks noGrp="1"/>
          </p:cNvSpPr>
          <p:nvPr>
            <p:ph type="ftr" sz="quarter" idx="11"/>
          </p:nvPr>
        </p:nvSpPr>
        <p:spPr/>
        <p:txBody>
          <a:bodyPr/>
          <a:lstStyle/>
          <a:p>
            <a:pPr algn="l"/>
            <a:endParaRPr lang="en-US" dirty="0"/>
          </a:p>
        </p:txBody>
      </p:sp>
      <p:sp>
        <p:nvSpPr>
          <p:cNvPr id="10" name="Slide Number Placeholder 9"/>
          <p:cNvSpPr>
            <a:spLocks noGrp="1"/>
          </p:cNvSpPr>
          <p:nvPr>
            <p:ph type="sldNum" sz="quarter" idx="12"/>
          </p:nvPr>
        </p:nvSpPr>
        <p:spPr/>
        <p:txBody>
          <a:bodyPr/>
          <a:lstStyle/>
          <a:p>
            <a:fld id="{EE9F94DA-C57B-8647-A4B1-94866CBB0A52}" type="slidenum">
              <a:rPr lang="en-US" smtClean="0"/>
              <a:pPr/>
              <a:t>‹#›</a:t>
            </a:fld>
            <a:endParaRPr lang="en-US" dirty="0"/>
          </a:p>
        </p:txBody>
      </p:sp>
    </p:spTree>
    <p:extLst>
      <p:ext uri="{BB962C8B-B14F-4D97-AF65-F5344CB8AC3E}">
        <p14:creationId xmlns:p14="http://schemas.microsoft.com/office/powerpoint/2010/main" val="129805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13" name="Rectangle 12"/>
          <p:cNvSpPr/>
          <p:nvPr userDrawn="1"/>
        </p:nvSpPr>
        <p:spPr>
          <a:xfrm>
            <a:off x="0" y="0"/>
            <a:ext cx="9162288" cy="6867144"/>
          </a:xfrm>
          <a:prstGeom prst="rect">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itle 1"/>
          <p:cNvSpPr>
            <a:spLocks noGrp="1"/>
          </p:cNvSpPr>
          <p:nvPr>
            <p:ph type="title" hasCustomPrompt="1"/>
          </p:nvPr>
        </p:nvSpPr>
        <p:spPr>
          <a:xfrm>
            <a:off x="1011276" y="2068035"/>
            <a:ext cx="6631472" cy="1362075"/>
          </a:xfrm>
        </p:spPr>
        <p:txBody>
          <a:bodyPr lIns="0" rIns="457200" anchor="b" anchorCtr="0"/>
          <a:lstStyle>
            <a:lvl1pPr algn="l">
              <a:defRPr sz="4000" b="0" cap="all" spc="100" baseline="0">
                <a:solidFill>
                  <a:srgbClr val="00274C"/>
                </a:solidFill>
              </a:defRPr>
            </a:lvl1pPr>
          </a:lstStyle>
          <a:p>
            <a:r>
              <a:rPr lang="en-US" dirty="0"/>
              <a:t>Click to edit Thank you Title</a:t>
            </a:r>
          </a:p>
        </p:txBody>
      </p:sp>
      <p:sp>
        <p:nvSpPr>
          <p:cNvPr id="20" name="Text Placeholder 2"/>
          <p:cNvSpPr>
            <a:spLocks noGrp="1"/>
          </p:cNvSpPr>
          <p:nvPr>
            <p:ph type="body" idx="1"/>
          </p:nvPr>
        </p:nvSpPr>
        <p:spPr>
          <a:xfrm>
            <a:off x="1011276" y="4043784"/>
            <a:ext cx="6631472" cy="1358157"/>
          </a:xfrm>
        </p:spPr>
        <p:txBody>
          <a:bodyPr lIns="0" rIns="457200" anchor="t" anchorCtr="0">
            <a:normAutofit/>
          </a:bodyPr>
          <a:lstStyle>
            <a:lvl1pPr marL="0" indent="0">
              <a:buNone/>
              <a:defRPr sz="2800" baseline="0">
                <a:solidFill>
                  <a:srgbClr val="545454"/>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a:t>
            </a:r>
          </a:p>
        </p:txBody>
      </p:sp>
      <p:sp>
        <p:nvSpPr>
          <p:cNvPr id="10" name="Rectangle 9"/>
          <p:cNvSpPr/>
          <p:nvPr userDrawn="1"/>
        </p:nvSpPr>
        <p:spPr>
          <a:xfrm>
            <a:off x="0" y="3572790"/>
            <a:ext cx="932688" cy="328314"/>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userDrawn="1"/>
        </p:nvSpPr>
        <p:spPr>
          <a:xfrm>
            <a:off x="977743" y="3572790"/>
            <a:ext cx="6720840" cy="328314"/>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23121" y="6004726"/>
            <a:ext cx="1839249" cy="402336"/>
          </a:xfrm>
          <a:prstGeom prst="rect">
            <a:avLst/>
          </a:prstGeom>
        </p:spPr>
      </p:pic>
    </p:spTree>
    <p:extLst>
      <p:ext uri="{BB962C8B-B14F-4D97-AF65-F5344CB8AC3E}">
        <p14:creationId xmlns:p14="http://schemas.microsoft.com/office/powerpoint/2010/main" val="359769161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7789" y="5948707"/>
            <a:ext cx="969263" cy="768652"/>
          </a:xfrm>
          <a:prstGeom prst="rect">
            <a:avLst/>
          </a:prstGeom>
          <a:solidFill>
            <a:srgbClr val="FDB515"/>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p:cNvSpPr/>
          <p:nvPr userDrawn="1"/>
        </p:nvSpPr>
        <p:spPr>
          <a:xfrm>
            <a:off x="1005840" y="5948707"/>
            <a:ext cx="8138160" cy="768652"/>
          </a:xfrm>
          <a:prstGeom prst="rect">
            <a:avLst/>
          </a:prstGeom>
          <a:solidFill>
            <a:srgbClr val="00274C"/>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90293"/>
            <a:ext cx="8229600" cy="1060798"/>
          </a:xfrm>
          <a:prstGeom prst="rect">
            <a:avLst/>
          </a:prstGeom>
        </p:spPr>
        <p:txBody>
          <a:bodyPr vert="horz" lIns="91440" tIns="45720" rIns="91440" bIns="45720" rtlCol="0" anchor="ctr">
            <a:normAutofit/>
          </a:bodyPr>
          <a:lstStyle/>
          <a:p>
            <a:r>
              <a:rPr lang="en-US" dirty="0"/>
              <a:t>Header Style is Arial 38pt</a:t>
            </a:r>
          </a:p>
        </p:txBody>
      </p:sp>
      <p:sp>
        <p:nvSpPr>
          <p:cNvPr id="3" name="Text Placeholder 2"/>
          <p:cNvSpPr>
            <a:spLocks noGrp="1"/>
          </p:cNvSpPr>
          <p:nvPr>
            <p:ph type="body" idx="1"/>
          </p:nvPr>
        </p:nvSpPr>
        <p:spPr>
          <a:xfrm>
            <a:off x="457200" y="1503888"/>
            <a:ext cx="8229600" cy="435765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192508" y="6137824"/>
            <a:ext cx="3275046" cy="365125"/>
          </a:xfrm>
          <a:prstGeom prst="rect">
            <a:avLst/>
          </a:prstGeom>
        </p:spPr>
        <p:txBody>
          <a:bodyPr vert="horz" lIns="91440" tIns="45720" rIns="91440" bIns="45720" rtlCol="0" anchor="ctr"/>
          <a:lstStyle>
            <a:lvl1pPr algn="r">
              <a:defRPr sz="1200">
                <a:solidFill>
                  <a:schemeClr val="bg1"/>
                </a:solidFill>
              </a:defRPr>
            </a:lvl1pPr>
          </a:lstStyle>
          <a:p>
            <a:pPr algn="l"/>
            <a:endParaRPr lang="en-US" dirty="0"/>
          </a:p>
        </p:txBody>
      </p:sp>
      <p:sp>
        <p:nvSpPr>
          <p:cNvPr id="13" name="Date Placeholder 12"/>
          <p:cNvSpPr>
            <a:spLocks noGrp="1"/>
          </p:cNvSpPr>
          <p:nvPr>
            <p:ph type="dt" sz="half" idx="2"/>
          </p:nvPr>
        </p:nvSpPr>
        <p:spPr>
          <a:xfrm>
            <a:off x="4467554" y="6137824"/>
            <a:ext cx="1270078" cy="365125"/>
          </a:xfrm>
          <a:prstGeom prst="rect">
            <a:avLst/>
          </a:prstGeom>
        </p:spPr>
        <p:txBody>
          <a:bodyPr vert="horz" lIns="91440" tIns="45720" rIns="91440" bIns="45720" rtlCol="0" anchor="ctr"/>
          <a:lstStyle>
            <a:lvl1pPr algn="l">
              <a:defRPr sz="1200">
                <a:solidFill>
                  <a:schemeClr val="bg1"/>
                </a:solidFill>
              </a:defRPr>
            </a:lvl1pPr>
          </a:lstStyle>
          <a:p>
            <a:endParaRPr lang="en-US" dirty="0"/>
          </a:p>
        </p:txBody>
      </p:sp>
      <p:sp>
        <p:nvSpPr>
          <p:cNvPr id="14" name="Slide Number Placeholder 13"/>
          <p:cNvSpPr>
            <a:spLocks noGrp="1"/>
          </p:cNvSpPr>
          <p:nvPr>
            <p:ph type="sldNum" sz="quarter" idx="4"/>
          </p:nvPr>
        </p:nvSpPr>
        <p:spPr>
          <a:xfrm>
            <a:off x="135792" y="6138686"/>
            <a:ext cx="642815" cy="365125"/>
          </a:xfrm>
          <a:prstGeom prst="rect">
            <a:avLst/>
          </a:prstGeom>
        </p:spPr>
        <p:txBody>
          <a:bodyPr vert="horz" lIns="91440" tIns="45720" rIns="91440" bIns="45720" rtlCol="0" anchor="ctr"/>
          <a:lstStyle>
            <a:lvl1pPr algn="ctr">
              <a:defRPr sz="1200">
                <a:solidFill>
                  <a:srgbClr val="00274C"/>
                </a:solidFill>
              </a:defRPr>
            </a:lvl1pPr>
          </a:lstStyle>
          <a:p>
            <a:fld id="{EE9F94DA-C57B-8647-A4B1-94866CBB0A52}" type="slidenum">
              <a:rPr lang="en-US" smtClean="0"/>
              <a:pPr/>
              <a:t>‹#›</a:t>
            </a:fld>
            <a:endParaRPr lang="en-US" dirty="0"/>
          </a:p>
        </p:txBody>
      </p:sp>
      <p:pic>
        <p:nvPicPr>
          <p:cNvPr id="4" name="Picture 3"/>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6846849" y="6137824"/>
            <a:ext cx="1839951" cy="402489"/>
          </a:xfrm>
          <a:prstGeom prst="rect">
            <a:avLst/>
          </a:prstGeom>
        </p:spPr>
      </p:pic>
    </p:spTree>
    <p:extLst>
      <p:ext uri="{BB962C8B-B14F-4D97-AF65-F5344CB8AC3E}">
        <p14:creationId xmlns:p14="http://schemas.microsoft.com/office/powerpoint/2010/main" val="804220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7" r:id="rId8"/>
    <p:sldLayoutId id="2147483658" r:id="rId9"/>
  </p:sldLayoutIdLst>
  <p:hf sldNum="0" hdr="0" ftr="0" dt="0"/>
  <p:txStyles>
    <p:titleStyle>
      <a:lvl1pPr algn="l" defTabSz="457200" rtl="0" eaLnBrk="1" latinLnBrk="0" hangingPunct="1">
        <a:spcBef>
          <a:spcPct val="0"/>
        </a:spcBef>
        <a:buNone/>
        <a:defRPr sz="3800" b="0" kern="1200">
          <a:solidFill>
            <a:srgbClr val="00274C"/>
          </a:solidFill>
          <a:latin typeface="+mj-lt"/>
          <a:ea typeface="+mj-ea"/>
          <a:cs typeface="+mj-cs"/>
        </a:defRPr>
      </a:lvl1pPr>
    </p:titleStyle>
    <p:bodyStyle>
      <a:lvl1pPr marL="342900" indent="-342900" algn="l" defTabSz="457200" rtl="0" eaLnBrk="1" latinLnBrk="0" hangingPunct="1">
        <a:spcBef>
          <a:spcPct val="20000"/>
        </a:spcBef>
        <a:buFont typeface="Arial"/>
        <a:buChar char="•"/>
        <a:defRPr sz="2800" kern="1200">
          <a:solidFill>
            <a:srgbClr val="545454"/>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rgbClr val="545454"/>
          </a:solidFill>
          <a:latin typeface="+mn-lt"/>
          <a:ea typeface="+mn-ea"/>
          <a:cs typeface="+mn-cs"/>
        </a:defRPr>
      </a:lvl2pPr>
      <a:lvl3pPr marL="1143000" indent="-228600" algn="l" defTabSz="457200" rtl="0" eaLnBrk="1" latinLnBrk="0" hangingPunct="1">
        <a:spcBef>
          <a:spcPct val="20000"/>
        </a:spcBef>
        <a:buFont typeface="Arial"/>
        <a:buChar char="•"/>
        <a:defRPr sz="2000" kern="1200">
          <a:solidFill>
            <a:srgbClr val="545454"/>
          </a:solidFill>
          <a:latin typeface="+mn-lt"/>
          <a:ea typeface="+mn-ea"/>
          <a:cs typeface="+mn-cs"/>
        </a:defRPr>
      </a:lvl3pPr>
      <a:lvl4pPr marL="1600200" indent="-228600" algn="l" defTabSz="457200" rtl="0" eaLnBrk="1" latinLnBrk="0" hangingPunct="1">
        <a:spcBef>
          <a:spcPct val="20000"/>
        </a:spcBef>
        <a:buFont typeface="Arial"/>
        <a:buChar char="–"/>
        <a:defRPr sz="1800" kern="1200">
          <a:solidFill>
            <a:srgbClr val="545454"/>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rgbClr val="545454"/>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emf"/><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701" y="2130425"/>
            <a:ext cx="7517411" cy="2949369"/>
          </a:xfrm>
        </p:spPr>
        <p:txBody>
          <a:bodyPr>
            <a:normAutofit/>
          </a:bodyPr>
          <a:lstStyle/>
          <a:p>
            <a:pPr>
              <a:lnSpc>
                <a:spcPct val="114000"/>
              </a:lnSpc>
            </a:pPr>
            <a:r>
              <a:rPr lang="en-US" sz="4000" b="0" dirty="0"/>
              <a:t>Inventory; </a:t>
            </a:r>
            <a:br>
              <a:rPr lang="en-US" sz="4000" b="0" dirty="0"/>
            </a:br>
            <a:r>
              <a:rPr lang="en-US" sz="4000" b="0" dirty="0"/>
              <a:t>Cost of Goods Sold (COGS); Working Capital </a:t>
            </a:r>
          </a:p>
        </p:txBody>
      </p:sp>
    </p:spTree>
    <p:extLst>
      <p:ext uri="{BB962C8B-B14F-4D97-AF65-F5344CB8AC3E}">
        <p14:creationId xmlns:p14="http://schemas.microsoft.com/office/powerpoint/2010/main" val="6957961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 overview  </a:t>
            </a:r>
            <a:endParaRPr lang="en-US" dirty="0">
              <a:solidFill>
                <a:srgbClr val="15284B"/>
              </a:solidFill>
            </a:endParaRPr>
          </a:p>
        </p:txBody>
      </p:sp>
      <p:sp>
        <p:nvSpPr>
          <p:cNvPr id="3" name="Content Placeholder 2"/>
          <p:cNvSpPr>
            <a:spLocks noGrp="1"/>
          </p:cNvSpPr>
          <p:nvPr>
            <p:ph idx="1"/>
          </p:nvPr>
        </p:nvSpPr>
        <p:spPr>
          <a:xfrm>
            <a:off x="457200" y="1503888"/>
            <a:ext cx="8229600" cy="4357652"/>
          </a:xfrm>
        </p:spPr>
        <p:txBody>
          <a:bodyPr>
            <a:noAutofit/>
          </a:bodyPr>
          <a:lstStyle/>
          <a:p>
            <a:pPr marL="0" indent="0">
              <a:lnSpc>
                <a:spcPct val="114000"/>
              </a:lnSpc>
              <a:buNone/>
            </a:pPr>
            <a:r>
              <a:rPr lang="en-US" sz="2300" b="1" dirty="0">
                <a:solidFill>
                  <a:srgbClr val="FDB515"/>
                </a:solidFill>
              </a:rPr>
              <a:t>Acquisition</a:t>
            </a:r>
            <a:r>
              <a:rPr lang="en-US" sz="2300" dirty="0">
                <a:solidFill>
                  <a:srgbClr val="00274C"/>
                </a:solidFill>
              </a:rPr>
              <a:t> – inventory is an </a:t>
            </a:r>
            <a:r>
              <a:rPr lang="en-US" sz="2300" b="1" dirty="0">
                <a:solidFill>
                  <a:srgbClr val="FDB515"/>
                </a:solidFill>
              </a:rPr>
              <a:t>asset: </a:t>
            </a:r>
            <a:endParaRPr lang="en-US" sz="2300" dirty="0">
              <a:solidFill>
                <a:srgbClr val="00274C"/>
              </a:solidFill>
            </a:endParaRPr>
          </a:p>
          <a:p>
            <a:pPr>
              <a:lnSpc>
                <a:spcPct val="114000"/>
              </a:lnSpc>
            </a:pPr>
            <a:r>
              <a:rPr lang="en-US" sz="2300" dirty="0">
                <a:solidFill>
                  <a:srgbClr val="00274C"/>
                </a:solidFill>
              </a:rPr>
              <a:t>When inventory is purchased or produced it is </a:t>
            </a:r>
            <a:r>
              <a:rPr lang="en-US" sz="2300" b="1" dirty="0">
                <a:solidFill>
                  <a:srgbClr val="FDB515"/>
                </a:solidFill>
              </a:rPr>
              <a:t>capitalized</a:t>
            </a:r>
            <a:r>
              <a:rPr lang="en-US" sz="2300" dirty="0">
                <a:solidFill>
                  <a:srgbClr val="00274C"/>
                </a:solidFill>
              </a:rPr>
              <a:t> – recorded as an asset (no income effect initially).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Sale </a:t>
            </a:r>
            <a:r>
              <a:rPr lang="en-US" sz="2300" dirty="0">
                <a:solidFill>
                  <a:srgbClr val="00274C"/>
                </a:solidFill>
              </a:rPr>
              <a:t>- the cost for inventory is recorded as </a:t>
            </a:r>
            <a:r>
              <a:rPr lang="en-US" sz="2300" b="1" dirty="0">
                <a:solidFill>
                  <a:srgbClr val="FDB515"/>
                </a:solidFill>
              </a:rPr>
              <a:t>Cost of goods sold (COGS) </a:t>
            </a:r>
            <a:r>
              <a:rPr lang="en-US" sz="2300" dirty="0">
                <a:solidFill>
                  <a:srgbClr val="00274C"/>
                </a:solidFill>
              </a:rPr>
              <a:t>when the inventory is sold – matching principle. </a:t>
            </a:r>
          </a:p>
          <a:p>
            <a:pPr>
              <a:lnSpc>
                <a:spcPct val="114000"/>
              </a:lnSpc>
            </a:pPr>
            <a:r>
              <a:rPr lang="en-US" sz="2300" dirty="0">
                <a:solidFill>
                  <a:srgbClr val="00274C"/>
                </a:solidFill>
              </a:rPr>
              <a:t>The costing method used can materially affect both gross profit and the size of the balance sheet.</a:t>
            </a:r>
            <a:r>
              <a:rPr lang="en-US" sz="2300" b="1" dirty="0">
                <a:solidFill>
                  <a:srgbClr val="FDB515"/>
                </a:solidFill>
              </a:rPr>
              <a:t/>
            </a:r>
            <a:r>
              <a:rPr lang="en-US" sz="2300" dirty="0">
                <a:solidFill>
                  <a:srgbClr val="00274C"/>
                </a:solidFill>
              </a:rPr>
              <a:t/>
            </a:r>
          </a:p>
        </p:txBody>
      </p:sp>
    </p:spTree>
    <p:extLst>
      <p:ext uri="{BB962C8B-B14F-4D97-AF65-F5344CB8AC3E}">
        <p14:creationId xmlns:p14="http://schemas.microsoft.com/office/powerpoint/2010/main" val="2893650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 by type </a:t>
            </a:r>
            <a:endParaRPr lang="en-US" dirty="0">
              <a:solidFill>
                <a:srgbClr val="15284B"/>
              </a:solidFill>
            </a:endParaRPr>
          </a:p>
        </p:txBody>
      </p:sp>
      <p:pic>
        <p:nvPicPr>
          <p:cNvPr id="42" name="Picture 41" descr="Flow diagram of how inventory costs move to cost of goods sold. For a merchandiser, merchandise purchased becomes merchandise inventory on the balance sheet and then cost of goods sold on the income statement when it is sold. For a manufacturer, raw materials purchased, direct labor, and factory overhead flow into raw materials inventory, then work-in-process inventory, then finished goods inventory, and finally cost of goods sold.">
            <a:extLst>
              <a:ext uri="{FF2B5EF4-FFF2-40B4-BE49-F238E27FC236}">
                <a16:creationId xmlns:a16="http://schemas.microsoft.com/office/drawing/2014/main" id="{4C5A06C4-867B-60DC-3CBF-B133DDE4DBBE}"/>
              </a:ext>
            </a:extLst>
          </p:cNvPr>
          <p:cNvPicPr>
            <a:picLocks noChangeAspect="1"/>
          </p:cNvPicPr>
          <p:nvPr/>
        </p:nvPicPr>
        <p:blipFill>
          <a:blip r:embed="rId2"/>
          <a:stretch>
            <a:fillRect/>
          </a:stretch>
        </p:blipFill>
        <p:spPr>
          <a:xfrm>
            <a:off x="931344" y="1451091"/>
            <a:ext cx="6912176" cy="4322199"/>
          </a:xfrm>
          <a:prstGeom prst="rect">
            <a:avLst/>
          </a:prstGeom>
        </p:spPr>
      </p:pic>
    </p:spTree>
    <p:extLst>
      <p:ext uri="{BB962C8B-B14F-4D97-AF65-F5344CB8AC3E}">
        <p14:creationId xmlns:p14="http://schemas.microsoft.com/office/powerpoint/2010/main" val="1555960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 cost flow and equation </a:t>
            </a:r>
            <a:endParaRPr lang="en-US" dirty="0">
              <a:solidFill>
                <a:srgbClr val="15284B"/>
              </a:solidFill>
            </a:endParaRPr>
          </a:p>
        </p:txBody>
      </p:sp>
      <p:pic>
        <p:nvPicPr>
          <p:cNvPr id="4" name="Picture 3" descr="Diagram of the inventory equation. Beginning inventory of $40,000 plus purchases of $55,000 equals goods available for sale of $95,000, which splits into ending inventory of $35,000 (reported on the balance sheet) and cost of goods sold of $60,000 (reported on the income statement).">
            <a:extLst>
              <a:ext uri="{FF2B5EF4-FFF2-40B4-BE49-F238E27FC236}">
                <a16:creationId xmlns:a16="http://schemas.microsoft.com/office/drawing/2014/main" id="{A5595FA9-4C2C-B3DF-554B-52350DC08D3D}"/>
              </a:ext>
            </a:extLst>
          </p:cNvPr>
          <p:cNvPicPr>
            <a:picLocks noChangeAspect="1"/>
          </p:cNvPicPr>
          <p:nvPr/>
        </p:nvPicPr>
        <p:blipFill>
          <a:blip r:embed="rId2"/>
          <a:stretch>
            <a:fillRect/>
          </a:stretch>
        </p:blipFill>
        <p:spPr>
          <a:xfrm>
            <a:off x="3840830" y="1496203"/>
            <a:ext cx="4561780" cy="4259802"/>
          </a:xfrm>
          <a:prstGeom prst="rect">
            <a:avLst/>
          </a:prstGeom>
        </p:spPr>
      </p:pic>
      <p:sp>
        <p:nvSpPr>
          <p:cNvPr id="7" name="Rounded Rectangle 1">
            <a:extLst>
              <a:ext uri="{FF2B5EF4-FFF2-40B4-BE49-F238E27FC236}">
                <a16:creationId xmlns:a16="http://schemas.microsoft.com/office/drawing/2014/main" id="{8085BC28-35A1-D503-1575-7AD86884AAB6}"/>
              </a:ext>
            </a:extLst>
          </p:cNvPr>
          <p:cNvSpPr/>
          <p:nvPr/>
        </p:nvSpPr>
        <p:spPr>
          <a:xfrm>
            <a:off x="741390" y="2038096"/>
            <a:ext cx="2564674" cy="2743200"/>
          </a:xfrm>
          <a:prstGeom prst="roundRect">
            <a:avLst/>
          </a:prstGeom>
          <a:noFill/>
          <a:ln w="31750">
            <a:solidFill>
              <a:srgbClr val="0027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2">
            <a:extLst>
              <a:ext uri="{FF2B5EF4-FFF2-40B4-BE49-F238E27FC236}">
                <a16:creationId xmlns:a16="http://schemas.microsoft.com/office/drawing/2014/main" id="{3812EA27-6106-5154-7008-7B98FFA41E8C}"/>
              </a:ext>
            </a:extLst>
          </p:cNvPr>
          <p:cNvSpPr/>
          <p:nvPr/>
        </p:nvSpPr>
        <p:spPr>
          <a:xfrm>
            <a:off x="3306064" y="3092704"/>
            <a:ext cx="397104" cy="533400"/>
          </a:xfrm>
          <a:prstGeom prst="rightArrow">
            <a:avLst/>
          </a:prstGeom>
          <a:solidFill>
            <a:srgbClr val="0027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3F528AF-7288-50A2-7CE3-6F5F9275F631}"/>
              </a:ext>
            </a:extLst>
          </p:cNvPr>
          <p:cNvSpPr txBox="1"/>
          <p:nvPr/>
        </p:nvSpPr>
        <p:spPr>
          <a:xfrm>
            <a:off x="685402" y="2319725"/>
            <a:ext cx="2676651" cy="2283574"/>
          </a:xfrm>
          <a:prstGeom prst="rect">
            <a:avLst/>
          </a:prstGeom>
          <a:noFill/>
        </p:spPr>
        <p:txBody>
          <a:bodyPr wrap="square" rtlCol="0">
            <a:spAutoFit/>
          </a:bodyPr>
          <a:lstStyle/>
          <a:p>
            <a:pPr algn="ctr">
              <a:lnSpc>
                <a:spcPct val="113000"/>
              </a:lnSpc>
              <a:defRPr/>
            </a:pPr>
            <a:r>
              <a:rPr lang="en-US" b="1" dirty="0">
                <a:solidFill>
                  <a:srgbClr val="FDB515"/>
                </a:solidFill>
                <a:latin typeface="Arial" panose="020B0604020202020204" pitchFamily="34" charset="0"/>
                <a:cs typeface="Arial" panose="020B0604020202020204" pitchFamily="34" charset="0"/>
              </a:rPr>
              <a:t>Beginning Inventory</a:t>
            </a:r>
          </a:p>
          <a:p>
            <a:pPr algn="ctr">
              <a:lnSpc>
                <a:spcPct val="113000"/>
              </a:lnSpc>
              <a:defRPr/>
            </a:pPr>
            <a:r>
              <a:rPr lang="en-US" b="1" dirty="0">
                <a:solidFill>
                  <a:srgbClr val="800000"/>
                </a:solidFill>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plus</a:t>
            </a:r>
          </a:p>
          <a:p>
            <a:pPr algn="ctr">
              <a:lnSpc>
                <a:spcPct val="113000"/>
              </a:lnSpc>
              <a:defRPr/>
            </a:pPr>
            <a:r>
              <a:rPr lang="en-US" b="1" dirty="0">
                <a:solidFill>
                  <a:srgbClr val="FDB515"/>
                </a:solidFill>
                <a:latin typeface="Arial" panose="020B0604020202020204" pitchFamily="34" charset="0"/>
                <a:cs typeface="Arial" panose="020B0604020202020204" pitchFamily="34" charset="0"/>
              </a:rPr>
              <a:t>Purchases </a:t>
            </a:r>
          </a:p>
          <a:p>
            <a:pPr algn="ctr">
              <a:lnSpc>
                <a:spcPct val="113000"/>
              </a:lnSpc>
              <a:defRPr/>
            </a:pPr>
            <a:r>
              <a:rPr lang="en-US" dirty="0">
                <a:latin typeface="Arial" panose="020B0604020202020204" pitchFamily="34" charset="0"/>
                <a:cs typeface="Arial" panose="020B0604020202020204" pitchFamily="34" charset="0"/>
              </a:rPr>
              <a:t>minus</a:t>
            </a:r>
          </a:p>
          <a:p>
            <a:pPr algn="ctr">
              <a:lnSpc>
                <a:spcPct val="113000"/>
              </a:lnSpc>
              <a:defRPr/>
            </a:pPr>
            <a:r>
              <a:rPr lang="en-US" b="1" dirty="0">
                <a:solidFill>
                  <a:srgbClr val="FDB515"/>
                </a:solidFill>
                <a:latin typeface="Arial" panose="020B0604020202020204" pitchFamily="34" charset="0"/>
                <a:cs typeface="Arial" panose="020B0604020202020204" pitchFamily="34" charset="0"/>
              </a:rPr>
              <a:t>Ending Inventory </a:t>
            </a:r>
          </a:p>
          <a:p>
            <a:pPr algn="ctr">
              <a:lnSpc>
                <a:spcPct val="113000"/>
              </a:lnSpc>
              <a:defRPr/>
            </a:pPr>
            <a:r>
              <a:rPr lang="en-US" dirty="0">
                <a:latin typeface="Arial" panose="020B0604020202020204" pitchFamily="34" charset="0"/>
                <a:cs typeface="Arial" panose="020B0604020202020204" pitchFamily="34" charset="0"/>
              </a:rPr>
              <a:t>equals to</a:t>
            </a:r>
          </a:p>
          <a:p>
            <a:pPr algn="ctr">
              <a:lnSpc>
                <a:spcPct val="113000"/>
              </a:lnSpc>
              <a:defRPr/>
            </a:pPr>
            <a:r>
              <a:rPr lang="en-US" b="1" dirty="0">
                <a:solidFill>
                  <a:srgbClr val="FDB515"/>
                </a:solidFill>
                <a:latin typeface="Arial" panose="020B0604020202020204" pitchFamily="34" charset="0"/>
                <a:cs typeface="Arial" panose="020B0604020202020204" pitchFamily="34" charset="0"/>
              </a:rPr>
              <a:t>COGS</a:t>
            </a:r>
          </a:p>
        </p:txBody>
      </p:sp>
    </p:spTree>
    <p:extLst>
      <p:ext uri="{BB962C8B-B14F-4D97-AF65-F5344CB8AC3E}">
        <p14:creationId xmlns:p14="http://schemas.microsoft.com/office/powerpoint/2010/main" val="211888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 costing methods </a:t>
            </a:r>
            <a:endParaRPr lang="en-US" dirty="0">
              <a:solidFill>
                <a:srgbClr val="15284B"/>
              </a:solidFill>
            </a:endParaRPr>
          </a:p>
        </p:txBody>
      </p:sp>
      <p:sp>
        <p:nvSpPr>
          <p:cNvPr id="3" name="Content Placeholder 2"/>
          <p:cNvSpPr>
            <a:spLocks noGrp="1"/>
          </p:cNvSpPr>
          <p:nvPr>
            <p:ph idx="1"/>
          </p:nvPr>
        </p:nvSpPr>
        <p:spPr>
          <a:xfrm>
            <a:off x="510032" y="1528272"/>
            <a:ext cx="8229600" cy="4357652"/>
          </a:xfrm>
        </p:spPr>
        <p:txBody>
          <a:bodyPr>
            <a:noAutofit/>
          </a:bodyPr>
          <a:lstStyle/>
          <a:p>
            <a:pPr marL="0" indent="0">
              <a:lnSpc>
                <a:spcPct val="114000"/>
              </a:lnSpc>
              <a:buNone/>
            </a:pPr>
            <a:r>
              <a:rPr lang="en-US" sz="2300" b="1" dirty="0">
                <a:solidFill>
                  <a:srgbClr val="FDB515"/>
                </a:solidFill>
              </a:rPr>
              <a:t>Specific identification </a:t>
            </a:r>
            <a:r>
              <a:rPr lang="en-US" sz="2300" dirty="0">
                <a:solidFill>
                  <a:srgbClr val="00274C"/>
                </a:solidFill>
              </a:rPr>
              <a:t>– tracking each high value item individually (for large, high value, unique items)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First-In, First-Out (FIFO) </a:t>
            </a:r>
            <a:r>
              <a:rPr lang="en-US" sz="2300" dirty="0">
                <a:solidFill>
                  <a:srgbClr val="00274C"/>
                </a:solidFill>
              </a:rPr>
              <a:t>– first units in are first expensed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Last-In, First-Out (LIFO) </a:t>
            </a:r>
            <a:r>
              <a:rPr lang="en-US" sz="2300" dirty="0">
                <a:solidFill>
                  <a:srgbClr val="00274C"/>
                </a:solidFill>
              </a:rPr>
              <a:t>– last units in are first expensed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Average cost </a:t>
            </a:r>
            <a:r>
              <a:rPr lang="en-US" sz="2300" dirty="0">
                <a:solidFill>
                  <a:srgbClr val="00274C"/>
                </a:solidFill>
              </a:rPr>
              <a:t>– simple weighted average (interchangeable and difficult to identify items: agriculture, chemicals) </a:t>
            </a:r>
          </a:p>
        </p:txBody>
      </p:sp>
    </p:spTree>
    <p:extLst>
      <p:ext uri="{BB962C8B-B14F-4D97-AF65-F5344CB8AC3E}">
        <p14:creationId xmlns:p14="http://schemas.microsoft.com/office/powerpoint/2010/main" val="18561292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costing methods – effects </a:t>
            </a:r>
            <a:endParaRPr lang="en-US" dirty="0">
              <a:solidFill>
                <a:srgbClr val="15284B"/>
              </a:solidFill>
            </a:endParaRPr>
          </a:p>
        </p:txBody>
      </p:sp>
      <p:sp>
        <p:nvSpPr>
          <p:cNvPr id="6" name="Content Placeholder 5">
            <a:extLst>
              <a:ext uri="{FF2B5EF4-FFF2-40B4-BE49-F238E27FC236}">
                <a16:creationId xmlns:a16="http://schemas.microsoft.com/office/drawing/2014/main" id="{7F5C7076-0675-62BD-53C3-B986950CF935}"/>
              </a:ext>
            </a:extLst>
          </p:cNvPr>
          <p:cNvSpPr txBox="1">
            <a:spLocks noGrp="1"/>
          </p:cNvSpPr>
          <p:nvPr>
            <p:ph idx="1"/>
          </p:nvPr>
        </p:nvSpPr>
        <p:spPr>
          <a:xfrm>
            <a:off x="522224" y="1609895"/>
            <a:ext cx="8229600" cy="411588"/>
          </a:xfrm>
          <a:prstGeom prst="rect">
            <a:avLst/>
          </a:prstGeom>
          <a:noFill/>
        </p:spPr>
        <p:txBody>
          <a:bodyPr wrap="square" rtlCol="0">
            <a:spAutoFit/>
          </a:bodyPr>
          <a:lstStyle/>
          <a:p>
            <a:pPr marL="0" indent="0">
              <a:lnSpc>
                <a:spcPct val="113000"/>
              </a:lnSpc>
              <a:buNone/>
              <a:defRPr/>
            </a:pPr>
            <a:r>
              <a:rPr lang="en-US" sz="2000" b="1" dirty="0">
                <a:solidFill>
                  <a:srgbClr val="FDB515"/>
                </a:solidFill>
                <a:latin typeface="Arial" panose="020B0604020202020204" pitchFamily="34" charset="0"/>
                <a:cs typeface="Arial" panose="020B0604020202020204" pitchFamily="34" charset="0"/>
              </a:rPr>
              <a:t>COGS, Profit, Income taxes, Ending Inventory: </a:t>
            </a:r>
            <a:endParaRPr lang="en-US" sz="2000" dirty="0">
              <a:solidFill>
                <a:srgbClr val="FDB515"/>
              </a:solidFill>
              <a:latin typeface="Arial" panose="020B0604020202020204" pitchFamily="34" charset="0"/>
              <a:cs typeface="Arial" panose="020B0604020202020204" pitchFamily="34" charset="0"/>
            </a:endParaRPr>
          </a:p>
        </p:txBody>
      </p:sp>
      <p:pic>
        <p:nvPicPr>
          <p:cNvPr id="8" name="Picture 3" descr="Two tables comparing LIFO versus FIFO. Under rising input prices, LIFO produces higher COGS and lower profit, income taxes, and ending inventory, while FIFO produces the opposite. Under falling input prices the effects reverse.">
            <a:extLst>
              <a:ext uri="{FF2B5EF4-FFF2-40B4-BE49-F238E27FC236}">
                <a16:creationId xmlns:a16="http://schemas.microsoft.com/office/drawing/2014/main" id="{E15B1D3F-7A2A-7934-FF2F-DB83070BD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548" y="2512981"/>
            <a:ext cx="7989215" cy="2161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0580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 impairment </a:t>
            </a:r>
            <a:endParaRPr lang="en-US" dirty="0">
              <a:solidFill>
                <a:srgbClr val="15284B"/>
              </a:solidFill>
            </a:endParaRPr>
          </a:p>
        </p:txBody>
      </p:sp>
      <p:sp>
        <p:nvSpPr>
          <p:cNvPr id="3" name="Content Placeholder 2"/>
          <p:cNvSpPr>
            <a:spLocks noGrp="1"/>
          </p:cNvSpPr>
          <p:nvPr>
            <p:ph idx="1"/>
          </p:nvPr>
        </p:nvSpPr>
        <p:spPr>
          <a:xfrm>
            <a:off x="510032" y="1528272"/>
            <a:ext cx="8229600" cy="4357652"/>
          </a:xfrm>
        </p:spPr>
        <p:txBody>
          <a:bodyPr>
            <a:noAutofit/>
          </a:bodyPr>
          <a:lstStyle/>
          <a:p>
            <a:pPr marL="0" indent="0">
              <a:lnSpc>
                <a:spcPct val="114000"/>
              </a:lnSpc>
              <a:buNone/>
            </a:pPr>
            <a:r>
              <a:rPr lang="en-US" sz="2300" b="1" dirty="0">
                <a:solidFill>
                  <a:srgbClr val="FDB515"/>
                </a:solidFill>
              </a:rPr>
              <a:t>Lower of cost or market rule:</a:t>
            </a:r>
            <a:r>
              <a:rPr lang="en-US" sz="2300" dirty="0">
                <a:solidFill>
                  <a:srgbClr val="00274C"/>
                </a:solidFill>
              </a:rPr>
              <a:t> carrying amount of inventory on the balance sheet cannot exceed its market value.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In case of a write-down: </a:t>
            </a:r>
          </a:p>
          <a:p>
            <a:pPr>
              <a:lnSpc>
                <a:spcPct val="114000"/>
              </a:lnSpc>
            </a:pPr>
            <a:r>
              <a:rPr lang="en-US" sz="2300" dirty="0">
                <a:solidFill>
                  <a:srgbClr val="00274C"/>
                </a:solidFill>
              </a:rPr>
              <a:t>The inventory value on the BS decreases</a:t>
            </a:r>
          </a:p>
          <a:p>
            <a:pPr>
              <a:lnSpc>
                <a:spcPct val="114000"/>
              </a:lnSpc>
            </a:pPr>
            <a:r>
              <a:rPr lang="en-US" sz="2300" dirty="0">
                <a:solidFill>
                  <a:srgbClr val="00274C"/>
                </a:solidFill>
              </a:rPr>
              <a:t>The amount of the write-down is recorded as an expense</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Reasons: </a:t>
            </a:r>
            <a:r>
              <a:rPr lang="en-US" sz="2300" dirty="0">
                <a:solidFill>
                  <a:srgbClr val="00274C"/>
                </a:solidFill>
              </a:rPr>
              <a:t>outdated technology (Blackberry), seasonality (Macy’s), spoilage (Beyond Meat), other reasons. </a:t>
            </a:r>
          </a:p>
        </p:txBody>
      </p:sp>
    </p:spTree>
    <p:extLst>
      <p:ext uri="{BB962C8B-B14F-4D97-AF65-F5344CB8AC3E}">
        <p14:creationId xmlns:p14="http://schemas.microsoft.com/office/powerpoint/2010/main" val="3995605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Inventory management – metrics </a:t>
            </a:r>
            <a:endParaRPr lang="en-US" dirty="0">
              <a:solidFill>
                <a:srgbClr val="15284B"/>
              </a:solidFill>
            </a:endParaRPr>
          </a:p>
        </p:txBody>
      </p:sp>
      <p:sp>
        <p:nvSpPr>
          <p:cNvPr id="3" name="Content Placeholder 2"/>
          <p:cNvSpPr>
            <a:spLocks noGrp="1"/>
          </p:cNvSpPr>
          <p:nvPr>
            <p:ph idx="1"/>
          </p:nvPr>
        </p:nvSpPr>
        <p:spPr>
          <a:xfrm>
            <a:off x="510032" y="1528272"/>
            <a:ext cx="8278861" cy="4357652"/>
          </a:xfrm>
        </p:spPr>
        <p:txBody>
          <a:bodyPr>
            <a:noAutofit/>
          </a:bodyPr>
          <a:lstStyle/>
          <a:p>
            <a:pPr marL="0" indent="0">
              <a:lnSpc>
                <a:spcPct val="114000"/>
              </a:lnSpc>
              <a:buNone/>
            </a:pPr>
            <a:r>
              <a:rPr lang="en-US" sz="2300" b="1" dirty="0">
                <a:solidFill>
                  <a:srgbClr val="FDB515"/>
                </a:solidFill>
              </a:rPr>
              <a:t>Inventory turnover = COGS / Avg Inventory</a:t>
            </a:r>
          </a:p>
          <a:p>
            <a:pPr>
              <a:lnSpc>
                <a:spcPct val="114000"/>
              </a:lnSpc>
            </a:pPr>
            <a:r>
              <a:rPr lang="en-US" sz="2300" dirty="0">
                <a:solidFill>
                  <a:srgbClr val="00274C"/>
                </a:solidFill>
              </a:rPr>
              <a:t>How many times the inventory has turned during the period </a:t>
            </a:r>
          </a:p>
          <a:p>
            <a:pPr>
              <a:lnSpc>
                <a:spcPct val="114000"/>
              </a:lnSpc>
            </a:pPr>
            <a:endParaRPr lang="en-US" sz="2300" b="1" dirty="0">
              <a:solidFill>
                <a:srgbClr val="FDB515"/>
              </a:solidFill>
            </a:endParaRPr>
          </a:p>
          <a:p>
            <a:pPr marL="0" indent="0">
              <a:lnSpc>
                <a:spcPct val="114000"/>
              </a:lnSpc>
              <a:buNone/>
            </a:pPr>
            <a:r>
              <a:rPr lang="en-US" sz="2300" b="1" dirty="0">
                <a:solidFill>
                  <a:srgbClr val="FDB515"/>
                </a:solidFill>
              </a:rPr>
              <a:t>Days Inventory outstanding = Avg Inventory / Daily COGS</a:t>
            </a:r>
          </a:p>
          <a:p>
            <a:pPr marL="0" indent="0">
              <a:lnSpc>
                <a:spcPct val="114000"/>
              </a:lnSpc>
              <a:buNone/>
            </a:pPr>
            <a:r>
              <a:rPr lang="en-US" sz="2300" b="1" dirty="0">
                <a:solidFill>
                  <a:srgbClr val="FDB515"/>
                </a:solidFill>
              </a:rPr>
              <a:t>								 = 365 / Inventory turnover  </a:t>
            </a:r>
          </a:p>
          <a:p>
            <a:pPr>
              <a:lnSpc>
                <a:spcPct val="114000"/>
              </a:lnSpc>
            </a:pPr>
            <a:r>
              <a:rPr lang="en-US" sz="2300" dirty="0">
                <a:solidFill>
                  <a:srgbClr val="00274C"/>
                </a:solidFill>
              </a:rPr>
              <a:t>How many days on average the inventory stays on the BS </a:t>
            </a:r>
          </a:p>
          <a:p>
            <a:pPr>
              <a:lnSpc>
                <a:spcPct val="114000"/>
              </a:lnSpc>
            </a:pPr>
            <a:endParaRPr lang="en-US" sz="2300" b="1" dirty="0">
              <a:solidFill>
                <a:srgbClr val="FDB515"/>
              </a:solidFill>
            </a:endParaRPr>
          </a:p>
          <a:p>
            <a:pPr marL="0" indent="0">
              <a:lnSpc>
                <a:spcPct val="114000"/>
              </a:lnSpc>
              <a:buNone/>
            </a:pPr>
            <a:r>
              <a:rPr lang="en-US" sz="2300" dirty="0">
                <a:solidFill>
                  <a:srgbClr val="00274C"/>
                </a:solidFill>
              </a:rPr>
              <a:t>Higher turnover = leaner inventory, but may risk stock-outs</a:t>
            </a:r>
          </a:p>
        </p:txBody>
      </p:sp>
    </p:spTree>
    <p:extLst>
      <p:ext uri="{BB962C8B-B14F-4D97-AF65-F5344CB8AC3E}">
        <p14:creationId xmlns:p14="http://schemas.microsoft.com/office/powerpoint/2010/main" val="41578368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44701" y="2130425"/>
            <a:ext cx="7517411" cy="2949369"/>
          </a:xfrm>
        </p:spPr>
        <p:txBody>
          <a:bodyPr>
            <a:normAutofit/>
          </a:bodyPr>
          <a:lstStyle/>
          <a:p>
            <a:pPr>
              <a:lnSpc>
                <a:spcPct val="114000"/>
              </a:lnSpc>
            </a:pPr>
            <a:r>
              <a:rPr lang="en-US" sz="4000" b="0" dirty="0"/>
              <a:t>Working Capital Management </a:t>
            </a:r>
          </a:p>
        </p:txBody>
      </p:sp>
    </p:spTree>
    <p:extLst>
      <p:ext uri="{BB962C8B-B14F-4D97-AF65-F5344CB8AC3E}">
        <p14:creationId xmlns:p14="http://schemas.microsoft.com/office/powerpoint/2010/main" val="197541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Working capital – definition </a:t>
            </a:r>
            <a:endParaRPr lang="en-US" dirty="0">
              <a:solidFill>
                <a:srgbClr val="15284B"/>
              </a:solidFill>
            </a:endParaRPr>
          </a:p>
        </p:txBody>
      </p:sp>
      <p:sp>
        <p:nvSpPr>
          <p:cNvPr id="3" name="Content Placeholder 2"/>
          <p:cNvSpPr>
            <a:spLocks noGrp="1"/>
          </p:cNvSpPr>
          <p:nvPr>
            <p:ph idx="1"/>
          </p:nvPr>
        </p:nvSpPr>
        <p:spPr>
          <a:xfrm>
            <a:off x="510032" y="1528272"/>
            <a:ext cx="8229600" cy="4357652"/>
          </a:xfrm>
        </p:spPr>
        <p:txBody>
          <a:bodyPr>
            <a:noAutofit/>
          </a:bodyPr>
          <a:lstStyle/>
          <a:p>
            <a:pPr marL="0" indent="0">
              <a:lnSpc>
                <a:spcPct val="114000"/>
              </a:lnSpc>
              <a:buNone/>
            </a:pPr>
            <a:r>
              <a:rPr lang="en-US" sz="2300" b="1" dirty="0">
                <a:solidFill>
                  <a:srgbClr val="FDB515"/>
                </a:solidFill>
              </a:rPr>
              <a:t>Working capital </a:t>
            </a:r>
            <a:r>
              <a:rPr lang="en-US" sz="2300" dirty="0">
                <a:solidFill>
                  <a:srgbClr val="00274C"/>
                </a:solidFill>
              </a:rPr>
              <a:t>is defined as the capital needed to ensure smooth operating cycle.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Net working capital (NWC) </a:t>
            </a:r>
            <a:r>
              <a:rPr lang="en-US" sz="2300" dirty="0">
                <a:solidFill>
                  <a:srgbClr val="00274C"/>
                </a:solidFill>
              </a:rPr>
              <a:t>is calculated as the difference between the current operating assets (AR, Inventory) and the current operating liabilities (AP):  </a:t>
            </a:r>
          </a:p>
          <a:p>
            <a:pPr marL="0" indent="0">
              <a:lnSpc>
                <a:spcPct val="114000"/>
              </a:lnSpc>
              <a:buNone/>
            </a:pPr>
            <a:endParaRPr lang="en-US" sz="2300" dirty="0">
              <a:solidFill>
                <a:srgbClr val="00274C"/>
              </a:solidFill>
            </a:endParaRPr>
          </a:p>
          <a:p>
            <a:pPr marL="0" indent="0">
              <a:lnSpc>
                <a:spcPct val="114000"/>
              </a:lnSpc>
              <a:buNone/>
            </a:pPr>
            <a:r>
              <a:rPr lang="en-US" sz="2300" dirty="0">
                <a:solidFill>
                  <a:srgbClr val="00274C"/>
                </a:solidFill>
              </a:rPr>
              <a:t>	</a:t>
            </a:r>
            <a:r>
              <a:rPr lang="en-US" sz="2300" b="1" dirty="0">
                <a:solidFill>
                  <a:srgbClr val="FDB515"/>
                </a:solidFill>
              </a:rPr>
              <a:t>NWC = AR + Inventory - AP</a:t>
            </a:r>
          </a:p>
        </p:txBody>
      </p:sp>
    </p:spTree>
    <p:extLst>
      <p:ext uri="{BB962C8B-B14F-4D97-AF65-F5344CB8AC3E}">
        <p14:creationId xmlns:p14="http://schemas.microsoft.com/office/powerpoint/2010/main" val="4235759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Working capital – metrics </a:t>
            </a:r>
            <a:endParaRPr lang="en-US" dirty="0">
              <a:solidFill>
                <a:srgbClr val="15284B"/>
              </a:solidFill>
            </a:endParaRPr>
          </a:p>
        </p:txBody>
      </p:sp>
      <p:sp>
        <p:nvSpPr>
          <p:cNvPr id="3" name="Content Placeholder 2"/>
          <p:cNvSpPr>
            <a:spLocks noGrp="1"/>
          </p:cNvSpPr>
          <p:nvPr>
            <p:ph idx="1"/>
          </p:nvPr>
        </p:nvSpPr>
        <p:spPr>
          <a:xfrm>
            <a:off x="457200" y="1503888"/>
            <a:ext cx="8229600" cy="4357652"/>
          </a:xfrm>
        </p:spPr>
        <p:txBody>
          <a:bodyPr>
            <a:noAutofit/>
          </a:bodyPr>
          <a:lstStyle/>
          <a:p>
            <a:pPr marL="0" indent="0">
              <a:lnSpc>
                <a:spcPct val="114000"/>
              </a:lnSpc>
              <a:buNone/>
            </a:pPr>
            <a:r>
              <a:rPr lang="en-US" sz="2300" dirty="0">
                <a:solidFill>
                  <a:srgbClr val="00274C"/>
                </a:solidFill>
              </a:rPr>
              <a:t>Shows how long cash is tied up between paying suppliers and collecting from customers.</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Working capital in days or Cash Conversion Cycle = </a:t>
            </a:r>
          </a:p>
          <a:p>
            <a:pPr marL="0" indent="0">
              <a:lnSpc>
                <a:spcPct val="114000"/>
              </a:lnSpc>
              <a:buNone/>
            </a:pPr>
            <a:r>
              <a:rPr lang="en-US" sz="2300" b="1" dirty="0">
                <a:solidFill>
                  <a:srgbClr val="FDB515"/>
                </a:solidFill>
              </a:rPr>
              <a:t>Days Sales Outstanding plus</a:t>
            </a:r>
          </a:p>
          <a:p>
            <a:pPr marL="0" indent="0">
              <a:lnSpc>
                <a:spcPct val="114000"/>
              </a:lnSpc>
              <a:buNone/>
            </a:pPr>
            <a:r>
              <a:rPr lang="en-US" sz="2300" b="1" dirty="0">
                <a:solidFill>
                  <a:srgbClr val="FDB515"/>
                </a:solidFill>
              </a:rPr>
              <a:t>	Days Inventory outstanding minus </a:t>
            </a:r>
          </a:p>
          <a:p>
            <a:pPr marL="0" indent="0">
              <a:lnSpc>
                <a:spcPct val="114000"/>
              </a:lnSpc>
              <a:buNone/>
            </a:pPr>
            <a:r>
              <a:rPr lang="en-US" sz="2300" b="1" dirty="0">
                <a:solidFill>
                  <a:srgbClr val="FDB515"/>
                </a:solidFill>
              </a:rPr>
              <a:t>		Days AP outstanding </a:t>
            </a:r>
          </a:p>
        </p:txBody>
      </p:sp>
    </p:spTree>
    <p:extLst>
      <p:ext uri="{BB962C8B-B14F-4D97-AF65-F5344CB8AC3E}">
        <p14:creationId xmlns:p14="http://schemas.microsoft.com/office/powerpoint/2010/main" val="764244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15284B"/>
                </a:solidFill>
              </a:rPr>
              <a:t>Working capital management </a:t>
            </a:r>
            <a:endParaRPr lang="en-US" dirty="0">
              <a:solidFill>
                <a:srgbClr val="15284B"/>
              </a:solidFill>
            </a:endParaRPr>
          </a:p>
        </p:txBody>
      </p:sp>
      <p:sp>
        <p:nvSpPr>
          <p:cNvPr id="3" name="Content Placeholder 2"/>
          <p:cNvSpPr>
            <a:spLocks noGrp="1"/>
          </p:cNvSpPr>
          <p:nvPr>
            <p:ph idx="1"/>
          </p:nvPr>
        </p:nvSpPr>
        <p:spPr>
          <a:xfrm>
            <a:off x="457200" y="1503888"/>
            <a:ext cx="8229600" cy="4357652"/>
          </a:xfrm>
        </p:spPr>
        <p:txBody>
          <a:bodyPr>
            <a:noAutofit/>
          </a:bodyPr>
          <a:lstStyle/>
          <a:p>
            <a:pPr marL="0" indent="0">
              <a:lnSpc>
                <a:spcPct val="114000"/>
              </a:lnSpc>
              <a:buNone/>
            </a:pPr>
            <a:r>
              <a:rPr lang="en-US" sz="2300" b="1" dirty="0">
                <a:solidFill>
                  <a:srgbClr val="FDB515"/>
                </a:solidFill>
              </a:rPr>
              <a:t>Effective management of working capital</a:t>
            </a:r>
            <a:r>
              <a:rPr lang="en-US" sz="2300" b="1" dirty="0">
                <a:solidFill>
                  <a:srgbClr val="00274C"/>
                </a:solidFill>
              </a:rPr>
              <a:t>:</a:t>
            </a:r>
            <a:endParaRPr lang="en-US" sz="2300" dirty="0">
              <a:solidFill>
                <a:srgbClr val="00274C"/>
              </a:solidFill>
            </a:endParaRPr>
          </a:p>
          <a:p>
            <a:pPr>
              <a:lnSpc>
                <a:spcPct val="114000"/>
              </a:lnSpc>
            </a:pPr>
            <a:r>
              <a:rPr lang="en-US" sz="2300" dirty="0">
                <a:solidFill>
                  <a:srgbClr val="00274C"/>
                </a:solidFill>
              </a:rPr>
              <a:t>Reflects the optimal tradeoff between liquidity (cash availability) and profit and sales growth. </a:t>
            </a:r>
          </a:p>
          <a:p>
            <a:pPr>
              <a:lnSpc>
                <a:spcPct val="114000"/>
              </a:lnSpc>
            </a:pPr>
            <a:r>
              <a:rPr lang="en-US" sz="2300">
                <a:solidFill>
                  <a:srgbClr val="00274C"/>
                </a:solidFill>
              </a:rPr>
              <a:t>Can be crucial to investment decisions.</a:t>
            </a:r>
            <a:r>
              <a:rPr lang="en-US" sz="2300" dirty="0">
                <a:solidFill>
                  <a:srgbClr val="00274C"/>
                </a:solidFill>
              </a:rPr>
              <a:t/>
            </a:r>
          </a:p>
          <a:p>
            <a:pPr marL="0" indent="0">
              <a:lnSpc>
                <a:spcPct val="114000"/>
              </a:lnSpc>
              <a:buNone/>
            </a:pPr>
            <a:endParaRPr lang="en-US" sz="2300" dirty="0">
              <a:solidFill>
                <a:srgbClr val="00274C"/>
              </a:solidFill>
            </a:endParaRPr>
          </a:p>
          <a:p>
            <a:pPr marL="0" indent="0">
              <a:lnSpc>
                <a:spcPct val="114000"/>
              </a:lnSpc>
              <a:buNone/>
            </a:pPr>
            <a:r>
              <a:rPr lang="en-US" sz="2300" b="1" dirty="0">
                <a:solidFill>
                  <a:srgbClr val="FDB515"/>
                </a:solidFill>
              </a:rPr>
              <a:t>Varies widely by industry. </a:t>
            </a:r>
          </a:p>
          <a:p>
            <a:pPr marL="0" indent="0">
              <a:lnSpc>
                <a:spcPct val="114000"/>
              </a:lnSpc>
              <a:buNone/>
            </a:pPr>
            <a:endParaRPr lang="en-US" sz="2300" b="1" dirty="0">
              <a:solidFill>
                <a:srgbClr val="FDB515"/>
              </a:solidFill>
            </a:endParaRPr>
          </a:p>
          <a:p>
            <a:pPr marL="0" indent="0">
              <a:lnSpc>
                <a:spcPct val="114000"/>
              </a:lnSpc>
              <a:buNone/>
            </a:pPr>
            <a:r>
              <a:rPr lang="en-US" sz="2300" b="1" dirty="0">
                <a:solidFill>
                  <a:srgbClr val="FDB515"/>
                </a:solidFill>
              </a:rPr>
              <a:t>Varies widely by company’s age and business model.  </a:t>
            </a:r>
          </a:p>
        </p:txBody>
      </p:sp>
    </p:spTree>
    <p:extLst>
      <p:ext uri="{BB962C8B-B14F-4D97-AF65-F5344CB8AC3E}">
        <p14:creationId xmlns:p14="http://schemas.microsoft.com/office/powerpoint/2010/main" val="10464385"/>
      </p:ext>
    </p:extLst>
  </p:cSld>
  <p:clrMapOvr>
    <a:masterClrMapping/>
  </p:clrMapOvr>
</p:sld>
</file>

<file path=ppt/theme/theme1.xml><?xml version="1.0" encoding="utf-8"?>
<a:theme xmlns:a="http://schemas.openxmlformats.org/drawingml/2006/main" name="Office Theme">
  <a:themeElements>
    <a:clrScheme name="Berkeley-Haas Color Palette">
      <a:dk1>
        <a:srgbClr val="003057"/>
      </a:dk1>
      <a:lt1>
        <a:sysClr val="window" lastClr="FFFFFF"/>
      </a:lt1>
      <a:dk2>
        <a:srgbClr val="75777B"/>
      </a:dk2>
      <a:lt2>
        <a:srgbClr val="C3BDAD"/>
      </a:lt2>
      <a:accent1>
        <a:srgbClr val="0072CE"/>
      </a:accent1>
      <a:accent2>
        <a:srgbClr val="D8623F"/>
      </a:accent2>
      <a:accent3>
        <a:srgbClr val="6AA603"/>
      </a:accent3>
      <a:accent4>
        <a:srgbClr val="EFB82B"/>
      </a:accent4>
      <a:accent5>
        <a:srgbClr val="EA4D6C"/>
      </a:accent5>
      <a:accent6>
        <a:srgbClr val="9BBFAD"/>
      </a:accent6>
      <a:hlink>
        <a:srgbClr val="B2B3B2"/>
      </a:hlink>
      <a:folHlink>
        <a:srgbClr val="777877"/>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16707</TotalTime>
  <Words>488</Words>
  <Application>Microsoft Office PowerPoint</Application>
  <PresentationFormat>On-screen Show (4:3)</PresentationFormat>
  <Paragraphs>65</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Inventory;  Cost of Goods Sold (COGS); Working Capital </vt:lpstr>
      <vt:lpstr>Inventory – overview  </vt:lpstr>
      <vt:lpstr>Inventory – by type </vt:lpstr>
      <vt:lpstr>Inventory – cost flow and equation </vt:lpstr>
      <vt:lpstr>Inventory – costing methods </vt:lpstr>
      <vt:lpstr>Inventory costing methods – effects </vt:lpstr>
      <vt:lpstr>Inventory – impairment </vt:lpstr>
      <vt:lpstr>Inventory management – metrics </vt:lpstr>
      <vt:lpstr>Working Capital Management </vt:lpstr>
      <vt:lpstr>Working capital – definition </vt:lpstr>
      <vt:lpstr>Working capital – metrics </vt:lpstr>
      <vt:lpstr>Working capital management </vt:lpstr>
    </vt:vector>
  </TitlesOfParts>
  <Company>Haas School of Business, 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 Pham Le</dc:creator>
  <cp:lastModifiedBy>Veselina Dinova</cp:lastModifiedBy>
  <cp:revision>165</cp:revision>
  <dcterms:created xsi:type="dcterms:W3CDTF">2014-11-25T20:43:26Z</dcterms:created>
  <dcterms:modified xsi:type="dcterms:W3CDTF">2025-07-06T01:19:20Z</dcterms:modified>
</cp:coreProperties>
</file>
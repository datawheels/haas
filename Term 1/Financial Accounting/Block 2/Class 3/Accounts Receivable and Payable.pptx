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2" r:id="rId3"/>
    <p:sldId id="293" r:id="rId4"/>
    <p:sldId id="302" r:id="rId5"/>
    <p:sldId id="304" r:id="rId6"/>
    <p:sldId id="305" r:id="rId7"/>
    <p:sldId id="30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AF5112-DCCC-F442-B9BB-91E91E5BE225}">
          <p14:sldIdLst>
            <p14:sldId id="256"/>
            <p14:sldId id="262"/>
            <p14:sldId id="293"/>
            <p14:sldId id="302"/>
            <p14:sldId id="304"/>
            <p14:sldId id="305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15"/>
    <a:srgbClr val="00274C"/>
    <a:srgbClr val="15284B"/>
    <a:srgbClr val="545454"/>
    <a:srgbClr val="1C5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3586" autoAdjust="0"/>
  </p:normalViewPr>
  <p:slideViewPr>
    <p:cSldViewPr snapToGrid="0" snapToObjects="1">
      <p:cViewPr varScale="1">
        <p:scale>
          <a:sx n="86" d="100"/>
          <a:sy n="86" d="100"/>
        </p:scale>
        <p:origin x="1298" y="2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79D81FB7-75F6-4CA2-820D-93D66AC56963}"/>
    <pc:docChg chg="undo custSel delSld modSld modSection">
      <pc:chgData name="Veselina Dinova" userId="5935860719f7b8c5" providerId="LiveId" clId="{79D81FB7-75F6-4CA2-820D-93D66AC56963}" dt="2025-07-05T23:25:28.670" v="2392" actId="20577"/>
      <pc:docMkLst>
        <pc:docMk/>
      </pc:docMkLst>
      <pc:sldChg chg="modSp mod">
        <pc:chgData name="Veselina Dinova" userId="5935860719f7b8c5" providerId="LiveId" clId="{79D81FB7-75F6-4CA2-820D-93D66AC56963}" dt="2025-07-05T23:15:34.531" v="1818" actId="20577"/>
        <pc:sldMkLst>
          <pc:docMk/>
          <pc:sldMk cId="2893650772" sldId="262"/>
        </pc:sldMkLst>
        <pc:spChg chg="mod">
          <ac:chgData name="Veselina Dinova" userId="5935860719f7b8c5" providerId="LiveId" clId="{79D81FB7-75F6-4CA2-820D-93D66AC56963}" dt="2025-07-05T23:15:34.531" v="1818" actId="20577"/>
          <ac:spMkLst>
            <pc:docMk/>
            <pc:sldMk cId="2893650772" sldId="262"/>
            <ac:spMk id="3" creationId="{00000000-0000-0000-0000-000000000000}"/>
          </ac:spMkLst>
        </pc:spChg>
      </pc:sldChg>
      <pc:sldChg chg="del">
        <pc:chgData name="Veselina Dinova" userId="5935860719f7b8c5" providerId="LiveId" clId="{79D81FB7-75F6-4CA2-820D-93D66AC56963}" dt="2025-07-05T18:33:27.735" v="0" actId="47"/>
        <pc:sldMkLst>
          <pc:docMk/>
          <pc:sldMk cId="461449252" sldId="277"/>
        </pc:sldMkLst>
      </pc:sldChg>
      <pc:sldChg chg="del">
        <pc:chgData name="Veselina Dinova" userId="5935860719f7b8c5" providerId="LiveId" clId="{79D81FB7-75F6-4CA2-820D-93D66AC56963}" dt="2025-07-05T23:12:24.168" v="1789" actId="47"/>
        <pc:sldMkLst>
          <pc:docMk/>
          <pc:sldMk cId="2201149398" sldId="284"/>
        </pc:sldMkLst>
      </pc:sldChg>
      <pc:sldChg chg="modSp mod">
        <pc:chgData name="Veselina Dinova" userId="5935860719f7b8c5" providerId="LiveId" clId="{79D81FB7-75F6-4CA2-820D-93D66AC56963}" dt="2025-07-05T23:18:37.657" v="1894" actId="20577"/>
        <pc:sldMkLst>
          <pc:docMk/>
          <pc:sldMk cId="1555960120" sldId="293"/>
        </pc:sldMkLst>
        <pc:spChg chg="mod">
          <ac:chgData name="Veselina Dinova" userId="5935860719f7b8c5" providerId="LiveId" clId="{79D81FB7-75F6-4CA2-820D-93D66AC56963}" dt="2025-07-05T23:18:37.657" v="1894" actId="20577"/>
          <ac:spMkLst>
            <pc:docMk/>
            <pc:sldMk cId="1555960120" sldId="293"/>
            <ac:spMk id="3" creationId="{00000000-0000-0000-0000-000000000000}"/>
          </ac:spMkLst>
        </pc:spChg>
      </pc:sldChg>
      <pc:sldChg chg="del">
        <pc:chgData name="Veselina Dinova" userId="5935860719f7b8c5" providerId="LiveId" clId="{79D81FB7-75F6-4CA2-820D-93D66AC56963}" dt="2025-07-05T23:05:37.713" v="1436" actId="47"/>
        <pc:sldMkLst>
          <pc:docMk/>
          <pc:sldMk cId="1856129245" sldId="301"/>
        </pc:sldMkLst>
      </pc:sldChg>
      <pc:sldChg chg="modSp mod">
        <pc:chgData name="Veselina Dinova" userId="5935860719f7b8c5" providerId="LiveId" clId="{79D81FB7-75F6-4CA2-820D-93D66AC56963}" dt="2025-07-05T23:19:31.945" v="1967" actId="20577"/>
        <pc:sldMkLst>
          <pc:docMk/>
          <pc:sldMk cId="2118884440" sldId="302"/>
        </pc:sldMkLst>
        <pc:spChg chg="mod">
          <ac:chgData name="Veselina Dinova" userId="5935860719f7b8c5" providerId="LiveId" clId="{79D81FB7-75F6-4CA2-820D-93D66AC56963}" dt="2025-07-05T23:19:31.945" v="1967" actId="20577"/>
          <ac:spMkLst>
            <pc:docMk/>
            <pc:sldMk cId="2118884440" sldId="302"/>
            <ac:spMk id="3" creationId="{00000000-0000-0000-0000-000000000000}"/>
          </ac:spMkLst>
        </pc:spChg>
      </pc:sldChg>
      <pc:sldChg chg="modSp mod">
        <pc:chgData name="Veselina Dinova" userId="5935860719f7b8c5" providerId="LiveId" clId="{79D81FB7-75F6-4CA2-820D-93D66AC56963}" dt="2025-07-05T23:22:17.074" v="2179" actId="20577"/>
        <pc:sldMkLst>
          <pc:docMk/>
          <pc:sldMk cId="2991611961" sldId="304"/>
        </pc:sldMkLst>
        <pc:spChg chg="mod">
          <ac:chgData name="Veselina Dinova" userId="5935860719f7b8c5" providerId="LiveId" clId="{79D81FB7-75F6-4CA2-820D-93D66AC56963}" dt="2025-07-05T23:20:36.473" v="2003" actId="20577"/>
          <ac:spMkLst>
            <pc:docMk/>
            <pc:sldMk cId="2991611961" sldId="304"/>
            <ac:spMk id="2" creationId="{00000000-0000-0000-0000-000000000000}"/>
          </ac:spMkLst>
        </pc:spChg>
        <pc:spChg chg="mod">
          <ac:chgData name="Veselina Dinova" userId="5935860719f7b8c5" providerId="LiveId" clId="{79D81FB7-75F6-4CA2-820D-93D66AC56963}" dt="2025-07-05T23:22:17.074" v="2179" actId="20577"/>
          <ac:spMkLst>
            <pc:docMk/>
            <pc:sldMk cId="2991611961" sldId="304"/>
            <ac:spMk id="3" creationId="{00000000-0000-0000-0000-000000000000}"/>
          </ac:spMkLst>
        </pc:spChg>
      </pc:sldChg>
      <pc:sldChg chg="modSp mod">
        <pc:chgData name="Veselina Dinova" userId="5935860719f7b8c5" providerId="LiveId" clId="{79D81FB7-75F6-4CA2-820D-93D66AC56963}" dt="2025-07-05T23:24:06.364" v="2267" actId="20577"/>
        <pc:sldMkLst>
          <pc:docMk/>
          <pc:sldMk cId="3995605770" sldId="305"/>
        </pc:sldMkLst>
        <pc:spChg chg="mod">
          <ac:chgData name="Veselina Dinova" userId="5935860719f7b8c5" providerId="LiveId" clId="{79D81FB7-75F6-4CA2-820D-93D66AC56963}" dt="2025-07-05T23:09:23.190" v="1630" actId="20577"/>
          <ac:spMkLst>
            <pc:docMk/>
            <pc:sldMk cId="3995605770" sldId="305"/>
            <ac:spMk id="2" creationId="{00000000-0000-0000-0000-000000000000}"/>
          </ac:spMkLst>
        </pc:spChg>
        <pc:spChg chg="mod">
          <ac:chgData name="Veselina Dinova" userId="5935860719f7b8c5" providerId="LiveId" clId="{79D81FB7-75F6-4CA2-820D-93D66AC56963}" dt="2025-07-05T23:24:06.364" v="2267" actId="20577"/>
          <ac:spMkLst>
            <pc:docMk/>
            <pc:sldMk cId="3995605770" sldId="305"/>
            <ac:spMk id="3" creationId="{00000000-0000-0000-0000-000000000000}"/>
          </ac:spMkLst>
        </pc:spChg>
      </pc:sldChg>
      <pc:sldChg chg="modSp mod">
        <pc:chgData name="Veselina Dinova" userId="5935860719f7b8c5" providerId="LiveId" clId="{79D81FB7-75F6-4CA2-820D-93D66AC56963}" dt="2025-07-05T23:25:28.670" v="2392" actId="20577"/>
        <pc:sldMkLst>
          <pc:docMk/>
          <pc:sldMk cId="3167105084" sldId="307"/>
        </pc:sldMkLst>
        <pc:spChg chg="mod">
          <ac:chgData name="Veselina Dinova" userId="5935860719f7b8c5" providerId="LiveId" clId="{79D81FB7-75F6-4CA2-820D-93D66AC56963}" dt="2025-07-05T23:11:12.204" v="1731" actId="20577"/>
          <ac:spMkLst>
            <pc:docMk/>
            <pc:sldMk cId="3167105084" sldId="307"/>
            <ac:spMk id="2" creationId="{00000000-0000-0000-0000-000000000000}"/>
          </ac:spMkLst>
        </pc:spChg>
        <pc:spChg chg="mod">
          <ac:chgData name="Veselina Dinova" userId="5935860719f7b8c5" providerId="LiveId" clId="{79D81FB7-75F6-4CA2-820D-93D66AC56963}" dt="2025-07-05T23:25:28.670" v="2392" actId="20577"/>
          <ac:spMkLst>
            <pc:docMk/>
            <pc:sldMk cId="3167105084" sldId="307"/>
            <ac:spMk id="3" creationId="{00000000-0000-0000-0000-000000000000}"/>
          </ac:spMkLst>
        </pc:spChg>
      </pc:sldChg>
      <pc:sldChg chg="del">
        <pc:chgData name="Veselina Dinova" userId="5935860719f7b8c5" providerId="LiveId" clId="{79D81FB7-75F6-4CA2-820D-93D66AC56963}" dt="2025-07-05T23:12:26.417" v="1790" actId="47"/>
        <pc:sldMkLst>
          <pc:docMk/>
          <pc:sldMk cId="2285130308" sldId="308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46756-95B1-9E4B-B4F0-13B47C763CAF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FC82-C81D-9041-A08B-05D60FC3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48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62887-402F-6941-80C6-F161CAE43A29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F7C42-AA86-B746-B3A7-2D9388352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93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442754" y="1945264"/>
            <a:ext cx="7726680" cy="331969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DB515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-7146" y="1938342"/>
            <a:ext cx="1371600" cy="331969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6590" y="2130425"/>
            <a:ext cx="6831609" cy="2949369"/>
          </a:xfrm>
        </p:spPr>
        <p:txBody>
          <a:bodyPr tIns="91440" bIns="91440" anchor="ctr" anchorCtr="0">
            <a:normAutofit/>
          </a:bodyPr>
          <a:lstStyle>
            <a:lvl1pPr>
              <a:defRPr sz="4400" b="0">
                <a:solidFill>
                  <a:srgbClr val="FDB515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2389" y="5380391"/>
            <a:ext cx="6145810" cy="601555"/>
          </a:xfrm>
        </p:spPr>
        <p:txBody>
          <a:bodyPr>
            <a:normAutofit/>
          </a:bodyPr>
          <a:lstStyle>
            <a:lvl1pPr marL="0" indent="0" algn="r">
              <a:buNone/>
              <a:defRPr sz="3000">
                <a:solidFill>
                  <a:srgbClr val="54545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9" y="1009907"/>
            <a:ext cx="3023616" cy="66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45454"/>
                </a:solidFill>
              </a:defRPr>
            </a:lvl1pPr>
            <a:lvl2pPr>
              <a:defRPr>
                <a:solidFill>
                  <a:srgbClr val="545454"/>
                </a:solidFill>
              </a:defRPr>
            </a:lvl2pPr>
            <a:lvl3pPr>
              <a:defRPr>
                <a:solidFill>
                  <a:srgbClr val="545454"/>
                </a:solidFill>
              </a:defRPr>
            </a:lvl3pPr>
            <a:lvl4pPr>
              <a:defRPr>
                <a:solidFill>
                  <a:srgbClr val="545454"/>
                </a:solidFill>
              </a:defRPr>
            </a:lvl4pPr>
            <a:lvl5pPr>
              <a:defRPr>
                <a:solidFill>
                  <a:srgbClr val="54545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1274" y="1331313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74" y="3308550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2" y="2838206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77741" y="2838206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5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1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5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935" y="4666920"/>
            <a:ext cx="7190154" cy="566738"/>
          </a:xfrm>
        </p:spPr>
        <p:txBody>
          <a:bodyPr anchor="b">
            <a:noAutofit/>
          </a:bodyPr>
          <a:lstStyle>
            <a:lvl1pPr algn="ctr">
              <a:defRPr sz="3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935" y="547480"/>
            <a:ext cx="7190154" cy="4044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8935" y="5233658"/>
            <a:ext cx="7190154" cy="464893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54545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5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11276" y="2068035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 baseline="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011276" y="4043784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3572790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77743" y="3572790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91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7789" y="5948707"/>
            <a:ext cx="969263" cy="76865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005840" y="5948707"/>
            <a:ext cx="8138160" cy="768652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90293"/>
            <a:ext cx="8229600" cy="1060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03888"/>
            <a:ext cx="8229600" cy="435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08" y="6137824"/>
            <a:ext cx="327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4467554" y="6137824"/>
            <a:ext cx="1270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35792" y="6138686"/>
            <a:ext cx="642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74C"/>
                </a:solidFill>
              </a:defRPr>
            </a:lvl1pPr>
          </a:lstStyle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49" y="6137824"/>
            <a:ext cx="1839951" cy="4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2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800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54545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54545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54545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54545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54545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4701" y="2130425"/>
            <a:ext cx="7517411" cy="294936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4000" dirty="0"/>
              <a:t>Accounts Receivable and Accounts Payable </a:t>
            </a:r>
            <a:endParaRPr lang="en-US" sz="4000" b="0" dirty="0"/>
          </a:p>
        </p:txBody>
      </p:sp>
    </p:spTree>
    <p:extLst>
      <p:ext uri="{BB962C8B-B14F-4D97-AF65-F5344CB8AC3E}">
        <p14:creationId xmlns:p14="http://schemas.microsoft.com/office/powerpoint/2010/main" val="69579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Accounts Receivable - overview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B2B businesses often offer </a:t>
            </a:r>
            <a:r>
              <a:rPr lang="en-US" sz="2300" b="1" dirty="0">
                <a:solidFill>
                  <a:srgbClr val="FDB515"/>
                </a:solidFill>
              </a:rPr>
              <a:t>credit terms </a:t>
            </a:r>
            <a:r>
              <a:rPr lang="en-US" sz="2300" dirty="0">
                <a:solidFill>
                  <a:srgbClr val="00274C"/>
                </a:solidFill>
              </a:rPr>
              <a:t>which result in Accounts Receivable (AR).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AR are reported at </a:t>
            </a:r>
            <a:r>
              <a:rPr lang="en-US" sz="2300" b="1" dirty="0">
                <a:solidFill>
                  <a:srgbClr val="FDB515"/>
                </a:solidFill>
              </a:rPr>
              <a:t>net realizable value </a:t>
            </a:r>
            <a:r>
              <a:rPr lang="en-US" sz="2300" dirty="0">
                <a:solidFill>
                  <a:srgbClr val="00274C"/>
                </a:solidFill>
              </a:rPr>
              <a:t>($ expected)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This requires the creation of a reserve called </a:t>
            </a:r>
            <a:r>
              <a:rPr lang="en-US" sz="2300" b="1" dirty="0">
                <a:solidFill>
                  <a:srgbClr val="FDB515"/>
                </a:solidFill>
              </a:rPr>
              <a:t>allowance for uncollectable accounts</a:t>
            </a:r>
            <a:r>
              <a:rPr lang="en-US" sz="2300" b="1" dirty="0">
                <a:solidFill>
                  <a:srgbClr val="00274C"/>
                </a:solidFill>
              </a:rPr>
              <a:t> – </a:t>
            </a:r>
            <a:r>
              <a:rPr lang="en-US" sz="2300" dirty="0">
                <a:solidFill>
                  <a:srgbClr val="00274C"/>
                </a:solidFill>
              </a:rPr>
              <a:t>expected credit losses.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Net AR = Gross AR minus Allowance</a:t>
            </a:r>
          </a:p>
        </p:txBody>
      </p:sp>
    </p:spTree>
    <p:extLst>
      <p:ext uri="{BB962C8B-B14F-4D97-AF65-F5344CB8AC3E}">
        <p14:creationId xmlns:p14="http://schemas.microsoft.com/office/powerpoint/2010/main" val="289365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AR – mechanics – summary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32" y="1528272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reserve reflects expectations for </a:t>
            </a:r>
            <a:r>
              <a:rPr lang="en-US" sz="2300" b="1" dirty="0">
                <a:solidFill>
                  <a:srgbClr val="FDB515"/>
                </a:solidFill>
              </a:rPr>
              <a:t>uncollectable AR.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Increase of the allowance </a:t>
            </a:r>
            <a:r>
              <a:rPr lang="en-US" sz="2300" dirty="0">
                <a:solidFill>
                  <a:srgbClr val="00274C"/>
                </a:solidFill>
              </a:rPr>
              <a:t>is </a:t>
            </a:r>
            <a:r>
              <a:rPr lang="en-US" sz="2300" b="1" dirty="0">
                <a:solidFill>
                  <a:srgbClr val="FDB515"/>
                </a:solidFill>
              </a:rPr>
              <a:t>bad debt expense </a:t>
            </a:r>
            <a:r>
              <a:rPr lang="en-US" sz="2300" dirty="0">
                <a:solidFill>
                  <a:srgbClr val="00274C"/>
                </a:solidFill>
              </a:rPr>
              <a:t>on the income statement. </a:t>
            </a:r>
          </a:p>
          <a:p>
            <a:pPr lvl="1"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Lower earnings and lower net AR.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Write-offs </a:t>
            </a:r>
            <a:r>
              <a:rPr lang="en-US" sz="2300" dirty="0">
                <a:solidFill>
                  <a:srgbClr val="00274C"/>
                </a:solidFill>
              </a:rPr>
              <a:t>of AR </a:t>
            </a:r>
            <a:r>
              <a:rPr lang="en-US" sz="2300" b="1" dirty="0">
                <a:solidFill>
                  <a:srgbClr val="FDB515"/>
                </a:solidFill>
              </a:rPr>
              <a:t>decreases gross AR </a:t>
            </a:r>
            <a:r>
              <a:rPr lang="en-US" sz="2300" dirty="0">
                <a:solidFill>
                  <a:srgbClr val="00274C"/>
                </a:solidFill>
              </a:rPr>
              <a:t>and the </a:t>
            </a:r>
            <a:r>
              <a:rPr lang="en-US" sz="2300" b="1" dirty="0">
                <a:solidFill>
                  <a:srgbClr val="FDB515"/>
                </a:solidFill>
              </a:rPr>
              <a:t>allowance</a:t>
            </a:r>
            <a:r>
              <a:rPr lang="en-US" sz="2300" dirty="0">
                <a:solidFill>
                  <a:srgbClr val="00274C"/>
                </a:solidFill>
              </a:rPr>
              <a:t>.  </a:t>
            </a:r>
          </a:p>
          <a:p>
            <a:pPr lvl="1"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No effect on the earnings and net AR. </a:t>
            </a:r>
          </a:p>
        </p:txBody>
      </p:sp>
    </p:spTree>
    <p:extLst>
      <p:ext uri="{BB962C8B-B14F-4D97-AF65-F5344CB8AC3E}">
        <p14:creationId xmlns:p14="http://schemas.microsoft.com/office/powerpoint/2010/main" val="155596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Allowance estimate – methods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32" y="1528272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Method 1: % of current period credit sales </a:t>
            </a:r>
            <a:r>
              <a:rPr lang="en-US" sz="2300" dirty="0">
                <a:solidFill>
                  <a:srgbClr val="00274C"/>
                </a:solidFill>
              </a:rPr>
              <a:t>– to determine the needed increase in the reserve for the period.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Method 2: Aging schedule </a:t>
            </a:r>
            <a:r>
              <a:rPr lang="en-US" sz="2300" dirty="0">
                <a:solidFill>
                  <a:srgbClr val="00274C"/>
                </a:solidFill>
              </a:rPr>
              <a:t>– based on the status of the individual outstanding AR (current, late by X days)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allowance is at </a:t>
            </a:r>
            <a:r>
              <a:rPr lang="en-US" sz="2300" b="1" dirty="0">
                <a:solidFill>
                  <a:srgbClr val="FDB515"/>
                </a:solidFill>
              </a:rPr>
              <a:t>management discretion - </a:t>
            </a:r>
            <a:r>
              <a:rPr lang="en-US" sz="2300" dirty="0">
                <a:solidFill>
                  <a:srgbClr val="00274C"/>
                </a:solidFill>
              </a:rPr>
              <a:t>usually based on historical data but may be subject to other adjustments. </a:t>
            </a:r>
          </a:p>
        </p:txBody>
      </p:sp>
    </p:spTree>
    <p:extLst>
      <p:ext uri="{BB962C8B-B14F-4D97-AF65-F5344CB8AC3E}">
        <p14:creationId xmlns:p14="http://schemas.microsoft.com/office/powerpoint/2010/main" val="211888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How allowance can distort earnings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32" y="1528272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Underestimating the allowance: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Inflates current income - “borrows” from the future.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Overestimating the allowance: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Deflates current income - “a cookie jar” for the future.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Could be a desire to overload the current period with bad news – “bad bath”.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Could be a desire for a low benchmark for future growth. </a:t>
            </a:r>
          </a:p>
        </p:txBody>
      </p:sp>
    </p:spTree>
    <p:extLst>
      <p:ext uri="{BB962C8B-B14F-4D97-AF65-F5344CB8AC3E}">
        <p14:creationId xmlns:p14="http://schemas.microsoft.com/office/powerpoint/2010/main" val="299161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AR efficiency metrics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32" y="1528272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AR turnover = Total Sales / Average net AR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many times AR have been collected during the period - higher turnover = quicker collection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Days Sales Outstanding = Average net AR / Daily Sales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							   = 365 / AR turnover 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many days on average it takes to collect the AR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ratios </a:t>
            </a:r>
            <a:r>
              <a:rPr lang="en-US" sz="2300" b="1" dirty="0">
                <a:solidFill>
                  <a:srgbClr val="FDB515"/>
                </a:solidFill>
              </a:rPr>
              <a:t>vary significantly </a:t>
            </a:r>
            <a:r>
              <a:rPr lang="en-US" sz="2300" dirty="0">
                <a:solidFill>
                  <a:srgbClr val="00274C"/>
                </a:solidFill>
              </a:rPr>
              <a:t>across industries. </a:t>
            </a:r>
          </a:p>
        </p:txBody>
      </p:sp>
    </p:spTree>
    <p:extLst>
      <p:ext uri="{BB962C8B-B14F-4D97-AF65-F5344CB8AC3E}">
        <p14:creationId xmlns:p14="http://schemas.microsoft.com/office/powerpoint/2010/main" val="399560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AP efficiency metrics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32" y="1528272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AP turnover = Total COGS / Average AP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many times the AP has turned during the period - higher turnover = quicker payments - may be sub-optimal. 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Days AP outstanding = Average AP/ Daily COGS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                        = 365 / AP turnover</a:t>
            </a:r>
            <a:r>
              <a:rPr lang="en-US" sz="2300" b="1" dirty="0" err="1">
                <a:solidFill>
                  <a:srgbClr val="FDB515"/>
                </a:solidFill>
              </a:rPr>
              <a:t/>
            </a:r>
            <a:r>
              <a:rPr lang="en-US" sz="2300" b="1">
                <a:solidFill>
                  <a:srgbClr val="FDB515"/>
                </a:solidFill>
              </a:rPr>
              <a:t/>
            </a:r>
            <a:endParaRPr lang="en-US" sz="2300" b="1" dirty="0">
              <a:solidFill>
                <a:srgbClr val="FDB515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many days on average the bills remain outstanding.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ratios also </a:t>
            </a:r>
            <a:r>
              <a:rPr lang="en-US" sz="2300" b="1" dirty="0">
                <a:solidFill>
                  <a:srgbClr val="FDB515"/>
                </a:solidFill>
              </a:rPr>
              <a:t>vary significantly </a:t>
            </a:r>
            <a:r>
              <a:rPr lang="en-US" sz="2300" dirty="0">
                <a:solidFill>
                  <a:srgbClr val="00274C"/>
                </a:solidFill>
              </a:rPr>
              <a:t>across industries. </a:t>
            </a:r>
          </a:p>
        </p:txBody>
      </p:sp>
    </p:spTree>
    <p:extLst>
      <p:ext uri="{BB962C8B-B14F-4D97-AF65-F5344CB8AC3E}">
        <p14:creationId xmlns:p14="http://schemas.microsoft.com/office/powerpoint/2010/main" val="3167105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16997</TotalTime>
  <Words>385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Accounts Receivable and Accounts Payable </vt:lpstr>
      <vt:lpstr>Accounts Receivable - overview </vt:lpstr>
      <vt:lpstr>AR – mechanics – summary </vt:lpstr>
      <vt:lpstr>Allowance estimate – methods </vt:lpstr>
      <vt:lpstr>How allowance can distort earnings</vt:lpstr>
      <vt:lpstr>AR efficiency metrics </vt:lpstr>
      <vt:lpstr>AP efficiency metrics </vt:lpstr>
    </vt:vector>
  </TitlesOfParts>
  <Company>Haas School of Business, 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 Pham Le</dc:creator>
  <cp:lastModifiedBy>Veselina Dinova</cp:lastModifiedBy>
  <cp:revision>165</cp:revision>
  <dcterms:created xsi:type="dcterms:W3CDTF">2014-11-25T20:43:26Z</dcterms:created>
  <dcterms:modified xsi:type="dcterms:W3CDTF">2025-07-05T23:25:34Z</dcterms:modified>
</cp:coreProperties>
</file>
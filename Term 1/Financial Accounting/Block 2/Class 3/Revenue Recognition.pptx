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9753600" cy="7315200"/>
  <p:notesSz cx="6858000" cy="9144000"/>
  <p:embeddedFontLst>
    <p:embeddedFont>
      <p:font typeface="Arial Bold" panose="020B0704020202020204" pitchFamily="34" charset="0"/>
      <p:regular r:id="rId9"/>
      <p:bold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CA86BF-345D-47DA-A4DB-53B47647097F}" v="2" dt="2025-07-05T01:12:19.6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6" d="100"/>
          <a:sy n="76" d="100"/>
        </p:scale>
        <p:origin x="1440" y="2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microsoft.com/office/2015/10/relationships/revisionInfo" Target="revisionInfo.xml"/><Relationship Id="rId17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selina Dinova" userId="5935860719f7b8c5" providerId="LiveId" clId="{76CA86BF-345D-47DA-A4DB-53B47647097F}"/>
    <pc:docChg chg="undo custSel delSld modSld">
      <pc:chgData name="Veselina Dinova" userId="5935860719f7b8c5" providerId="LiveId" clId="{76CA86BF-345D-47DA-A4DB-53B47647097F}" dt="2025-07-05T01:15:02.071" v="386" actId="207"/>
      <pc:docMkLst>
        <pc:docMk/>
      </pc:docMkLst>
      <pc:sldChg chg="del">
        <pc:chgData name="Veselina Dinova" userId="5935860719f7b8c5" providerId="LiveId" clId="{76CA86BF-345D-47DA-A4DB-53B47647097F}" dt="2025-07-05T00:55:15.145" v="0" actId="47"/>
        <pc:sldMkLst>
          <pc:docMk/>
          <pc:sldMk cId="0" sldId="257"/>
        </pc:sldMkLst>
      </pc:sldChg>
      <pc:sldChg chg="modSp mod">
        <pc:chgData name="Veselina Dinova" userId="5935860719f7b8c5" providerId="LiveId" clId="{76CA86BF-345D-47DA-A4DB-53B47647097F}" dt="2025-07-05T01:02:07.701" v="124" actId="20577"/>
        <pc:sldMkLst>
          <pc:docMk/>
          <pc:sldMk cId="0" sldId="258"/>
        </pc:sldMkLst>
        <pc:spChg chg="mod">
          <ac:chgData name="Veselina Dinova" userId="5935860719f7b8c5" providerId="LiveId" clId="{76CA86BF-345D-47DA-A4DB-53B47647097F}" dt="2025-07-05T00:55:34.686" v="1" actId="20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Veselina Dinova" userId="5935860719f7b8c5" providerId="LiveId" clId="{76CA86BF-345D-47DA-A4DB-53B47647097F}" dt="2025-07-05T01:02:07.701" v="124" actId="20577"/>
          <ac:spMkLst>
            <pc:docMk/>
            <pc:sldMk cId="0" sldId="258"/>
            <ac:spMk id="11" creationId="{00000000-0000-0000-0000-000000000000}"/>
          </ac:spMkLst>
        </pc:spChg>
      </pc:sldChg>
      <pc:sldChg chg="modSp mod">
        <pc:chgData name="Veselina Dinova" userId="5935860719f7b8c5" providerId="LiveId" clId="{76CA86BF-345D-47DA-A4DB-53B47647097F}" dt="2025-07-05T01:03:02.968" v="161" actId="20577"/>
        <pc:sldMkLst>
          <pc:docMk/>
          <pc:sldMk cId="0" sldId="259"/>
        </pc:sldMkLst>
        <pc:spChg chg="mod">
          <ac:chgData name="Veselina Dinova" userId="5935860719f7b8c5" providerId="LiveId" clId="{76CA86BF-345D-47DA-A4DB-53B47647097F}" dt="2025-07-05T01:03:02.968" v="161" actId="20577"/>
          <ac:spMkLst>
            <pc:docMk/>
            <pc:sldMk cId="0" sldId="259"/>
            <ac:spMk id="10" creationId="{00000000-0000-0000-0000-000000000000}"/>
          </ac:spMkLst>
        </pc:spChg>
        <pc:spChg chg="mod">
          <ac:chgData name="Veselina Dinova" userId="5935860719f7b8c5" providerId="LiveId" clId="{76CA86BF-345D-47DA-A4DB-53B47647097F}" dt="2025-07-05T00:57:36.527" v="11" actId="207"/>
          <ac:spMkLst>
            <pc:docMk/>
            <pc:sldMk cId="0" sldId="259"/>
            <ac:spMk id="11" creationId="{00000000-0000-0000-0000-000000000000}"/>
          </ac:spMkLst>
        </pc:spChg>
      </pc:sldChg>
      <pc:sldChg chg="modSp mod">
        <pc:chgData name="Veselina Dinova" userId="5935860719f7b8c5" providerId="LiveId" clId="{76CA86BF-345D-47DA-A4DB-53B47647097F}" dt="2025-07-05T01:07:44.963" v="320" actId="20577"/>
        <pc:sldMkLst>
          <pc:docMk/>
          <pc:sldMk cId="0" sldId="260"/>
        </pc:sldMkLst>
        <pc:spChg chg="mod">
          <ac:chgData name="Veselina Dinova" userId="5935860719f7b8c5" providerId="LiveId" clId="{76CA86BF-345D-47DA-A4DB-53B47647097F}" dt="2025-07-05T00:58:17.007" v="17" actId="207"/>
          <ac:spMkLst>
            <pc:docMk/>
            <pc:sldMk cId="0" sldId="260"/>
            <ac:spMk id="10" creationId="{00000000-0000-0000-0000-000000000000}"/>
          </ac:spMkLst>
        </pc:spChg>
        <pc:spChg chg="mod">
          <ac:chgData name="Veselina Dinova" userId="5935860719f7b8c5" providerId="LiveId" clId="{76CA86BF-345D-47DA-A4DB-53B47647097F}" dt="2025-07-05T01:07:44.963" v="320" actId="20577"/>
          <ac:spMkLst>
            <pc:docMk/>
            <pc:sldMk cId="0" sldId="260"/>
            <ac:spMk id="11" creationId="{00000000-0000-0000-0000-000000000000}"/>
          </ac:spMkLst>
        </pc:spChg>
        <pc:grpChg chg="mod">
          <ac:chgData name="Veselina Dinova" userId="5935860719f7b8c5" providerId="LiveId" clId="{76CA86BF-345D-47DA-A4DB-53B47647097F}" dt="2025-07-05T01:06:56.142" v="308" actId="1076"/>
          <ac:grpSpMkLst>
            <pc:docMk/>
            <pc:sldMk cId="0" sldId="260"/>
            <ac:grpSpMk id="8" creationId="{00000000-0000-0000-0000-000000000000}"/>
          </ac:grpSpMkLst>
        </pc:grpChg>
      </pc:sldChg>
      <pc:sldChg chg="modSp mod">
        <pc:chgData name="Veselina Dinova" userId="5935860719f7b8c5" providerId="LiveId" clId="{76CA86BF-345D-47DA-A4DB-53B47647097F}" dt="2025-07-05T01:09:42.269" v="329" actId="20577"/>
        <pc:sldMkLst>
          <pc:docMk/>
          <pc:sldMk cId="0" sldId="261"/>
        </pc:sldMkLst>
        <pc:spChg chg="mod">
          <ac:chgData name="Veselina Dinova" userId="5935860719f7b8c5" providerId="LiveId" clId="{76CA86BF-345D-47DA-A4DB-53B47647097F}" dt="2025-07-05T01:09:00.075" v="327" actId="207"/>
          <ac:spMkLst>
            <pc:docMk/>
            <pc:sldMk cId="0" sldId="261"/>
            <ac:spMk id="10" creationId="{00000000-0000-0000-0000-000000000000}"/>
          </ac:spMkLst>
        </pc:spChg>
        <pc:spChg chg="mod">
          <ac:chgData name="Veselina Dinova" userId="5935860719f7b8c5" providerId="LiveId" clId="{76CA86BF-345D-47DA-A4DB-53B47647097F}" dt="2025-07-05T01:09:42.269" v="329" actId="20577"/>
          <ac:spMkLst>
            <pc:docMk/>
            <pc:sldMk cId="0" sldId="261"/>
            <ac:spMk id="11" creationId="{00000000-0000-0000-0000-000000000000}"/>
          </ac:spMkLst>
        </pc:spChg>
      </pc:sldChg>
      <pc:sldChg chg="addSp modSp mod">
        <pc:chgData name="Veselina Dinova" userId="5935860719f7b8c5" providerId="LiveId" clId="{76CA86BF-345D-47DA-A4DB-53B47647097F}" dt="2025-07-05T01:12:10.454" v="340"/>
        <pc:sldMkLst>
          <pc:docMk/>
          <pc:sldMk cId="0" sldId="262"/>
        </pc:sldMkLst>
        <pc:spChg chg="mod">
          <ac:chgData name="Veselina Dinova" userId="5935860719f7b8c5" providerId="LiveId" clId="{76CA86BF-345D-47DA-A4DB-53B47647097F}" dt="2025-07-05T01:10:24.710" v="333" actId="207"/>
          <ac:spMkLst>
            <pc:docMk/>
            <pc:sldMk cId="0" sldId="262"/>
            <ac:spMk id="10" creationId="{00000000-0000-0000-0000-000000000000}"/>
          </ac:spMkLst>
        </pc:spChg>
        <pc:spChg chg="mod">
          <ac:chgData name="Veselina Dinova" userId="5935860719f7b8c5" providerId="LiveId" clId="{76CA86BF-345D-47DA-A4DB-53B47647097F}" dt="2025-07-05T01:10:51.620" v="338" actId="108"/>
          <ac:spMkLst>
            <pc:docMk/>
            <pc:sldMk cId="0" sldId="262"/>
            <ac:spMk id="11" creationId="{00000000-0000-0000-0000-000000000000}"/>
          </ac:spMkLst>
        </pc:spChg>
        <pc:spChg chg="add">
          <ac:chgData name="Veselina Dinova" userId="5935860719f7b8c5" providerId="LiveId" clId="{76CA86BF-345D-47DA-A4DB-53B47647097F}" dt="2025-07-05T01:12:10.454" v="340"/>
          <ac:spMkLst>
            <pc:docMk/>
            <pc:sldMk cId="0" sldId="262"/>
            <ac:spMk id="12" creationId="{7E43252D-6F44-D12D-D9D3-F51259EE15D5}"/>
          </ac:spMkLst>
        </pc:spChg>
      </pc:sldChg>
      <pc:sldChg chg="modSp mod">
        <pc:chgData name="Veselina Dinova" userId="5935860719f7b8c5" providerId="LiveId" clId="{76CA86BF-345D-47DA-A4DB-53B47647097F}" dt="2025-07-05T01:15:02.071" v="386" actId="207"/>
        <pc:sldMkLst>
          <pc:docMk/>
          <pc:sldMk cId="0" sldId="263"/>
        </pc:sldMkLst>
        <pc:spChg chg="mod">
          <ac:chgData name="Veselina Dinova" userId="5935860719f7b8c5" providerId="LiveId" clId="{76CA86BF-345D-47DA-A4DB-53B47647097F}" dt="2025-07-05T01:15:02.071" v="386" actId="207"/>
          <ac:spMkLst>
            <pc:docMk/>
            <pc:sldMk cId="0" sldId="263"/>
            <ac:spMk id="10" creationId="{00000000-0000-0000-0000-000000000000}"/>
          </ac:spMkLst>
        </pc:spChg>
        <pc:spChg chg="mod">
          <ac:chgData name="Veselina Dinova" userId="5935860719f7b8c5" providerId="LiveId" clId="{76CA86BF-345D-47DA-A4DB-53B47647097F}" dt="2025-07-05T01:14:55.206" v="385" actId="1076"/>
          <ac:spMkLst>
            <pc:docMk/>
            <pc:sldMk cId="0" sldId="263"/>
            <ac:spMk id="11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8" y="6345287"/>
            <a:ext cx="1033881" cy="819895"/>
            <a:chOff x="0" y="0"/>
            <a:chExt cx="1378507" cy="1093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8458" cy="1093216"/>
            </a:xfrm>
            <a:custGeom>
              <a:avLst/>
              <a:gdLst/>
              <a:ahLst/>
              <a:cxnLst/>
              <a:rect l="l" t="t" r="r" b="b"/>
              <a:pathLst>
                <a:path w="1378458" h="1093216">
                  <a:moveTo>
                    <a:pt x="0" y="0"/>
                  </a:moveTo>
                  <a:lnTo>
                    <a:pt x="1378458" y="0"/>
                  </a:lnTo>
                  <a:lnTo>
                    <a:pt x="1378458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2896" y="6345287"/>
            <a:ext cx="8680704" cy="819895"/>
            <a:chOff x="0" y="0"/>
            <a:chExt cx="11574272" cy="10931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574272" cy="1093216"/>
            </a:xfrm>
            <a:custGeom>
              <a:avLst/>
              <a:gdLst/>
              <a:ahLst/>
              <a:cxnLst/>
              <a:rect l="l" t="t" r="r" b="b"/>
              <a:pathLst>
                <a:path w="11574272" h="1093216">
                  <a:moveTo>
                    <a:pt x="0" y="0"/>
                  </a:moveTo>
                  <a:lnTo>
                    <a:pt x="11574272" y="0"/>
                  </a:lnTo>
                  <a:lnTo>
                    <a:pt x="11574272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7303306" y="6547012"/>
            <a:ext cx="1962614" cy="429322"/>
            <a:chOff x="0" y="0"/>
            <a:chExt cx="2616819" cy="5724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16835" cy="572389"/>
            </a:xfrm>
            <a:custGeom>
              <a:avLst/>
              <a:gdLst/>
              <a:ahLst/>
              <a:cxnLst/>
              <a:rect l="l" t="t" r="r" b="b"/>
              <a:pathLst>
                <a:path w="2616835" h="572389">
                  <a:moveTo>
                    <a:pt x="0" y="0"/>
                  </a:moveTo>
                  <a:lnTo>
                    <a:pt x="2616835" y="0"/>
                  </a:lnTo>
                  <a:lnTo>
                    <a:pt x="2616835" y="572389"/>
                  </a:lnTo>
                  <a:lnTo>
                    <a:pt x="0" y="572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9773107" cy="7324954"/>
            <a:chOff x="0" y="0"/>
            <a:chExt cx="13030810" cy="976660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030836" cy="9766554"/>
            </a:xfrm>
            <a:custGeom>
              <a:avLst/>
              <a:gdLst/>
              <a:ahLst/>
              <a:cxnLst/>
              <a:rect l="l" t="t" r="r" b="b"/>
              <a:pathLst>
                <a:path w="13030836" h="9766554">
                  <a:moveTo>
                    <a:pt x="0" y="0"/>
                  </a:moveTo>
                  <a:lnTo>
                    <a:pt x="13030836" y="0"/>
                  </a:lnTo>
                  <a:lnTo>
                    <a:pt x="13030836" y="9766554"/>
                  </a:lnTo>
                  <a:lnTo>
                    <a:pt x="0" y="976655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38938" y="2074948"/>
            <a:ext cx="8241792" cy="3541003"/>
            <a:chOff x="0" y="0"/>
            <a:chExt cx="10989056" cy="472133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989056" cy="4721352"/>
            </a:xfrm>
            <a:custGeom>
              <a:avLst/>
              <a:gdLst/>
              <a:ahLst/>
              <a:cxnLst/>
              <a:rect l="l" t="t" r="r" b="b"/>
              <a:pathLst>
                <a:path w="10989056" h="4721352">
                  <a:moveTo>
                    <a:pt x="0" y="0"/>
                  </a:moveTo>
                  <a:lnTo>
                    <a:pt x="10989056" y="0"/>
                  </a:lnTo>
                  <a:lnTo>
                    <a:pt x="10989056" y="4721352"/>
                  </a:lnTo>
                  <a:lnTo>
                    <a:pt x="0" y="4721352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7622" y="2067565"/>
            <a:ext cx="1463040" cy="3541003"/>
            <a:chOff x="0" y="0"/>
            <a:chExt cx="1950720" cy="472133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50720" cy="4721352"/>
            </a:xfrm>
            <a:custGeom>
              <a:avLst/>
              <a:gdLst/>
              <a:ahLst/>
              <a:cxnLst/>
              <a:rect l="l" t="t" r="r" b="b"/>
              <a:pathLst>
                <a:path w="1950720" h="4721352">
                  <a:moveTo>
                    <a:pt x="0" y="0"/>
                  </a:moveTo>
                  <a:lnTo>
                    <a:pt x="1950720" y="0"/>
                  </a:lnTo>
                  <a:lnTo>
                    <a:pt x="1950720" y="4721352"/>
                  </a:lnTo>
                  <a:lnTo>
                    <a:pt x="0" y="4721352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610591" y="1077234"/>
            <a:ext cx="3225190" cy="705510"/>
            <a:chOff x="0" y="0"/>
            <a:chExt cx="4300254" cy="94068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300220" cy="940689"/>
            </a:xfrm>
            <a:custGeom>
              <a:avLst/>
              <a:gdLst/>
              <a:ahLst/>
              <a:cxnLst/>
              <a:rect l="l" t="t" r="r" b="b"/>
              <a:pathLst>
                <a:path w="4300220" h="940689">
                  <a:moveTo>
                    <a:pt x="0" y="0"/>
                  </a:moveTo>
                  <a:lnTo>
                    <a:pt x="4300220" y="0"/>
                  </a:lnTo>
                  <a:lnTo>
                    <a:pt x="4300220" y="940689"/>
                  </a:lnTo>
                  <a:lnTo>
                    <a:pt x="0" y="940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647681" y="2272453"/>
            <a:ext cx="8018572" cy="3145994"/>
            <a:chOff x="0" y="0"/>
            <a:chExt cx="10691429" cy="419465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691429" cy="4194658"/>
            </a:xfrm>
            <a:custGeom>
              <a:avLst/>
              <a:gdLst/>
              <a:ahLst/>
              <a:cxnLst/>
              <a:rect l="l" t="t" r="r" b="b"/>
              <a:pathLst>
                <a:path w="10691429" h="4194658">
                  <a:moveTo>
                    <a:pt x="0" y="0"/>
                  </a:moveTo>
                  <a:lnTo>
                    <a:pt x="10691429" y="0"/>
                  </a:lnTo>
                  <a:lnTo>
                    <a:pt x="10691429" y="4194658"/>
                  </a:lnTo>
                  <a:lnTo>
                    <a:pt x="0" y="41946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61925"/>
              <a:ext cx="10691429" cy="43565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836"/>
                </a:lnSpc>
              </a:pPr>
              <a:r>
                <a:rPr lang="en-US" sz="4266">
                  <a:solidFill>
                    <a:srgbClr val="FDB515"/>
                  </a:solidFill>
                  <a:latin typeface="Arial"/>
                  <a:ea typeface="Arial"/>
                  <a:cs typeface="Arial"/>
                  <a:sym typeface="Arial"/>
                </a:rPr>
                <a:t>Revenue Recognition </a:t>
              </a:r>
            </a:p>
          </p:txBody>
        </p:sp>
      </p:grpSp>
      <p:sp>
        <p:nvSpPr>
          <p:cNvPr id="19" name="Title 19"/>
          <p:cNvSpPr>
            <a:spLocks noGrp="1"/>
          </p:cNvSpPr>
          <p:nvPr>
            <p:ph type="title"/>
          </p:nvPr>
        </p:nvSpPr>
        <p:spPr>
          <a:xfrm>
            <a:off x="457200" y="-1000000"/>
            <a:ext cx="8839200" cy="685800"/>
          </a:xfrm>
        </p:spPr>
        <p:txBody>
          <a:bodyPr/>
          <a:lstStyle/>
          <a:p>
            <a:r>
              <a:t>Revenue Recognition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8" y="6345287"/>
            <a:ext cx="1033881" cy="819895"/>
            <a:chOff x="0" y="0"/>
            <a:chExt cx="1378507" cy="1093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8458" cy="1093216"/>
            </a:xfrm>
            <a:custGeom>
              <a:avLst/>
              <a:gdLst/>
              <a:ahLst/>
              <a:cxnLst/>
              <a:rect l="l" t="t" r="r" b="b"/>
              <a:pathLst>
                <a:path w="1378458" h="1093216">
                  <a:moveTo>
                    <a:pt x="0" y="0"/>
                  </a:moveTo>
                  <a:lnTo>
                    <a:pt x="1378458" y="0"/>
                  </a:lnTo>
                  <a:lnTo>
                    <a:pt x="1378458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2896" y="6345287"/>
            <a:ext cx="8680704" cy="819895"/>
            <a:chOff x="0" y="0"/>
            <a:chExt cx="11574272" cy="10931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574272" cy="1093216"/>
            </a:xfrm>
            <a:custGeom>
              <a:avLst/>
              <a:gdLst/>
              <a:ahLst/>
              <a:cxnLst/>
              <a:rect l="l" t="t" r="r" b="b"/>
              <a:pathLst>
                <a:path w="11574272" h="1093216">
                  <a:moveTo>
                    <a:pt x="0" y="0"/>
                  </a:moveTo>
                  <a:lnTo>
                    <a:pt x="11574272" y="0"/>
                  </a:lnTo>
                  <a:lnTo>
                    <a:pt x="11574272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7303306" y="6547012"/>
            <a:ext cx="1962614" cy="429322"/>
            <a:chOff x="0" y="0"/>
            <a:chExt cx="2616819" cy="5724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16835" cy="572389"/>
            </a:xfrm>
            <a:custGeom>
              <a:avLst/>
              <a:gdLst/>
              <a:ahLst/>
              <a:cxnLst/>
              <a:rect l="l" t="t" r="r" b="b"/>
              <a:pathLst>
                <a:path w="2616835" h="572389">
                  <a:moveTo>
                    <a:pt x="0" y="0"/>
                  </a:moveTo>
                  <a:lnTo>
                    <a:pt x="2616835" y="0"/>
                  </a:lnTo>
                  <a:lnTo>
                    <a:pt x="2616835" y="572389"/>
                  </a:lnTo>
                  <a:lnTo>
                    <a:pt x="0" y="572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87680" y="416313"/>
            <a:ext cx="8778240" cy="1131518"/>
            <a:chOff x="0" y="0"/>
            <a:chExt cx="11704320" cy="15086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704320" cy="1508690"/>
            </a:xfrm>
            <a:custGeom>
              <a:avLst/>
              <a:gdLst/>
              <a:ahLst/>
              <a:cxnLst/>
              <a:rect l="l" t="t" r="r" b="b"/>
              <a:pathLst>
                <a:path w="11704320" h="1508690">
                  <a:moveTo>
                    <a:pt x="0" y="0"/>
                  </a:moveTo>
                  <a:lnTo>
                    <a:pt x="11704320" y="0"/>
                  </a:lnTo>
                  <a:lnTo>
                    <a:pt x="11704320" y="1508690"/>
                  </a:lnTo>
                  <a:lnTo>
                    <a:pt x="0" y="15086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1704320" cy="157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95"/>
                </a:lnSpc>
              </a:pPr>
              <a:r>
                <a:rPr lang="en-US" sz="3413" dirty="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  <a:r>
                <a:rPr lang="en-US" sz="3413" dirty="0">
                  <a:solidFill>
                    <a:srgbClr val="15284B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79120" y="1564142"/>
            <a:ext cx="8595360" cy="3657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1"/>
              </a:lnSpc>
            </a:pPr>
            <a:r>
              <a:rPr lang="en-US" sz="23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Revenue is the </a:t>
            </a: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most important item </a:t>
            </a:r>
            <a:r>
              <a:rPr lang="en-US" sz="23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on the income statement</a:t>
            </a: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algn="l">
              <a:lnSpc>
                <a:spcPts val="3191"/>
              </a:lnSpc>
            </a:pPr>
            <a:endParaRPr lang="en-US" sz="2300" dirty="0">
              <a:solidFill>
                <a:srgbClr val="0027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191"/>
              </a:lnSpc>
            </a:pP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There is </a:t>
            </a: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room for interpretation </a:t>
            </a:r>
            <a:r>
              <a:rPr lang="en-US" sz="23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of the guidelines - often, the assumptions and estimates are determined by management. </a:t>
            </a:r>
          </a:p>
          <a:p>
            <a:pPr marL="300284" lvl="1" indent="-150142" algn="l">
              <a:lnSpc>
                <a:spcPts val="3191"/>
              </a:lnSpc>
            </a:pPr>
            <a:endParaRPr lang="en-US" sz="2300" dirty="0">
              <a:solidFill>
                <a:srgbClr val="0027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3191"/>
              </a:lnSpc>
            </a:pP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Misreporting revenue </a:t>
            </a:r>
            <a:r>
              <a:rPr lang="en-US" sz="23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may result in:</a:t>
            </a:r>
          </a:p>
          <a:p>
            <a:pPr marL="594783" lvl="1" indent="-342900" algn="l">
              <a:lnSpc>
                <a:spcPts val="3191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Different performance metrics</a:t>
            </a:r>
          </a:p>
          <a:p>
            <a:pPr marL="594783" lvl="1" indent="-342900" algn="l">
              <a:lnSpc>
                <a:spcPts val="3191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Peer-comparison issues </a:t>
            </a:r>
          </a:p>
          <a:p>
            <a:pPr marL="594783" lvl="1" indent="-342900" algn="l">
              <a:lnSpc>
                <a:spcPts val="3191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Forecasting and valuation errors </a:t>
            </a:r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>
          <a:xfrm>
            <a:off x="457200" y="-1000000"/>
            <a:ext cx="8839200" cy="685800"/>
          </a:xfrm>
        </p:spPr>
        <p:txBody>
          <a:bodyPr/>
          <a:lstStyle/>
          <a:p>
            <a: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8" y="6345287"/>
            <a:ext cx="1033881" cy="819895"/>
            <a:chOff x="0" y="0"/>
            <a:chExt cx="1378507" cy="1093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8458" cy="1093216"/>
            </a:xfrm>
            <a:custGeom>
              <a:avLst/>
              <a:gdLst/>
              <a:ahLst/>
              <a:cxnLst/>
              <a:rect l="l" t="t" r="r" b="b"/>
              <a:pathLst>
                <a:path w="1378458" h="1093216">
                  <a:moveTo>
                    <a:pt x="0" y="0"/>
                  </a:moveTo>
                  <a:lnTo>
                    <a:pt x="1378458" y="0"/>
                  </a:lnTo>
                  <a:lnTo>
                    <a:pt x="1378458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2896" y="6345287"/>
            <a:ext cx="8680704" cy="819895"/>
            <a:chOff x="0" y="0"/>
            <a:chExt cx="11574272" cy="10931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574272" cy="1093216"/>
            </a:xfrm>
            <a:custGeom>
              <a:avLst/>
              <a:gdLst/>
              <a:ahLst/>
              <a:cxnLst/>
              <a:rect l="l" t="t" r="r" b="b"/>
              <a:pathLst>
                <a:path w="11574272" h="1093216">
                  <a:moveTo>
                    <a:pt x="0" y="0"/>
                  </a:moveTo>
                  <a:lnTo>
                    <a:pt x="11574272" y="0"/>
                  </a:lnTo>
                  <a:lnTo>
                    <a:pt x="11574272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7303306" y="6547012"/>
            <a:ext cx="1962614" cy="429322"/>
            <a:chOff x="0" y="0"/>
            <a:chExt cx="2616819" cy="5724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16835" cy="572389"/>
            </a:xfrm>
            <a:custGeom>
              <a:avLst/>
              <a:gdLst/>
              <a:ahLst/>
              <a:cxnLst/>
              <a:rect l="l" t="t" r="r" b="b"/>
              <a:pathLst>
                <a:path w="2616835" h="572389">
                  <a:moveTo>
                    <a:pt x="0" y="0"/>
                  </a:moveTo>
                  <a:lnTo>
                    <a:pt x="2616835" y="0"/>
                  </a:lnTo>
                  <a:lnTo>
                    <a:pt x="2616835" y="572389"/>
                  </a:lnTo>
                  <a:lnTo>
                    <a:pt x="0" y="572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87680" y="416313"/>
            <a:ext cx="8778240" cy="1131518"/>
            <a:chOff x="0" y="0"/>
            <a:chExt cx="11704320" cy="15086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704320" cy="1508690"/>
            </a:xfrm>
            <a:custGeom>
              <a:avLst/>
              <a:gdLst/>
              <a:ahLst/>
              <a:cxnLst/>
              <a:rect l="l" t="t" r="r" b="b"/>
              <a:pathLst>
                <a:path w="11704320" h="1508690">
                  <a:moveTo>
                    <a:pt x="0" y="0"/>
                  </a:moveTo>
                  <a:lnTo>
                    <a:pt x="11704320" y="0"/>
                  </a:lnTo>
                  <a:lnTo>
                    <a:pt x="11704320" y="1508690"/>
                  </a:lnTo>
                  <a:lnTo>
                    <a:pt x="0" y="15086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1704320" cy="157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95"/>
                </a:lnSpc>
              </a:pPr>
              <a:r>
                <a:rPr lang="en-US" sz="3413" dirty="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What revenue reflects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70560" y="1643710"/>
            <a:ext cx="8595360" cy="308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1"/>
              </a:lnSpc>
            </a:pPr>
            <a:r>
              <a:rPr lang="en-US" sz="23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Revenue</a:t>
            </a: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reflects</a:t>
            </a: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pPr algn="l">
              <a:lnSpc>
                <a:spcPts val="3191"/>
              </a:lnSpc>
            </a:pPr>
            <a:endParaRPr lang="en-US" sz="2300" dirty="0">
              <a:solidFill>
                <a:srgbClr val="00274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03765" lvl="1" indent="-251882" algn="l">
              <a:lnSpc>
                <a:spcPts val="3191"/>
              </a:lnSpc>
              <a:buFont typeface="Arial"/>
              <a:buChar char="•"/>
            </a:pPr>
            <a:r>
              <a:rPr lang="en-US" sz="23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The product or service offered</a:t>
            </a:r>
          </a:p>
          <a:p>
            <a:pPr marL="503765" lvl="1" indent="-251882" algn="l">
              <a:lnSpc>
                <a:spcPts val="3191"/>
              </a:lnSpc>
              <a:buFont typeface="Arial"/>
              <a:buChar char="•"/>
            </a:pPr>
            <a:r>
              <a:rPr lang="en-US" sz="23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The business model  </a:t>
            </a:r>
          </a:p>
          <a:p>
            <a:pPr algn="l">
              <a:lnSpc>
                <a:spcPts val="2918"/>
              </a:lnSpc>
            </a:pPr>
            <a:endParaRPr lang="en-US" sz="2300" dirty="0">
              <a:solidFill>
                <a:srgbClr val="00274C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2918"/>
              </a:lnSpc>
            </a:pP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274546" lvl="1" indent="-137273" algn="l">
              <a:lnSpc>
                <a:spcPts val="2918"/>
              </a:lnSpc>
            </a:pPr>
            <a:endParaRPr lang="en-US" sz="2300" dirty="0">
              <a:solidFill>
                <a:srgbClr val="00274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546" lvl="1" indent="-137273" algn="l">
              <a:lnSpc>
                <a:spcPts val="2918"/>
              </a:lnSpc>
            </a:pPr>
            <a:endParaRPr lang="en-US" sz="2300" dirty="0">
              <a:solidFill>
                <a:srgbClr val="00274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>
          <a:xfrm>
            <a:off x="457200" y="-1000000"/>
            <a:ext cx="8839200" cy="685800"/>
          </a:xfrm>
        </p:spPr>
        <p:txBody>
          <a:bodyPr/>
          <a:lstStyle/>
          <a:p>
            <a:r>
              <a:t>What revenue reflects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8" y="6345287"/>
            <a:ext cx="1033881" cy="819895"/>
            <a:chOff x="0" y="0"/>
            <a:chExt cx="1378507" cy="1093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8458" cy="1093216"/>
            </a:xfrm>
            <a:custGeom>
              <a:avLst/>
              <a:gdLst/>
              <a:ahLst/>
              <a:cxnLst/>
              <a:rect l="l" t="t" r="r" b="b"/>
              <a:pathLst>
                <a:path w="1378458" h="1093216">
                  <a:moveTo>
                    <a:pt x="0" y="0"/>
                  </a:moveTo>
                  <a:lnTo>
                    <a:pt x="1378458" y="0"/>
                  </a:lnTo>
                  <a:lnTo>
                    <a:pt x="1378458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2896" y="6345287"/>
            <a:ext cx="8680704" cy="819895"/>
            <a:chOff x="0" y="0"/>
            <a:chExt cx="11574272" cy="10931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574272" cy="1093216"/>
            </a:xfrm>
            <a:custGeom>
              <a:avLst/>
              <a:gdLst/>
              <a:ahLst/>
              <a:cxnLst/>
              <a:rect l="l" t="t" r="r" b="b"/>
              <a:pathLst>
                <a:path w="11574272" h="1093216">
                  <a:moveTo>
                    <a:pt x="0" y="0"/>
                  </a:moveTo>
                  <a:lnTo>
                    <a:pt x="11574272" y="0"/>
                  </a:lnTo>
                  <a:lnTo>
                    <a:pt x="11574272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7303306" y="6547012"/>
            <a:ext cx="1962614" cy="429322"/>
            <a:chOff x="0" y="0"/>
            <a:chExt cx="2616819" cy="5724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16835" cy="572389"/>
            </a:xfrm>
            <a:custGeom>
              <a:avLst/>
              <a:gdLst/>
              <a:ahLst/>
              <a:cxnLst/>
              <a:rect l="l" t="t" r="r" b="b"/>
              <a:pathLst>
                <a:path w="2616835" h="572389">
                  <a:moveTo>
                    <a:pt x="0" y="0"/>
                  </a:moveTo>
                  <a:lnTo>
                    <a:pt x="2616835" y="0"/>
                  </a:lnTo>
                  <a:lnTo>
                    <a:pt x="2616835" y="572389"/>
                  </a:lnTo>
                  <a:lnTo>
                    <a:pt x="0" y="572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31223" y="411330"/>
            <a:ext cx="8778240" cy="1131518"/>
            <a:chOff x="0" y="0"/>
            <a:chExt cx="11704320" cy="15086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704320" cy="1508690"/>
            </a:xfrm>
            <a:custGeom>
              <a:avLst/>
              <a:gdLst/>
              <a:ahLst/>
              <a:cxnLst/>
              <a:rect l="l" t="t" r="r" b="b"/>
              <a:pathLst>
                <a:path w="11704320" h="1508690">
                  <a:moveTo>
                    <a:pt x="0" y="0"/>
                  </a:moveTo>
                  <a:lnTo>
                    <a:pt x="11704320" y="0"/>
                  </a:lnTo>
                  <a:lnTo>
                    <a:pt x="11704320" y="1508690"/>
                  </a:lnTo>
                  <a:lnTo>
                    <a:pt x="0" y="15086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1704320" cy="157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95"/>
                </a:lnSpc>
              </a:pPr>
              <a:r>
                <a:rPr lang="en-US" sz="3413" dirty="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Revenue - how much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79120" y="1676400"/>
            <a:ext cx="8595360" cy="3218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1"/>
              </a:lnSpc>
            </a:pPr>
            <a:r>
              <a:rPr lang="en-US" sz="2300" dirty="0">
                <a:solidFill>
                  <a:srgbClr val="002060"/>
                </a:solidFill>
                <a:latin typeface="Arial"/>
                <a:cs typeface="Arial"/>
                <a:sym typeface="Arial"/>
              </a:rPr>
              <a:t>Report revenue </a:t>
            </a: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NET </a:t>
            </a:r>
            <a:r>
              <a:rPr lang="en-US" sz="2300" dirty="0">
                <a:solidFill>
                  <a:srgbClr val="002060"/>
                </a:solidFill>
                <a:latin typeface="Arial"/>
                <a:cs typeface="Arial"/>
                <a:sym typeface="Arial"/>
              </a:rPr>
              <a:t>of estimated returns and discounts. </a:t>
            </a:r>
          </a:p>
          <a:p>
            <a:pPr algn="l">
              <a:lnSpc>
                <a:spcPts val="3191"/>
              </a:lnSpc>
            </a:pPr>
            <a:endParaRPr lang="en-US" sz="2300" dirty="0">
              <a:solidFill>
                <a:srgbClr val="002060"/>
              </a:solidFill>
              <a:latin typeface="Arial"/>
              <a:cs typeface="Arial"/>
              <a:sym typeface="Arial"/>
            </a:endParaRPr>
          </a:p>
          <a:p>
            <a:pPr algn="l">
              <a:lnSpc>
                <a:spcPts val="3191"/>
              </a:lnSpc>
            </a:pPr>
            <a:r>
              <a:rPr lang="en-US" sz="2300" dirty="0">
                <a:solidFill>
                  <a:srgbClr val="002060"/>
                </a:solidFill>
                <a:latin typeface="Arial"/>
                <a:cs typeface="Arial"/>
                <a:sym typeface="Arial"/>
              </a:rPr>
              <a:t>Examples: </a:t>
            </a:r>
          </a:p>
          <a:p>
            <a:pPr marL="493042" lvl="1" indent="-342900" algn="l">
              <a:lnSpc>
                <a:spcPts val="3191"/>
              </a:lnSpc>
              <a:buFont typeface="Arial" panose="020B0604020202020204" pitchFamily="34" charset="0"/>
              <a:buChar char="•"/>
            </a:pPr>
            <a:r>
              <a:rPr lang="en-US" sz="2300" b="1" dirty="0">
                <a:solidFill>
                  <a:srgbClr val="FDB515"/>
                </a:solidFill>
                <a:latin typeface="Arial Bold"/>
                <a:cs typeface="Arial Bold"/>
                <a:sym typeface="Arial"/>
              </a:rPr>
              <a:t>C</a:t>
            </a:r>
            <a:r>
              <a:rPr lang="en-US" sz="2300" b="1" dirty="0">
                <a:solidFill>
                  <a:srgbClr val="FDB515"/>
                </a:solidFill>
                <a:latin typeface="Arial Bold"/>
                <a:cs typeface="Arial Bold"/>
                <a:sym typeface="Arial Bold"/>
              </a:rPr>
              <a:t>r</a:t>
            </a: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edit card fees </a:t>
            </a:r>
            <a:r>
              <a:rPr lang="en-US" sz="23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to pay for the products or services</a:t>
            </a:r>
          </a:p>
          <a:p>
            <a:pPr marL="493042" lvl="1" indent="-342900">
              <a:lnSpc>
                <a:spcPts val="3191"/>
              </a:lnSpc>
              <a:buFont typeface="Arial" panose="020B0604020202020204" pitchFamily="34" charset="0"/>
              <a:buChar char="•"/>
            </a:pPr>
            <a:r>
              <a:rPr lang="en-US" sz="2300" b="1" dirty="0">
                <a:solidFill>
                  <a:srgbClr val="FDB515"/>
                </a:solidFill>
                <a:latin typeface="Arial Bold"/>
                <a:cs typeface="Arial Bold"/>
                <a:sym typeface="Arial"/>
              </a:rPr>
              <a:t>Right of </a:t>
            </a:r>
            <a:r>
              <a:rPr lang="en-US" sz="2300" b="1" dirty="0">
                <a:solidFill>
                  <a:srgbClr val="FDB515"/>
                </a:solidFill>
                <a:latin typeface="Arial Bold"/>
                <a:cs typeface="Arial Bold"/>
                <a:sym typeface="Arial Bold"/>
              </a:rPr>
              <a:t>return</a:t>
            </a:r>
            <a:r>
              <a:rPr lang="en-US" sz="2300" b="1" dirty="0">
                <a:solidFill>
                  <a:srgbClr val="FDB515"/>
                </a:solidFill>
                <a:latin typeface="Arial Bold"/>
                <a:cs typeface="Arial Bold"/>
                <a:sym typeface="Arial"/>
              </a:rPr>
              <a:t> </a:t>
            </a:r>
            <a:r>
              <a:rPr lang="en-US" sz="2300" dirty="0">
                <a:solidFill>
                  <a:srgbClr val="002060"/>
                </a:solidFill>
                <a:latin typeface="Arial"/>
                <a:cs typeface="Arial"/>
                <a:sym typeface="Arial"/>
              </a:rPr>
              <a:t>the products under certain conditions</a:t>
            </a:r>
          </a:p>
          <a:p>
            <a:pPr marL="493042" lvl="1" indent="-342900">
              <a:lnSpc>
                <a:spcPts val="3191"/>
              </a:lnSpc>
              <a:buFont typeface="Arial" panose="020B0604020202020204" pitchFamily="34" charset="0"/>
              <a:buChar char="•"/>
            </a:pPr>
            <a:r>
              <a:rPr lang="en-US" sz="2300" b="1" dirty="0">
                <a:solidFill>
                  <a:srgbClr val="FDB515"/>
                </a:solidFill>
                <a:latin typeface="Arial Bold"/>
                <a:cs typeface="Arial Bold"/>
                <a:sym typeface="Arial"/>
              </a:rPr>
              <a:t>Trade </a:t>
            </a:r>
            <a:r>
              <a:rPr lang="en-US" sz="2300" b="1" dirty="0">
                <a:solidFill>
                  <a:srgbClr val="FDB515"/>
                </a:solidFill>
                <a:latin typeface="Arial Bold"/>
                <a:cs typeface="Arial Bold"/>
                <a:sym typeface="Arial Bold"/>
              </a:rPr>
              <a:t>credit </a:t>
            </a:r>
            <a:r>
              <a:rPr lang="en-US" sz="2300" dirty="0">
                <a:solidFill>
                  <a:srgbClr val="00274C"/>
                </a:solidFill>
                <a:latin typeface="Arial"/>
                <a:cs typeface="Arial"/>
                <a:sym typeface="Arial Bold"/>
              </a:rPr>
              <a:t>and </a:t>
            </a: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early pay discounts </a:t>
            </a:r>
            <a:r>
              <a:rPr lang="en-US" sz="2300" dirty="0">
                <a:solidFill>
                  <a:srgbClr val="002060"/>
                </a:solidFill>
                <a:latin typeface="Arial"/>
                <a:cs typeface="Arial"/>
                <a:sym typeface="Arial"/>
              </a:rPr>
              <a:t>to business customers</a:t>
            </a:r>
          </a:p>
          <a:p>
            <a:pPr marL="493042" lvl="1" indent="-342900" algn="l">
              <a:lnSpc>
                <a:spcPts val="3191"/>
              </a:lnSpc>
              <a:buFont typeface="Arial" panose="020B0604020202020204" pitchFamily="34" charset="0"/>
              <a:buChar char="•"/>
            </a:pPr>
            <a:r>
              <a:rPr lang="en-US" sz="2300" b="1" dirty="0">
                <a:solidFill>
                  <a:srgbClr val="FDB515"/>
                </a:solidFill>
                <a:latin typeface="Arial Bold"/>
                <a:cs typeface="Arial Bold"/>
                <a:sym typeface="Arial"/>
              </a:rPr>
              <a:t>Volume r</a:t>
            </a:r>
            <a:r>
              <a:rPr lang="en-US" sz="2300" b="1" dirty="0">
                <a:solidFill>
                  <a:srgbClr val="FDB515"/>
                </a:solidFill>
                <a:latin typeface="Arial Bold"/>
                <a:cs typeface="Arial Bold"/>
                <a:sym typeface="Arial Bold"/>
              </a:rPr>
              <a:t>ebates</a:t>
            </a:r>
            <a:r>
              <a:rPr lang="en-US" sz="2300" b="1" dirty="0">
                <a:solidFill>
                  <a:srgbClr val="FDB515"/>
                </a:solidFill>
                <a:latin typeface="Arial Bold"/>
                <a:cs typeface="Arial Bold"/>
                <a:sym typeface="Arial"/>
              </a:rPr>
              <a:t> </a:t>
            </a: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discounts</a:t>
            </a:r>
            <a:endParaRPr lang="en-US" sz="2300" dirty="0">
              <a:solidFill>
                <a:srgbClr val="00274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4546" lvl="1" indent="-137273" algn="l">
              <a:lnSpc>
                <a:spcPts val="2918"/>
              </a:lnSpc>
            </a:pPr>
            <a:endParaRPr lang="en-US" sz="2300" dirty="0">
              <a:solidFill>
                <a:srgbClr val="00274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>
          <a:xfrm>
            <a:off x="457200" y="-1000000"/>
            <a:ext cx="8839200" cy="685800"/>
          </a:xfrm>
        </p:spPr>
        <p:txBody>
          <a:bodyPr/>
          <a:lstStyle/>
          <a:p>
            <a:r>
              <a:t>Revenue - how much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8" y="6345287"/>
            <a:ext cx="1033881" cy="819895"/>
            <a:chOff x="0" y="0"/>
            <a:chExt cx="1378507" cy="1093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8458" cy="1093216"/>
            </a:xfrm>
            <a:custGeom>
              <a:avLst/>
              <a:gdLst/>
              <a:ahLst/>
              <a:cxnLst/>
              <a:rect l="l" t="t" r="r" b="b"/>
              <a:pathLst>
                <a:path w="1378458" h="1093216">
                  <a:moveTo>
                    <a:pt x="0" y="0"/>
                  </a:moveTo>
                  <a:lnTo>
                    <a:pt x="1378458" y="0"/>
                  </a:lnTo>
                  <a:lnTo>
                    <a:pt x="1378458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2896" y="6345287"/>
            <a:ext cx="8680704" cy="819895"/>
            <a:chOff x="0" y="0"/>
            <a:chExt cx="11574272" cy="10931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574272" cy="1093216"/>
            </a:xfrm>
            <a:custGeom>
              <a:avLst/>
              <a:gdLst/>
              <a:ahLst/>
              <a:cxnLst/>
              <a:rect l="l" t="t" r="r" b="b"/>
              <a:pathLst>
                <a:path w="11574272" h="1093216">
                  <a:moveTo>
                    <a:pt x="0" y="0"/>
                  </a:moveTo>
                  <a:lnTo>
                    <a:pt x="11574272" y="0"/>
                  </a:lnTo>
                  <a:lnTo>
                    <a:pt x="11574272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7303306" y="6547012"/>
            <a:ext cx="1962614" cy="429322"/>
            <a:chOff x="0" y="0"/>
            <a:chExt cx="2616819" cy="5724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16835" cy="572389"/>
            </a:xfrm>
            <a:custGeom>
              <a:avLst/>
              <a:gdLst/>
              <a:ahLst/>
              <a:cxnLst/>
              <a:rect l="l" t="t" r="r" b="b"/>
              <a:pathLst>
                <a:path w="2616835" h="572389">
                  <a:moveTo>
                    <a:pt x="0" y="0"/>
                  </a:moveTo>
                  <a:lnTo>
                    <a:pt x="2616835" y="0"/>
                  </a:lnTo>
                  <a:lnTo>
                    <a:pt x="2616835" y="572389"/>
                  </a:lnTo>
                  <a:lnTo>
                    <a:pt x="0" y="572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87680" y="416313"/>
            <a:ext cx="8778240" cy="1131518"/>
            <a:chOff x="0" y="0"/>
            <a:chExt cx="11704320" cy="15086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704320" cy="1508690"/>
            </a:xfrm>
            <a:custGeom>
              <a:avLst/>
              <a:gdLst/>
              <a:ahLst/>
              <a:cxnLst/>
              <a:rect l="l" t="t" r="r" b="b"/>
              <a:pathLst>
                <a:path w="11704320" h="1508690">
                  <a:moveTo>
                    <a:pt x="0" y="0"/>
                  </a:moveTo>
                  <a:lnTo>
                    <a:pt x="11704320" y="0"/>
                  </a:lnTo>
                  <a:lnTo>
                    <a:pt x="11704320" y="1508690"/>
                  </a:lnTo>
                  <a:lnTo>
                    <a:pt x="0" y="15086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1704320" cy="157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95"/>
                </a:lnSpc>
              </a:pPr>
              <a:r>
                <a:rPr lang="en-US" sz="3413" dirty="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Revenue – when 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79120" y="1564142"/>
            <a:ext cx="8595360" cy="3648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3"/>
              </a:lnSpc>
            </a:pP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Revenue is recognized when:</a:t>
            </a:r>
          </a:p>
          <a:p>
            <a:pPr algn="l">
              <a:lnSpc>
                <a:spcPts val="3163"/>
              </a:lnSpc>
            </a:pPr>
            <a:endParaRPr lang="en-US" sz="2300" b="1" dirty="0">
              <a:solidFill>
                <a:srgbClr val="FDB515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493042" lvl="1" indent="-342900">
              <a:lnSpc>
                <a:spcPts val="3163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The revenue is </a:t>
            </a: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earned</a:t>
            </a: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300" dirty="0">
                <a:solidFill>
                  <a:srgbClr val="002060"/>
                </a:solidFill>
                <a:latin typeface="Arial"/>
                <a:cs typeface="Arial"/>
                <a:sym typeface="Arial"/>
              </a:rPr>
              <a:t>– a product is developed and delivered, or a service is performed; the performance obligation is completed. </a:t>
            </a:r>
          </a:p>
          <a:p>
            <a:pPr marL="493042" lvl="1" indent="-342900" algn="l">
              <a:lnSpc>
                <a:spcPts val="3163"/>
              </a:lnSpc>
              <a:buFont typeface="Arial" panose="020B0604020202020204" pitchFamily="34" charset="0"/>
              <a:buChar char="•"/>
            </a:pPr>
            <a:endParaRPr lang="en-US" sz="2300" dirty="0">
              <a:solidFill>
                <a:srgbClr val="00274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3042" lvl="1" indent="-342900" algn="l">
              <a:lnSpc>
                <a:spcPts val="3163"/>
              </a:lnSpc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The revenue is </a:t>
            </a: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realized or realizable </a:t>
            </a:r>
            <a:r>
              <a:rPr lang="en-US" sz="23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– the price is determined and collection is probable. </a:t>
            </a:r>
          </a:p>
          <a:p>
            <a:pPr marL="300284" lvl="1" indent="-150142" algn="l">
              <a:lnSpc>
                <a:spcPts val="3135"/>
              </a:lnSpc>
            </a:pPr>
            <a:endParaRPr lang="en-US" sz="2300" dirty="0">
              <a:solidFill>
                <a:srgbClr val="00274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>
          <a:xfrm>
            <a:off x="457200" y="-1000000"/>
            <a:ext cx="8839200" cy="685800"/>
          </a:xfrm>
        </p:spPr>
        <p:txBody>
          <a:bodyPr/>
          <a:lstStyle/>
          <a:p>
            <a:r>
              <a:t>Revenue – when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8" y="6345287"/>
            <a:ext cx="1033881" cy="819895"/>
            <a:chOff x="0" y="0"/>
            <a:chExt cx="1378507" cy="1093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8458" cy="1093216"/>
            </a:xfrm>
            <a:custGeom>
              <a:avLst/>
              <a:gdLst/>
              <a:ahLst/>
              <a:cxnLst/>
              <a:rect l="l" t="t" r="r" b="b"/>
              <a:pathLst>
                <a:path w="1378458" h="1093216">
                  <a:moveTo>
                    <a:pt x="0" y="0"/>
                  </a:moveTo>
                  <a:lnTo>
                    <a:pt x="1378458" y="0"/>
                  </a:lnTo>
                  <a:lnTo>
                    <a:pt x="1378458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2896" y="6345287"/>
            <a:ext cx="8680704" cy="819895"/>
            <a:chOff x="0" y="0"/>
            <a:chExt cx="11574272" cy="10931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574272" cy="1093216"/>
            </a:xfrm>
            <a:custGeom>
              <a:avLst/>
              <a:gdLst/>
              <a:ahLst/>
              <a:cxnLst/>
              <a:rect l="l" t="t" r="r" b="b"/>
              <a:pathLst>
                <a:path w="11574272" h="1093216">
                  <a:moveTo>
                    <a:pt x="0" y="0"/>
                  </a:moveTo>
                  <a:lnTo>
                    <a:pt x="11574272" y="0"/>
                  </a:lnTo>
                  <a:lnTo>
                    <a:pt x="11574272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7303306" y="6547012"/>
            <a:ext cx="1962614" cy="429322"/>
            <a:chOff x="0" y="0"/>
            <a:chExt cx="2616819" cy="5724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16835" cy="572389"/>
            </a:xfrm>
            <a:custGeom>
              <a:avLst/>
              <a:gdLst/>
              <a:ahLst/>
              <a:cxnLst/>
              <a:rect l="l" t="t" r="r" b="b"/>
              <a:pathLst>
                <a:path w="2616835" h="572389">
                  <a:moveTo>
                    <a:pt x="0" y="0"/>
                  </a:moveTo>
                  <a:lnTo>
                    <a:pt x="2616835" y="0"/>
                  </a:lnTo>
                  <a:lnTo>
                    <a:pt x="2616835" y="572389"/>
                  </a:lnTo>
                  <a:lnTo>
                    <a:pt x="0" y="572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87680" y="416313"/>
            <a:ext cx="8778240" cy="1131518"/>
            <a:chOff x="0" y="0"/>
            <a:chExt cx="11704320" cy="15086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704320" cy="1508690"/>
            </a:xfrm>
            <a:custGeom>
              <a:avLst/>
              <a:gdLst/>
              <a:ahLst/>
              <a:cxnLst/>
              <a:rect l="l" t="t" r="r" b="b"/>
              <a:pathLst>
                <a:path w="11704320" h="1508690">
                  <a:moveTo>
                    <a:pt x="0" y="0"/>
                  </a:moveTo>
                  <a:lnTo>
                    <a:pt x="11704320" y="0"/>
                  </a:lnTo>
                  <a:lnTo>
                    <a:pt x="11704320" y="1508690"/>
                  </a:lnTo>
                  <a:lnTo>
                    <a:pt x="0" y="15086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1704320" cy="157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95"/>
                </a:lnSpc>
              </a:pPr>
              <a:r>
                <a:rPr lang="en-US" sz="3413" dirty="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Revenue recognition – a few examples 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35474" y="1590152"/>
            <a:ext cx="8595360" cy="4436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3042" lvl="1" indent="-342900" algn="l">
              <a:lnSpc>
                <a:spcPts val="3191"/>
              </a:lnSpc>
              <a:buFont typeface="Arial" panose="020B0604020202020204" pitchFamily="34" charset="0"/>
              <a:buChar char="•"/>
            </a:pP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Physical product to end-user </a:t>
            </a:r>
            <a:r>
              <a:rPr lang="en-US" sz="2300" dirty="0">
                <a:solidFill>
                  <a:srgbClr val="002060"/>
                </a:solidFill>
                <a:latin typeface="Arial"/>
                <a:cs typeface="Arial"/>
                <a:sym typeface="Arial"/>
              </a:rPr>
              <a:t>(Walmart) – when the customer receives the product</a:t>
            </a: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342900" indent="-342900" algn="l">
              <a:lnSpc>
                <a:spcPts val="3191"/>
              </a:lnSpc>
              <a:buFont typeface="Arial" panose="020B0604020202020204" pitchFamily="34" charset="0"/>
              <a:buChar char="•"/>
            </a:pPr>
            <a:endParaRPr lang="en-US" sz="2300" dirty="0">
              <a:solidFill>
                <a:srgbClr val="00274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3042" lvl="1" indent="-342900">
              <a:lnSpc>
                <a:spcPts val="3191"/>
              </a:lnSpc>
              <a:buFont typeface="Arial" panose="020B0604020202020204" pitchFamily="34" charset="0"/>
              <a:buChar char="•"/>
            </a:pP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Service to a business client </a:t>
            </a:r>
            <a:r>
              <a:rPr lang="en-US" sz="2300" dirty="0">
                <a:solidFill>
                  <a:srgbClr val="002060"/>
                </a:solidFill>
                <a:latin typeface="Arial"/>
                <a:cs typeface="Arial"/>
                <a:sym typeface="Arial"/>
              </a:rPr>
              <a:t>(Google) – when the business client receives the services and promises to pay </a:t>
            </a:r>
          </a:p>
          <a:p>
            <a:pPr marL="342900" indent="-342900" algn="l">
              <a:lnSpc>
                <a:spcPts val="3191"/>
              </a:lnSpc>
              <a:buFont typeface="Arial" panose="020B0604020202020204" pitchFamily="34" charset="0"/>
              <a:buChar char="•"/>
            </a:pPr>
            <a:endParaRPr lang="en-US" sz="2300" dirty="0">
              <a:solidFill>
                <a:srgbClr val="00274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3042" lvl="1" indent="-342900" algn="l">
              <a:lnSpc>
                <a:spcPts val="3191"/>
              </a:lnSpc>
              <a:buFont typeface="Arial" panose="020B0604020202020204" pitchFamily="34" charset="0"/>
              <a:buChar char="•"/>
            </a:pP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Subscription</a:t>
            </a: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300" dirty="0">
                <a:solidFill>
                  <a:srgbClr val="002060"/>
                </a:solidFill>
                <a:latin typeface="Arial"/>
                <a:cs typeface="Arial"/>
                <a:sym typeface="Arial"/>
              </a:rPr>
              <a:t>(Salesforce) – over time as the customer uses the software </a:t>
            </a:r>
          </a:p>
          <a:p>
            <a:pPr marL="342900" indent="-342900" algn="l">
              <a:lnSpc>
                <a:spcPts val="3191"/>
              </a:lnSpc>
              <a:buFont typeface="Arial" panose="020B0604020202020204" pitchFamily="34" charset="0"/>
              <a:buChar char="•"/>
            </a:pPr>
            <a:endParaRPr lang="en-US" sz="2300" dirty="0">
              <a:solidFill>
                <a:srgbClr val="00274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3042" lvl="1" indent="-342900" algn="l">
              <a:lnSpc>
                <a:spcPts val="3191"/>
              </a:lnSpc>
              <a:buFont typeface="Arial" panose="020B0604020202020204" pitchFamily="34" charset="0"/>
              <a:buChar char="•"/>
            </a:pP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Long-term project (construction) – over time, by milestones or % of costs incurred</a:t>
            </a:r>
            <a:r>
              <a:rPr lang="en-US" sz="2300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/>
            </a:r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>
          <a:xfrm>
            <a:off x="457200" y="-1000000"/>
            <a:ext cx="8839200" cy="685800"/>
          </a:xfrm>
        </p:spPr>
        <p:txBody>
          <a:bodyPr/>
          <a:lstStyle/>
          <a:p>
            <a:r>
              <a:t>Revenue recognition – a few examples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08" y="6345287"/>
            <a:ext cx="1033881" cy="819895"/>
            <a:chOff x="0" y="0"/>
            <a:chExt cx="1378507" cy="10931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78458" cy="1093216"/>
            </a:xfrm>
            <a:custGeom>
              <a:avLst/>
              <a:gdLst/>
              <a:ahLst/>
              <a:cxnLst/>
              <a:rect l="l" t="t" r="r" b="b"/>
              <a:pathLst>
                <a:path w="1378458" h="1093216">
                  <a:moveTo>
                    <a:pt x="0" y="0"/>
                  </a:moveTo>
                  <a:lnTo>
                    <a:pt x="1378458" y="0"/>
                  </a:lnTo>
                  <a:lnTo>
                    <a:pt x="1378458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FDB51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2896" y="6345287"/>
            <a:ext cx="8680704" cy="819895"/>
            <a:chOff x="0" y="0"/>
            <a:chExt cx="11574272" cy="109319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574272" cy="1093216"/>
            </a:xfrm>
            <a:custGeom>
              <a:avLst/>
              <a:gdLst/>
              <a:ahLst/>
              <a:cxnLst/>
              <a:rect l="l" t="t" r="r" b="b"/>
              <a:pathLst>
                <a:path w="11574272" h="1093216">
                  <a:moveTo>
                    <a:pt x="0" y="0"/>
                  </a:moveTo>
                  <a:lnTo>
                    <a:pt x="11574272" y="0"/>
                  </a:lnTo>
                  <a:lnTo>
                    <a:pt x="11574272" y="1093216"/>
                  </a:lnTo>
                  <a:lnTo>
                    <a:pt x="0" y="1093216"/>
                  </a:lnTo>
                  <a:close/>
                </a:path>
              </a:pathLst>
            </a:custGeom>
            <a:solidFill>
              <a:srgbClr val="00274C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7303306" y="6547012"/>
            <a:ext cx="1962614" cy="429322"/>
            <a:chOff x="0" y="0"/>
            <a:chExt cx="2616819" cy="57242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16835" cy="572389"/>
            </a:xfrm>
            <a:custGeom>
              <a:avLst/>
              <a:gdLst/>
              <a:ahLst/>
              <a:cxnLst/>
              <a:rect l="l" t="t" r="r" b="b"/>
              <a:pathLst>
                <a:path w="2616835" h="572389">
                  <a:moveTo>
                    <a:pt x="0" y="0"/>
                  </a:moveTo>
                  <a:lnTo>
                    <a:pt x="2616835" y="0"/>
                  </a:lnTo>
                  <a:lnTo>
                    <a:pt x="2616835" y="572389"/>
                  </a:lnTo>
                  <a:lnTo>
                    <a:pt x="0" y="5723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87680" y="416313"/>
            <a:ext cx="8778240" cy="1131518"/>
            <a:chOff x="0" y="0"/>
            <a:chExt cx="11704320" cy="15086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704320" cy="1508690"/>
            </a:xfrm>
            <a:custGeom>
              <a:avLst/>
              <a:gdLst/>
              <a:ahLst/>
              <a:cxnLst/>
              <a:rect l="l" t="t" r="r" b="b"/>
              <a:pathLst>
                <a:path w="11704320" h="1508690">
                  <a:moveTo>
                    <a:pt x="0" y="0"/>
                  </a:moveTo>
                  <a:lnTo>
                    <a:pt x="11704320" y="0"/>
                  </a:lnTo>
                  <a:lnTo>
                    <a:pt x="11704320" y="1508690"/>
                  </a:lnTo>
                  <a:lnTo>
                    <a:pt x="0" y="15086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1704320" cy="15753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95"/>
                </a:lnSpc>
              </a:pPr>
              <a:r>
                <a:rPr lang="en-US" sz="3413" dirty="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Revenue recognition – bundled products 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24524" y="1597837"/>
            <a:ext cx="8595360" cy="4119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1"/>
              </a:lnSpc>
              <a:spcBef>
                <a:spcPts val="600"/>
              </a:spcBef>
            </a:pPr>
            <a:r>
              <a:rPr lang="en-US" sz="2300" b="1" dirty="0">
                <a:solidFill>
                  <a:srgbClr val="FDB515"/>
                </a:solidFill>
                <a:latin typeface="Arial Bold"/>
                <a:ea typeface="Arial Bold"/>
                <a:cs typeface="Arial Bold"/>
                <a:sym typeface="Arial Bold"/>
              </a:rPr>
              <a:t>Five-step process: </a:t>
            </a:r>
          </a:p>
          <a:p>
            <a:pPr algn="l">
              <a:lnSpc>
                <a:spcPts val="3191"/>
              </a:lnSpc>
              <a:spcBef>
                <a:spcPts val="600"/>
              </a:spcBef>
            </a:pPr>
            <a:endParaRPr lang="en-US" sz="2300" b="1" dirty="0">
              <a:solidFill>
                <a:srgbClr val="FDB515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607342" lvl="1" indent="-457200" algn="l">
              <a:lnSpc>
                <a:spcPts val="3191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Identify the contract </a:t>
            </a:r>
          </a:p>
          <a:p>
            <a:pPr marL="607342" lvl="1" indent="-457200" algn="l">
              <a:lnSpc>
                <a:spcPts val="3191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Identify the individual performance obligations part of the contract </a:t>
            </a:r>
          </a:p>
          <a:p>
            <a:pPr marL="607342" lvl="1" indent="-457200" algn="l">
              <a:lnSpc>
                <a:spcPts val="3191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Determine the total transaction price </a:t>
            </a:r>
          </a:p>
          <a:p>
            <a:pPr marL="607342" lvl="1" indent="-457200" algn="l">
              <a:lnSpc>
                <a:spcPts val="3191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Allocate the price of each performance obligation</a:t>
            </a:r>
          </a:p>
          <a:p>
            <a:pPr marL="607342" lvl="1" indent="-457200" algn="l">
              <a:lnSpc>
                <a:spcPts val="3191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2300" dirty="0">
                <a:solidFill>
                  <a:srgbClr val="00274C"/>
                </a:solidFill>
                <a:latin typeface="Arial"/>
                <a:ea typeface="Arial"/>
                <a:cs typeface="Arial"/>
                <a:sym typeface="Arial"/>
              </a:rPr>
              <a:t>Recognize revenue when each performance obligation is satisfied (or over time if a service is provided over time)</a:t>
            </a:r>
          </a:p>
        </p:txBody>
      </p:sp>
      <p:sp>
        <p:nvSpPr>
          <p:cNvPr id="12" name="Title 12"/>
          <p:cNvSpPr>
            <a:spLocks noGrp="1"/>
          </p:cNvSpPr>
          <p:nvPr>
            <p:ph type="title"/>
          </p:nvPr>
        </p:nvSpPr>
        <p:spPr>
          <a:xfrm>
            <a:off x="457200" y="-1000000"/>
            <a:ext cx="8839200" cy="685800"/>
          </a:xfrm>
        </p:spPr>
        <p:txBody>
          <a:bodyPr/>
          <a:lstStyle/>
          <a:p>
            <a:r>
              <a:t>Revenue recognition – bundled products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281</Words>
  <Application>Microsoft Office PowerPoint</Application>
  <PresentationFormat>Custom</PresentationFormat>
  <Paragraphs>47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Arial</vt:lpstr>
      <vt:lpstr>Arial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Revenue recognition.pptx</dc:title>
  <dc:creator>Veselina Dinova</dc:creator>
  <cp:lastModifiedBy>Veselina Dinova</cp:lastModifiedBy>
  <cp:revision>1</cp:revision>
  <dcterms:created xsi:type="dcterms:W3CDTF">2006-08-16T00:00:00Z</dcterms:created>
  <dcterms:modified xsi:type="dcterms:W3CDTF">2025-07-05T01:15:03Z</dcterms:modified>
  <dc:identifier>DAGsKO5O5_E</dc:identifier>
</cp:coreProperties>
</file>
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2" r:id="rId3"/>
    <p:sldId id="308" r:id="rId4"/>
    <p:sldId id="310" r:id="rId5"/>
    <p:sldId id="311" r:id="rId6"/>
    <p:sldId id="312" r:id="rId7"/>
    <p:sldId id="313" r:id="rId8"/>
    <p:sldId id="316" r:id="rId9"/>
    <p:sldId id="276" r:id="rId10"/>
    <p:sldId id="319" r:id="rId11"/>
    <p:sldId id="31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7AF5112-DCCC-F442-B9BB-91E91E5BE225}">
          <p14:sldIdLst>
            <p14:sldId id="256"/>
            <p14:sldId id="262"/>
            <p14:sldId id="308"/>
            <p14:sldId id="310"/>
            <p14:sldId id="311"/>
            <p14:sldId id="312"/>
            <p14:sldId id="313"/>
            <p14:sldId id="316"/>
            <p14:sldId id="276"/>
            <p14:sldId id="319"/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B515"/>
    <a:srgbClr val="00274C"/>
    <a:srgbClr val="15284B"/>
    <a:srgbClr val="545454"/>
    <a:srgbClr val="1C5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BB9AA6-2452-4129-891C-DF773CB2A289}" v="88" dt="2025-07-12T23:17:46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 autoAdjust="0"/>
    <p:restoredTop sz="93586" autoAdjust="0"/>
  </p:normalViewPr>
  <p:slideViewPr>
    <p:cSldViewPr snapToGrid="0" snapToObjects="1">
      <p:cViewPr varScale="1">
        <p:scale>
          <a:sx n="86" d="100"/>
          <a:sy n="86" d="100"/>
        </p:scale>
        <p:origin x="1298" y="2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selina Dinova" userId="5935860719f7b8c5" providerId="LiveId" clId="{B4BB9AA6-2452-4129-891C-DF773CB2A289}"/>
    <pc:docChg chg="undo custSel delSld modSld modSection">
      <pc:chgData name="Veselina Dinova" userId="5935860719f7b8c5" providerId="LiveId" clId="{B4BB9AA6-2452-4129-891C-DF773CB2A289}" dt="2025-07-12T23:25:41.577" v="1462" actId="1076"/>
      <pc:docMkLst>
        <pc:docMk/>
      </pc:docMkLst>
      <pc:sldChg chg="modSp mod">
        <pc:chgData name="Veselina Dinova" userId="5935860719f7b8c5" providerId="LiveId" clId="{B4BB9AA6-2452-4129-891C-DF773CB2A289}" dt="2025-07-12T23:12:38.978" v="960" actId="20577"/>
        <pc:sldMkLst>
          <pc:docMk/>
          <pc:sldMk cId="2893650772" sldId="262"/>
        </pc:sldMkLst>
        <pc:spChg chg="mod">
          <ac:chgData name="Veselina Dinova" userId="5935860719f7b8c5" providerId="LiveId" clId="{B4BB9AA6-2452-4129-891C-DF773CB2A289}" dt="2025-07-12T23:12:38.978" v="960" actId="20577"/>
          <ac:spMkLst>
            <pc:docMk/>
            <pc:sldMk cId="2893650772" sldId="262"/>
            <ac:spMk id="3" creationId="{00000000-0000-0000-0000-000000000000}"/>
          </ac:spMkLst>
        </pc:spChg>
      </pc:sldChg>
      <pc:sldChg chg="modSp mod">
        <pc:chgData name="Veselina Dinova" userId="5935860719f7b8c5" providerId="LiveId" clId="{B4BB9AA6-2452-4129-891C-DF773CB2A289}" dt="2025-07-12T23:25:33.660" v="1460" actId="1076"/>
        <pc:sldMkLst>
          <pc:docMk/>
          <pc:sldMk cId="3091199050" sldId="276"/>
        </pc:sldMkLst>
        <pc:picChg chg="mod">
          <ac:chgData name="Veselina Dinova" userId="5935860719f7b8c5" providerId="LiveId" clId="{B4BB9AA6-2452-4129-891C-DF773CB2A289}" dt="2025-07-12T23:25:33.660" v="1460" actId="1076"/>
          <ac:picMkLst>
            <pc:docMk/>
            <pc:sldMk cId="3091199050" sldId="276"/>
            <ac:picMk id="4" creationId="{EE2BEC5E-D0FE-92D0-4DAC-761ACD48D53A}"/>
          </ac:picMkLst>
        </pc:picChg>
      </pc:sldChg>
      <pc:sldChg chg="del">
        <pc:chgData name="Veselina Dinova" userId="5935860719f7b8c5" providerId="LiveId" clId="{B4BB9AA6-2452-4129-891C-DF773CB2A289}" dt="2025-07-09T00:45:31.015" v="0" actId="47"/>
        <pc:sldMkLst>
          <pc:docMk/>
          <pc:sldMk cId="461449252" sldId="277"/>
        </pc:sldMkLst>
      </pc:sldChg>
      <pc:sldChg chg="del">
        <pc:chgData name="Veselina Dinova" userId="5935860719f7b8c5" providerId="LiveId" clId="{B4BB9AA6-2452-4129-891C-DF773CB2A289}" dt="2025-07-09T01:09:18.897" v="759" actId="47"/>
        <pc:sldMkLst>
          <pc:docMk/>
          <pc:sldMk cId="2201149398" sldId="284"/>
        </pc:sldMkLst>
      </pc:sldChg>
      <pc:sldChg chg="modSp mod">
        <pc:chgData name="Veselina Dinova" userId="5935860719f7b8c5" providerId="LiveId" clId="{B4BB9AA6-2452-4129-891C-DF773CB2A289}" dt="2025-07-12T23:13:57.854" v="1085" actId="12"/>
        <pc:sldMkLst>
          <pc:docMk/>
          <pc:sldMk cId="764244419" sldId="308"/>
        </pc:sldMkLst>
        <pc:spChg chg="mod">
          <ac:chgData name="Veselina Dinova" userId="5935860719f7b8c5" providerId="LiveId" clId="{B4BB9AA6-2452-4129-891C-DF773CB2A289}" dt="2025-07-12T23:13:57.854" v="1085" actId="12"/>
          <ac:spMkLst>
            <pc:docMk/>
            <pc:sldMk cId="764244419" sldId="308"/>
            <ac:spMk id="3" creationId="{00000000-0000-0000-0000-000000000000}"/>
          </ac:spMkLst>
        </pc:spChg>
      </pc:sldChg>
      <pc:sldChg chg="del">
        <pc:chgData name="Veselina Dinova" userId="5935860719f7b8c5" providerId="LiveId" clId="{B4BB9AA6-2452-4129-891C-DF773CB2A289}" dt="2025-07-09T00:50:12.335" v="111" actId="47"/>
        <pc:sldMkLst>
          <pc:docMk/>
          <pc:sldMk cId="3821402533" sldId="309"/>
        </pc:sldMkLst>
      </pc:sldChg>
      <pc:sldChg chg="modSp mod">
        <pc:chgData name="Veselina Dinova" userId="5935860719f7b8c5" providerId="LiveId" clId="{B4BB9AA6-2452-4129-891C-DF773CB2A289}" dt="2025-07-12T23:18:03.311" v="1177" actId="255"/>
        <pc:sldMkLst>
          <pc:docMk/>
          <pc:sldMk cId="2584808581" sldId="310"/>
        </pc:sldMkLst>
        <pc:spChg chg="mod">
          <ac:chgData name="Veselina Dinova" userId="5935860719f7b8c5" providerId="LiveId" clId="{B4BB9AA6-2452-4129-891C-DF773CB2A289}" dt="2025-07-12T23:15:48.699" v="1088" actId="1076"/>
          <ac:spMkLst>
            <pc:docMk/>
            <pc:sldMk cId="2584808581" sldId="310"/>
            <ac:spMk id="8" creationId="{AE988751-B59D-19BD-A3AA-EB42ECEB1A36}"/>
          </ac:spMkLst>
        </pc:spChg>
        <pc:spChg chg="mod">
          <ac:chgData name="Veselina Dinova" userId="5935860719f7b8c5" providerId="LiveId" clId="{B4BB9AA6-2452-4129-891C-DF773CB2A289}" dt="2025-07-12T23:15:48.699" v="1088" actId="1076"/>
          <ac:spMkLst>
            <pc:docMk/>
            <pc:sldMk cId="2584808581" sldId="310"/>
            <ac:spMk id="9" creationId="{A9380C67-43E5-90C4-0027-E5B1D4B86A83}"/>
          </ac:spMkLst>
        </pc:spChg>
        <pc:spChg chg="mod">
          <ac:chgData name="Veselina Dinova" userId="5935860719f7b8c5" providerId="LiveId" clId="{B4BB9AA6-2452-4129-891C-DF773CB2A289}" dt="2025-07-12T23:15:48.699" v="1088" actId="1076"/>
          <ac:spMkLst>
            <pc:docMk/>
            <pc:sldMk cId="2584808581" sldId="310"/>
            <ac:spMk id="10" creationId="{38A12264-29A1-BE76-BB03-E816733CB6B2}"/>
          </ac:spMkLst>
        </pc:spChg>
        <pc:spChg chg="mod">
          <ac:chgData name="Veselina Dinova" userId="5935860719f7b8c5" providerId="LiveId" clId="{B4BB9AA6-2452-4129-891C-DF773CB2A289}" dt="2025-07-12T23:15:48.699" v="1088" actId="1076"/>
          <ac:spMkLst>
            <pc:docMk/>
            <pc:sldMk cId="2584808581" sldId="310"/>
            <ac:spMk id="11" creationId="{B7A136FF-FC00-144C-C56C-7C946CB8F917}"/>
          </ac:spMkLst>
        </pc:spChg>
        <pc:spChg chg="mod">
          <ac:chgData name="Veselina Dinova" userId="5935860719f7b8c5" providerId="LiveId" clId="{B4BB9AA6-2452-4129-891C-DF773CB2A289}" dt="2025-07-12T23:18:03.311" v="1177" actId="255"/>
          <ac:spMkLst>
            <pc:docMk/>
            <pc:sldMk cId="2584808581" sldId="310"/>
            <ac:spMk id="12" creationId="{32186694-9FAB-EA22-63BC-21A6A0E6FDBD}"/>
          </ac:spMkLst>
        </pc:spChg>
        <pc:graphicFrameChg chg="mod">
          <ac:chgData name="Veselina Dinova" userId="5935860719f7b8c5" providerId="LiveId" clId="{B4BB9AA6-2452-4129-891C-DF773CB2A289}" dt="2025-07-12T23:16:41.089" v="1130" actId="20577"/>
          <ac:graphicFrameMkLst>
            <pc:docMk/>
            <pc:sldMk cId="2584808581" sldId="310"/>
            <ac:graphicFrameMk id="6" creationId="{05E84C24-70A2-B8D2-A179-E75C6085C6B7}"/>
          </ac:graphicFrameMkLst>
        </pc:graphicFrameChg>
        <pc:graphicFrameChg chg="mod">
          <ac:chgData name="Veselina Dinova" userId="5935860719f7b8c5" providerId="LiveId" clId="{B4BB9AA6-2452-4129-891C-DF773CB2A289}" dt="2025-07-12T23:17:46.903" v="1175" actId="20577"/>
          <ac:graphicFrameMkLst>
            <pc:docMk/>
            <pc:sldMk cId="2584808581" sldId="310"/>
            <ac:graphicFrameMk id="7" creationId="{E48BB439-0841-AB80-E7E4-71C6E4FF1944}"/>
          </ac:graphicFrameMkLst>
        </pc:graphicFrameChg>
      </pc:sldChg>
      <pc:sldChg chg="modSp mod">
        <pc:chgData name="Veselina Dinova" userId="5935860719f7b8c5" providerId="LiveId" clId="{B4BB9AA6-2452-4129-891C-DF773CB2A289}" dt="2025-07-12T23:20:19.514" v="1249" actId="20577"/>
        <pc:sldMkLst>
          <pc:docMk/>
          <pc:sldMk cId="369646202" sldId="311"/>
        </pc:sldMkLst>
        <pc:spChg chg="mod">
          <ac:chgData name="Veselina Dinova" userId="5935860719f7b8c5" providerId="LiveId" clId="{B4BB9AA6-2452-4129-891C-DF773CB2A289}" dt="2025-07-12T23:20:19.514" v="1249" actId="20577"/>
          <ac:spMkLst>
            <pc:docMk/>
            <pc:sldMk cId="369646202" sldId="311"/>
            <ac:spMk id="3" creationId="{00000000-0000-0000-0000-000000000000}"/>
          </ac:spMkLst>
        </pc:spChg>
      </pc:sldChg>
      <pc:sldChg chg="modSp mod">
        <pc:chgData name="Veselina Dinova" userId="5935860719f7b8c5" providerId="LiveId" clId="{B4BB9AA6-2452-4129-891C-DF773CB2A289}" dt="2025-07-12T23:22:15.409" v="1320" actId="1076"/>
        <pc:sldMkLst>
          <pc:docMk/>
          <pc:sldMk cId="2395475156" sldId="312"/>
        </pc:sldMkLst>
        <pc:spChg chg="mod">
          <ac:chgData name="Veselina Dinova" userId="5935860719f7b8c5" providerId="LiveId" clId="{B4BB9AA6-2452-4129-891C-DF773CB2A289}" dt="2025-07-12T23:21:46.664" v="1317" actId="108"/>
          <ac:spMkLst>
            <pc:docMk/>
            <pc:sldMk cId="2395475156" sldId="312"/>
            <ac:spMk id="6" creationId="{A1D1F365-A587-A84E-3382-A45D140CD416}"/>
          </ac:spMkLst>
        </pc:spChg>
        <pc:spChg chg="mod">
          <ac:chgData name="Veselina Dinova" userId="5935860719f7b8c5" providerId="LiveId" clId="{B4BB9AA6-2452-4129-891C-DF773CB2A289}" dt="2025-07-12T23:22:15.409" v="1320" actId="1076"/>
          <ac:spMkLst>
            <pc:docMk/>
            <pc:sldMk cId="2395475156" sldId="312"/>
            <ac:spMk id="8" creationId="{3D6F368D-CF43-832A-17CA-94CA9C0614E3}"/>
          </ac:spMkLst>
        </pc:spChg>
        <pc:picChg chg="mod">
          <ac:chgData name="Veselina Dinova" userId="5935860719f7b8c5" providerId="LiveId" clId="{B4BB9AA6-2452-4129-891C-DF773CB2A289}" dt="2025-07-12T23:22:05.131" v="1319" actId="14100"/>
          <ac:picMkLst>
            <pc:docMk/>
            <pc:sldMk cId="2395475156" sldId="312"/>
            <ac:picMk id="7" creationId="{B17A3E05-730B-8DE8-96CE-7281B13A616C}"/>
          </ac:picMkLst>
        </pc:picChg>
      </pc:sldChg>
      <pc:sldChg chg="modSp mod">
        <pc:chgData name="Veselina Dinova" userId="5935860719f7b8c5" providerId="LiveId" clId="{B4BB9AA6-2452-4129-891C-DF773CB2A289}" dt="2025-07-12T23:22:59.633" v="1363" actId="20577"/>
        <pc:sldMkLst>
          <pc:docMk/>
          <pc:sldMk cId="3985801338" sldId="313"/>
        </pc:sldMkLst>
        <pc:spChg chg="mod">
          <ac:chgData name="Veselina Dinova" userId="5935860719f7b8c5" providerId="LiveId" clId="{B4BB9AA6-2452-4129-891C-DF773CB2A289}" dt="2025-07-12T23:22:59.633" v="1363" actId="20577"/>
          <ac:spMkLst>
            <pc:docMk/>
            <pc:sldMk cId="3985801338" sldId="313"/>
            <ac:spMk id="3" creationId="{00000000-0000-0000-0000-000000000000}"/>
          </ac:spMkLst>
        </pc:spChg>
      </pc:sldChg>
      <pc:sldChg chg="del">
        <pc:chgData name="Veselina Dinova" userId="5935860719f7b8c5" providerId="LiveId" clId="{B4BB9AA6-2452-4129-891C-DF773CB2A289}" dt="2025-07-09T01:02:38.213" v="606" actId="47"/>
        <pc:sldMkLst>
          <pc:docMk/>
          <pc:sldMk cId="779410862" sldId="314"/>
        </pc:sldMkLst>
      </pc:sldChg>
      <pc:sldChg chg="del">
        <pc:chgData name="Veselina Dinova" userId="5935860719f7b8c5" providerId="LiveId" clId="{B4BB9AA6-2452-4129-891C-DF773CB2A289}" dt="2025-07-09T01:02:39.052" v="607" actId="47"/>
        <pc:sldMkLst>
          <pc:docMk/>
          <pc:sldMk cId="2801037097" sldId="315"/>
        </pc:sldMkLst>
      </pc:sldChg>
      <pc:sldChg chg="modSp mod">
        <pc:chgData name="Veselina Dinova" userId="5935860719f7b8c5" providerId="LiveId" clId="{B4BB9AA6-2452-4129-891C-DF773CB2A289}" dt="2025-07-12T23:24:58.517" v="1458" actId="20577"/>
        <pc:sldMkLst>
          <pc:docMk/>
          <pc:sldMk cId="3104705369" sldId="316"/>
        </pc:sldMkLst>
        <pc:spChg chg="mod">
          <ac:chgData name="Veselina Dinova" userId="5935860719f7b8c5" providerId="LiveId" clId="{B4BB9AA6-2452-4129-891C-DF773CB2A289}" dt="2025-07-12T23:23:39.535" v="1402" actId="20577"/>
          <ac:spMkLst>
            <pc:docMk/>
            <pc:sldMk cId="3104705369" sldId="316"/>
            <ac:spMk id="2" creationId="{00000000-0000-0000-0000-000000000000}"/>
          </ac:spMkLst>
        </pc:spChg>
        <pc:spChg chg="mod">
          <ac:chgData name="Veselina Dinova" userId="5935860719f7b8c5" providerId="LiveId" clId="{B4BB9AA6-2452-4129-891C-DF773CB2A289}" dt="2025-07-12T23:24:58.517" v="1458" actId="20577"/>
          <ac:spMkLst>
            <pc:docMk/>
            <pc:sldMk cId="3104705369" sldId="316"/>
            <ac:spMk id="3" creationId="{00000000-0000-0000-0000-000000000000}"/>
          </ac:spMkLst>
        </pc:spChg>
      </pc:sldChg>
      <pc:sldChg chg="modSp mod">
        <pc:chgData name="Veselina Dinova" userId="5935860719f7b8c5" providerId="LiveId" clId="{B4BB9AA6-2452-4129-891C-DF773CB2A289}" dt="2025-07-09T01:10:16.732" v="785" actId="20577"/>
        <pc:sldMkLst>
          <pc:docMk/>
          <pc:sldMk cId="3051742781" sldId="317"/>
        </pc:sldMkLst>
        <pc:spChg chg="mod">
          <ac:chgData name="Veselina Dinova" userId="5935860719f7b8c5" providerId="LiveId" clId="{B4BB9AA6-2452-4129-891C-DF773CB2A289}" dt="2025-07-09T01:10:16.732" v="785" actId="20577"/>
          <ac:spMkLst>
            <pc:docMk/>
            <pc:sldMk cId="3051742781" sldId="317"/>
            <ac:spMk id="3" creationId="{00000000-0000-0000-0000-000000000000}"/>
          </ac:spMkLst>
        </pc:spChg>
      </pc:sldChg>
      <pc:sldChg chg="modSp mod">
        <pc:chgData name="Veselina Dinova" userId="5935860719f7b8c5" providerId="LiveId" clId="{B4BB9AA6-2452-4129-891C-DF773CB2A289}" dt="2025-07-12T23:25:41.577" v="1462" actId="1076"/>
        <pc:sldMkLst>
          <pc:docMk/>
          <pc:sldMk cId="340856205" sldId="319"/>
        </pc:sldMkLst>
        <pc:picChg chg="mod">
          <ac:chgData name="Veselina Dinova" userId="5935860719f7b8c5" providerId="LiveId" clId="{B4BB9AA6-2452-4129-891C-DF773CB2A289}" dt="2025-07-12T23:25:41.577" v="1462" actId="1076"/>
          <ac:picMkLst>
            <pc:docMk/>
            <pc:sldMk cId="340856205" sldId="319"/>
            <ac:picMk id="5" creationId="{F6160A3D-D2C8-81F0-F768-AC7532297D26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E17E64-A075-4FB9-B965-853A2EABF553}" type="doc">
      <dgm:prSet loTypeId="urn:microsoft.com/office/officeart/2005/8/layout/defaul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C8BBCA3D-CC39-4C86-9765-66D99520E429}">
      <dgm:prSet phldrT="[Text]" custT="1"/>
      <dgm:spPr>
        <a:solidFill>
          <a:srgbClr val="003300"/>
        </a:solidFill>
      </dgm:spPr>
      <dgm:t>
        <a:bodyPr/>
        <a:lstStyle/>
        <a:p>
          <a:r>
            <a:rPr lang="en-US" sz="1600" dirty="0"/>
            <a:t>Purchase coffee inventory</a:t>
          </a:r>
        </a:p>
      </dgm:t>
    </dgm:pt>
    <dgm:pt modelId="{5689F4F8-C8AD-474E-94E1-CE20DDD05D4D}" type="parTrans" cxnId="{EFED34CF-6511-423A-BC6C-1780CF54F6BD}">
      <dgm:prSet/>
      <dgm:spPr/>
      <dgm:t>
        <a:bodyPr/>
        <a:lstStyle/>
        <a:p>
          <a:endParaRPr lang="en-US"/>
        </a:p>
      </dgm:t>
    </dgm:pt>
    <dgm:pt modelId="{C6D57088-8464-44DD-BF56-F37EFF73A306}" type="sibTrans" cxnId="{EFED34CF-6511-423A-BC6C-1780CF54F6BD}">
      <dgm:prSet/>
      <dgm:spPr/>
      <dgm:t>
        <a:bodyPr/>
        <a:lstStyle/>
        <a:p>
          <a:endParaRPr lang="en-US"/>
        </a:p>
      </dgm:t>
    </dgm:pt>
    <dgm:pt modelId="{1A8224BF-BBB6-459E-9F73-46725D7C32B5}">
      <dgm:prSet phldrT="[Text]" custT="1"/>
      <dgm:spPr>
        <a:solidFill>
          <a:srgbClr val="003300"/>
        </a:solidFill>
      </dgm:spPr>
      <dgm:t>
        <a:bodyPr/>
        <a:lstStyle/>
        <a:p>
          <a:r>
            <a:rPr lang="en-US" sz="1600" dirty="0"/>
            <a:t>Customers pay in advance</a:t>
          </a:r>
        </a:p>
      </dgm:t>
    </dgm:pt>
    <dgm:pt modelId="{72B5CAEB-68BC-443E-9F18-9C85C99E7187}" type="parTrans" cxnId="{795B8784-F53A-4D79-9E08-20E2BA7D1F12}">
      <dgm:prSet/>
      <dgm:spPr/>
      <dgm:t>
        <a:bodyPr/>
        <a:lstStyle/>
        <a:p>
          <a:endParaRPr lang="en-US"/>
        </a:p>
      </dgm:t>
    </dgm:pt>
    <dgm:pt modelId="{500B2EB0-F931-4EBA-8041-D301A4F85696}" type="sibTrans" cxnId="{795B8784-F53A-4D79-9E08-20E2BA7D1F12}">
      <dgm:prSet/>
      <dgm:spPr/>
      <dgm:t>
        <a:bodyPr/>
        <a:lstStyle/>
        <a:p>
          <a:endParaRPr lang="en-US"/>
        </a:p>
      </dgm:t>
    </dgm:pt>
    <dgm:pt modelId="{B7E2A2D7-931A-42DA-B33F-3B99E3ECF230}">
      <dgm:prSet phldrT="[Text]" custT="1"/>
      <dgm:spPr>
        <a:solidFill>
          <a:srgbClr val="003300"/>
        </a:solidFill>
      </dgm:spPr>
      <dgm:t>
        <a:bodyPr/>
        <a:lstStyle/>
        <a:p>
          <a:r>
            <a:rPr lang="en-US" sz="1600" dirty="0"/>
            <a:t>Employees earn wages</a:t>
          </a:r>
        </a:p>
      </dgm:t>
    </dgm:pt>
    <dgm:pt modelId="{D186F77F-6261-4110-9CF7-FF78A6FAB3EE}" type="parTrans" cxnId="{F646AB8A-27C1-4F79-A9FE-D26A0ACF4B0B}">
      <dgm:prSet/>
      <dgm:spPr/>
      <dgm:t>
        <a:bodyPr/>
        <a:lstStyle/>
        <a:p>
          <a:endParaRPr lang="en-US"/>
        </a:p>
      </dgm:t>
    </dgm:pt>
    <dgm:pt modelId="{02B947A0-B484-46AB-AB01-24E0BEB90B4B}" type="sibTrans" cxnId="{F646AB8A-27C1-4F79-A9FE-D26A0ACF4B0B}">
      <dgm:prSet/>
      <dgm:spPr/>
      <dgm:t>
        <a:bodyPr/>
        <a:lstStyle/>
        <a:p>
          <a:endParaRPr lang="en-US"/>
        </a:p>
      </dgm:t>
    </dgm:pt>
    <dgm:pt modelId="{CCEE1B0B-D822-4F8C-A09C-691AD1E4D397}">
      <dgm:prSet phldrT="[Text]" custT="1"/>
      <dgm:spPr>
        <a:solidFill>
          <a:srgbClr val="003300"/>
        </a:solidFill>
      </dgm:spPr>
      <dgm:t>
        <a:bodyPr/>
        <a:lstStyle/>
        <a:p>
          <a:r>
            <a:rPr lang="en-US" sz="1600" dirty="0"/>
            <a:t>Rent store space for coffeehouse</a:t>
          </a:r>
        </a:p>
      </dgm:t>
    </dgm:pt>
    <dgm:pt modelId="{8BC19F18-2E14-473D-B9E5-3ACA6EB26FD4}" type="parTrans" cxnId="{548E1805-1806-4D88-A247-C7FE4F9EBBD7}">
      <dgm:prSet/>
      <dgm:spPr/>
      <dgm:t>
        <a:bodyPr/>
        <a:lstStyle/>
        <a:p>
          <a:endParaRPr lang="en-US"/>
        </a:p>
      </dgm:t>
    </dgm:pt>
    <dgm:pt modelId="{C6BFA0F6-32C8-40CF-8F76-2568CB40683A}" type="sibTrans" cxnId="{548E1805-1806-4D88-A247-C7FE4F9EBBD7}">
      <dgm:prSet/>
      <dgm:spPr/>
      <dgm:t>
        <a:bodyPr/>
        <a:lstStyle/>
        <a:p>
          <a:endParaRPr lang="en-US"/>
        </a:p>
      </dgm:t>
    </dgm:pt>
    <dgm:pt modelId="{58C32331-9408-4258-AAB0-F27656284E17}" type="pres">
      <dgm:prSet presAssocID="{31E17E64-A075-4FB9-B965-853A2EABF553}" presName="diagram" presStyleCnt="0">
        <dgm:presLayoutVars>
          <dgm:dir/>
          <dgm:resizeHandles val="exact"/>
        </dgm:presLayoutVars>
      </dgm:prSet>
      <dgm:spPr/>
    </dgm:pt>
    <dgm:pt modelId="{2DB87569-3670-4209-9EF8-291669F4F66F}" type="pres">
      <dgm:prSet presAssocID="{C8BBCA3D-CC39-4C86-9765-66D99520E429}" presName="node" presStyleLbl="node1" presStyleIdx="0" presStyleCnt="4" custScaleX="47962" custScaleY="39653" custLinFactNeighborX="26581" custLinFactNeighborY="-37677">
        <dgm:presLayoutVars>
          <dgm:bulletEnabled val="1"/>
        </dgm:presLayoutVars>
      </dgm:prSet>
      <dgm:spPr/>
    </dgm:pt>
    <dgm:pt modelId="{3120C79F-3693-493A-A89A-BF60B7131F11}" type="pres">
      <dgm:prSet presAssocID="{C6D57088-8464-44DD-BF56-F37EFF73A306}" presName="sibTrans" presStyleCnt="0"/>
      <dgm:spPr/>
    </dgm:pt>
    <dgm:pt modelId="{3D5D68D5-4B8D-41C9-947C-D6FD8C33AF1B}" type="pres">
      <dgm:prSet presAssocID="{CCEE1B0B-D822-4F8C-A09C-691AD1E4D397}" presName="node" presStyleLbl="node1" presStyleIdx="1" presStyleCnt="4" custScaleX="47962" custScaleY="39653" custLinFactNeighborX="-31272" custLinFactNeighborY="8333">
        <dgm:presLayoutVars>
          <dgm:bulletEnabled val="1"/>
        </dgm:presLayoutVars>
      </dgm:prSet>
      <dgm:spPr/>
    </dgm:pt>
    <dgm:pt modelId="{393F8C9E-6B69-4E87-B14F-785C89353C00}" type="pres">
      <dgm:prSet presAssocID="{C6BFA0F6-32C8-40CF-8F76-2568CB40683A}" presName="sibTrans" presStyleCnt="0"/>
      <dgm:spPr/>
    </dgm:pt>
    <dgm:pt modelId="{70D19A87-0C1B-4AC1-BE03-DCDFEF5D50D7}" type="pres">
      <dgm:prSet presAssocID="{1A8224BF-BBB6-459E-9F73-46725D7C32B5}" presName="node" presStyleLbl="node1" presStyleIdx="2" presStyleCnt="4" custScaleX="47962" custScaleY="39653" custLinFactNeighborX="26334" custLinFactNeighborY="46009">
        <dgm:presLayoutVars>
          <dgm:bulletEnabled val="1"/>
        </dgm:presLayoutVars>
      </dgm:prSet>
      <dgm:spPr/>
    </dgm:pt>
    <dgm:pt modelId="{4294C897-D108-48CE-A690-B0074D4554DE}" type="pres">
      <dgm:prSet presAssocID="{500B2EB0-F931-4EBA-8041-D301A4F85696}" presName="sibTrans" presStyleCnt="0"/>
      <dgm:spPr/>
    </dgm:pt>
    <dgm:pt modelId="{24E56ACB-3ACE-4E50-BB58-8FC9B0A51FE0}" type="pres">
      <dgm:prSet presAssocID="{B7E2A2D7-931A-42DA-B33F-3B99E3ECF230}" presName="node" presStyleLbl="node1" presStyleIdx="3" presStyleCnt="4" custScaleX="47962" custScaleY="39653" custLinFactNeighborX="-31381" custLinFactNeighborY="-659">
        <dgm:presLayoutVars>
          <dgm:bulletEnabled val="1"/>
        </dgm:presLayoutVars>
      </dgm:prSet>
      <dgm:spPr/>
    </dgm:pt>
  </dgm:ptLst>
  <dgm:cxnLst>
    <dgm:cxn modelId="{548E1805-1806-4D88-A247-C7FE4F9EBBD7}" srcId="{31E17E64-A075-4FB9-B965-853A2EABF553}" destId="{CCEE1B0B-D822-4F8C-A09C-691AD1E4D397}" srcOrd="1" destOrd="0" parTransId="{8BC19F18-2E14-473D-B9E5-3ACA6EB26FD4}" sibTransId="{C6BFA0F6-32C8-40CF-8F76-2568CB40683A}"/>
    <dgm:cxn modelId="{45828C34-DC74-4619-A596-53C22014D4DF}" type="presOf" srcId="{31E17E64-A075-4FB9-B965-853A2EABF553}" destId="{58C32331-9408-4258-AAB0-F27656284E17}" srcOrd="0" destOrd="0" presId="urn:microsoft.com/office/officeart/2005/8/layout/default"/>
    <dgm:cxn modelId="{795B8784-F53A-4D79-9E08-20E2BA7D1F12}" srcId="{31E17E64-A075-4FB9-B965-853A2EABF553}" destId="{1A8224BF-BBB6-459E-9F73-46725D7C32B5}" srcOrd="2" destOrd="0" parTransId="{72B5CAEB-68BC-443E-9F18-9C85C99E7187}" sibTransId="{500B2EB0-F931-4EBA-8041-D301A4F85696}"/>
    <dgm:cxn modelId="{F646AB8A-27C1-4F79-A9FE-D26A0ACF4B0B}" srcId="{31E17E64-A075-4FB9-B965-853A2EABF553}" destId="{B7E2A2D7-931A-42DA-B33F-3B99E3ECF230}" srcOrd="3" destOrd="0" parTransId="{D186F77F-6261-4110-9CF7-FF78A6FAB3EE}" sibTransId="{02B947A0-B484-46AB-AB01-24E0BEB90B4B}"/>
    <dgm:cxn modelId="{F052CF8B-EDA4-40FE-88C3-23C6205B4700}" type="presOf" srcId="{1A8224BF-BBB6-459E-9F73-46725D7C32B5}" destId="{70D19A87-0C1B-4AC1-BE03-DCDFEF5D50D7}" srcOrd="0" destOrd="0" presId="urn:microsoft.com/office/officeart/2005/8/layout/default"/>
    <dgm:cxn modelId="{CE959091-CE20-4A8C-B28D-9F393500D97F}" type="presOf" srcId="{CCEE1B0B-D822-4F8C-A09C-691AD1E4D397}" destId="{3D5D68D5-4B8D-41C9-947C-D6FD8C33AF1B}" srcOrd="0" destOrd="0" presId="urn:microsoft.com/office/officeart/2005/8/layout/default"/>
    <dgm:cxn modelId="{72467599-28D6-4302-B48F-780154718BC1}" type="presOf" srcId="{B7E2A2D7-931A-42DA-B33F-3B99E3ECF230}" destId="{24E56ACB-3ACE-4E50-BB58-8FC9B0A51FE0}" srcOrd="0" destOrd="0" presId="urn:microsoft.com/office/officeart/2005/8/layout/default"/>
    <dgm:cxn modelId="{EFED34CF-6511-423A-BC6C-1780CF54F6BD}" srcId="{31E17E64-A075-4FB9-B965-853A2EABF553}" destId="{C8BBCA3D-CC39-4C86-9765-66D99520E429}" srcOrd="0" destOrd="0" parTransId="{5689F4F8-C8AD-474E-94E1-CE20DDD05D4D}" sibTransId="{C6D57088-8464-44DD-BF56-F37EFF73A306}"/>
    <dgm:cxn modelId="{EBD9BAEC-A1DA-4ECB-AD7B-5C5AF9912EA5}" type="presOf" srcId="{C8BBCA3D-CC39-4C86-9765-66D99520E429}" destId="{2DB87569-3670-4209-9EF8-291669F4F66F}" srcOrd="0" destOrd="0" presId="urn:microsoft.com/office/officeart/2005/8/layout/default"/>
    <dgm:cxn modelId="{880D066F-1AA8-49BD-9C08-CFBE4AE634CC}" type="presParOf" srcId="{58C32331-9408-4258-AAB0-F27656284E17}" destId="{2DB87569-3670-4209-9EF8-291669F4F66F}" srcOrd="0" destOrd="0" presId="urn:microsoft.com/office/officeart/2005/8/layout/default"/>
    <dgm:cxn modelId="{417B15D5-828B-4D27-92F7-A2B8AD279116}" type="presParOf" srcId="{58C32331-9408-4258-AAB0-F27656284E17}" destId="{3120C79F-3693-493A-A89A-BF60B7131F11}" srcOrd="1" destOrd="0" presId="urn:microsoft.com/office/officeart/2005/8/layout/default"/>
    <dgm:cxn modelId="{BEE2B678-76E8-4AB1-874D-086F1B84B4A0}" type="presParOf" srcId="{58C32331-9408-4258-AAB0-F27656284E17}" destId="{3D5D68D5-4B8D-41C9-947C-D6FD8C33AF1B}" srcOrd="2" destOrd="0" presId="urn:microsoft.com/office/officeart/2005/8/layout/default"/>
    <dgm:cxn modelId="{F292E7C5-5CE7-4450-817B-BDB0275C59C9}" type="presParOf" srcId="{58C32331-9408-4258-AAB0-F27656284E17}" destId="{393F8C9E-6B69-4E87-B14F-785C89353C00}" srcOrd="3" destOrd="0" presId="urn:microsoft.com/office/officeart/2005/8/layout/default"/>
    <dgm:cxn modelId="{5618A2E3-DDCF-4E88-BF63-7DEA48FF8C9E}" type="presParOf" srcId="{58C32331-9408-4258-AAB0-F27656284E17}" destId="{70D19A87-0C1B-4AC1-BE03-DCDFEF5D50D7}" srcOrd="4" destOrd="0" presId="urn:microsoft.com/office/officeart/2005/8/layout/default"/>
    <dgm:cxn modelId="{3E6460CC-6E30-4414-96CC-3FC2A716F244}" type="presParOf" srcId="{58C32331-9408-4258-AAB0-F27656284E17}" destId="{4294C897-D108-48CE-A690-B0074D4554DE}" srcOrd="5" destOrd="0" presId="urn:microsoft.com/office/officeart/2005/8/layout/default"/>
    <dgm:cxn modelId="{CBD54C28-31CE-49A4-A890-85BCD2E0D005}" type="presParOf" srcId="{58C32331-9408-4258-AAB0-F27656284E17}" destId="{24E56ACB-3ACE-4E50-BB58-8FC9B0A51FE0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E17E64-A075-4FB9-B965-853A2EABF553}" type="doc">
      <dgm:prSet loTypeId="urn:microsoft.com/office/officeart/2005/8/layout/defaul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C8BBCA3D-CC39-4C86-9765-66D99520E429}">
      <dgm:prSet phldrT="[Text]" custT="1"/>
      <dgm:spPr>
        <a:solidFill>
          <a:srgbClr val="002060"/>
        </a:solidFill>
      </dgm:spPr>
      <dgm:t>
        <a:bodyPr/>
        <a:lstStyle/>
        <a:p>
          <a:r>
            <a:rPr lang="en-US" sz="1600" dirty="0"/>
            <a:t>Accounts payable</a:t>
          </a:r>
        </a:p>
      </dgm:t>
    </dgm:pt>
    <dgm:pt modelId="{5689F4F8-C8AD-474E-94E1-CE20DDD05D4D}" type="parTrans" cxnId="{EFED34CF-6511-423A-BC6C-1780CF54F6BD}">
      <dgm:prSet/>
      <dgm:spPr/>
      <dgm:t>
        <a:bodyPr/>
        <a:lstStyle/>
        <a:p>
          <a:endParaRPr lang="en-US"/>
        </a:p>
      </dgm:t>
    </dgm:pt>
    <dgm:pt modelId="{C6D57088-8464-44DD-BF56-F37EFF73A306}" type="sibTrans" cxnId="{EFED34CF-6511-423A-BC6C-1780CF54F6BD}">
      <dgm:prSet/>
      <dgm:spPr/>
      <dgm:t>
        <a:bodyPr/>
        <a:lstStyle/>
        <a:p>
          <a:endParaRPr lang="en-US"/>
        </a:p>
      </dgm:t>
    </dgm:pt>
    <dgm:pt modelId="{1A8224BF-BBB6-459E-9F73-46725D7C32B5}">
      <dgm:prSet phldrT="[Text]" custT="1"/>
      <dgm:spPr>
        <a:solidFill>
          <a:srgbClr val="002060"/>
        </a:solidFill>
      </dgm:spPr>
      <dgm:t>
        <a:bodyPr/>
        <a:lstStyle/>
        <a:p>
          <a:r>
            <a:rPr lang="en-US" sz="1600" dirty="0"/>
            <a:t>Deferred revenue (stored value card liability”)</a:t>
          </a:r>
        </a:p>
      </dgm:t>
    </dgm:pt>
    <dgm:pt modelId="{72B5CAEB-68BC-443E-9F18-9C85C99E7187}" type="parTrans" cxnId="{795B8784-F53A-4D79-9E08-20E2BA7D1F12}">
      <dgm:prSet/>
      <dgm:spPr/>
      <dgm:t>
        <a:bodyPr/>
        <a:lstStyle/>
        <a:p>
          <a:endParaRPr lang="en-US"/>
        </a:p>
      </dgm:t>
    </dgm:pt>
    <dgm:pt modelId="{500B2EB0-F931-4EBA-8041-D301A4F85696}" type="sibTrans" cxnId="{795B8784-F53A-4D79-9E08-20E2BA7D1F12}">
      <dgm:prSet/>
      <dgm:spPr/>
      <dgm:t>
        <a:bodyPr/>
        <a:lstStyle/>
        <a:p>
          <a:endParaRPr lang="en-US"/>
        </a:p>
      </dgm:t>
    </dgm:pt>
    <dgm:pt modelId="{B7E2A2D7-931A-42DA-B33F-3B99E3ECF230}">
      <dgm:prSet phldrT="[Text]" custT="1"/>
      <dgm:spPr>
        <a:solidFill>
          <a:srgbClr val="002060"/>
        </a:solidFill>
      </dgm:spPr>
      <dgm:t>
        <a:bodyPr/>
        <a:lstStyle/>
        <a:p>
          <a:r>
            <a:rPr lang="en-US" sz="1600" dirty="0"/>
            <a:t>Accrued wages (</a:t>
          </a:r>
          <a:r>
            <a:rPr lang="en-US" sz="1600" dirty="0" err="1"/>
            <a:t>accr</a:t>
          </a:r>
          <a:r>
            <a:rPr lang="en-US" sz="1600" dirty="0"/>
            <a:t>. liabilities)</a:t>
          </a:r>
        </a:p>
      </dgm:t>
    </dgm:pt>
    <dgm:pt modelId="{D186F77F-6261-4110-9CF7-FF78A6FAB3EE}" type="parTrans" cxnId="{F646AB8A-27C1-4F79-A9FE-D26A0ACF4B0B}">
      <dgm:prSet/>
      <dgm:spPr/>
      <dgm:t>
        <a:bodyPr/>
        <a:lstStyle/>
        <a:p>
          <a:endParaRPr lang="en-US"/>
        </a:p>
      </dgm:t>
    </dgm:pt>
    <dgm:pt modelId="{02B947A0-B484-46AB-AB01-24E0BEB90B4B}" type="sibTrans" cxnId="{F646AB8A-27C1-4F79-A9FE-D26A0ACF4B0B}">
      <dgm:prSet/>
      <dgm:spPr/>
      <dgm:t>
        <a:bodyPr/>
        <a:lstStyle/>
        <a:p>
          <a:endParaRPr lang="en-US"/>
        </a:p>
      </dgm:t>
    </dgm:pt>
    <dgm:pt modelId="{CCEE1B0B-D822-4F8C-A09C-691AD1E4D397}">
      <dgm:prSet phldrT="[Text]" custT="1"/>
      <dgm:spPr>
        <a:solidFill>
          <a:srgbClr val="002060"/>
        </a:solidFill>
      </dgm:spPr>
      <dgm:t>
        <a:bodyPr/>
        <a:lstStyle/>
        <a:p>
          <a:r>
            <a:rPr lang="en-US" sz="1600" dirty="0"/>
            <a:t>Accrued rent (</a:t>
          </a:r>
          <a:r>
            <a:rPr lang="en-US" sz="1600" dirty="0" err="1"/>
            <a:t>accr</a:t>
          </a:r>
          <a:r>
            <a:rPr lang="en-US" sz="1600" dirty="0"/>
            <a:t>. liabilities)</a:t>
          </a:r>
        </a:p>
      </dgm:t>
    </dgm:pt>
    <dgm:pt modelId="{8BC19F18-2E14-473D-B9E5-3ACA6EB26FD4}" type="parTrans" cxnId="{548E1805-1806-4D88-A247-C7FE4F9EBBD7}">
      <dgm:prSet/>
      <dgm:spPr/>
      <dgm:t>
        <a:bodyPr/>
        <a:lstStyle/>
        <a:p>
          <a:endParaRPr lang="en-US"/>
        </a:p>
      </dgm:t>
    </dgm:pt>
    <dgm:pt modelId="{C6BFA0F6-32C8-40CF-8F76-2568CB40683A}" type="sibTrans" cxnId="{548E1805-1806-4D88-A247-C7FE4F9EBBD7}">
      <dgm:prSet/>
      <dgm:spPr/>
      <dgm:t>
        <a:bodyPr/>
        <a:lstStyle/>
        <a:p>
          <a:endParaRPr lang="en-US"/>
        </a:p>
      </dgm:t>
    </dgm:pt>
    <dgm:pt modelId="{58C32331-9408-4258-AAB0-F27656284E17}" type="pres">
      <dgm:prSet presAssocID="{31E17E64-A075-4FB9-B965-853A2EABF553}" presName="diagram" presStyleCnt="0">
        <dgm:presLayoutVars>
          <dgm:dir/>
          <dgm:resizeHandles val="exact"/>
        </dgm:presLayoutVars>
      </dgm:prSet>
      <dgm:spPr/>
    </dgm:pt>
    <dgm:pt modelId="{2DB87569-3670-4209-9EF8-291669F4F66F}" type="pres">
      <dgm:prSet presAssocID="{C8BBCA3D-CC39-4C86-9765-66D99520E429}" presName="node" presStyleLbl="node1" presStyleIdx="0" presStyleCnt="4" custScaleX="47962" custScaleY="39653" custLinFactNeighborX="26581" custLinFactNeighborY="-37677">
        <dgm:presLayoutVars>
          <dgm:bulletEnabled val="1"/>
        </dgm:presLayoutVars>
      </dgm:prSet>
      <dgm:spPr/>
    </dgm:pt>
    <dgm:pt modelId="{3120C79F-3693-493A-A89A-BF60B7131F11}" type="pres">
      <dgm:prSet presAssocID="{C6D57088-8464-44DD-BF56-F37EFF73A306}" presName="sibTrans" presStyleCnt="0"/>
      <dgm:spPr/>
    </dgm:pt>
    <dgm:pt modelId="{3D5D68D5-4B8D-41C9-947C-D6FD8C33AF1B}" type="pres">
      <dgm:prSet presAssocID="{CCEE1B0B-D822-4F8C-A09C-691AD1E4D397}" presName="node" presStyleLbl="node1" presStyleIdx="1" presStyleCnt="4" custScaleX="47962" custScaleY="39653" custLinFactNeighborX="-31272" custLinFactNeighborY="8333">
        <dgm:presLayoutVars>
          <dgm:bulletEnabled val="1"/>
        </dgm:presLayoutVars>
      </dgm:prSet>
      <dgm:spPr/>
    </dgm:pt>
    <dgm:pt modelId="{393F8C9E-6B69-4E87-B14F-785C89353C00}" type="pres">
      <dgm:prSet presAssocID="{C6BFA0F6-32C8-40CF-8F76-2568CB40683A}" presName="sibTrans" presStyleCnt="0"/>
      <dgm:spPr/>
    </dgm:pt>
    <dgm:pt modelId="{70D19A87-0C1B-4AC1-BE03-DCDFEF5D50D7}" type="pres">
      <dgm:prSet presAssocID="{1A8224BF-BBB6-459E-9F73-46725D7C32B5}" presName="node" presStyleLbl="node1" presStyleIdx="2" presStyleCnt="4" custScaleX="47962" custScaleY="39653" custLinFactNeighborX="26334" custLinFactNeighborY="46009">
        <dgm:presLayoutVars>
          <dgm:bulletEnabled val="1"/>
        </dgm:presLayoutVars>
      </dgm:prSet>
      <dgm:spPr/>
    </dgm:pt>
    <dgm:pt modelId="{4294C897-D108-48CE-A690-B0074D4554DE}" type="pres">
      <dgm:prSet presAssocID="{500B2EB0-F931-4EBA-8041-D301A4F85696}" presName="sibTrans" presStyleCnt="0"/>
      <dgm:spPr/>
    </dgm:pt>
    <dgm:pt modelId="{24E56ACB-3ACE-4E50-BB58-8FC9B0A51FE0}" type="pres">
      <dgm:prSet presAssocID="{B7E2A2D7-931A-42DA-B33F-3B99E3ECF230}" presName="node" presStyleLbl="node1" presStyleIdx="3" presStyleCnt="4" custScaleX="47962" custScaleY="39653" custLinFactNeighborX="-31381" custLinFactNeighborY="-659">
        <dgm:presLayoutVars>
          <dgm:bulletEnabled val="1"/>
        </dgm:presLayoutVars>
      </dgm:prSet>
      <dgm:spPr/>
    </dgm:pt>
  </dgm:ptLst>
  <dgm:cxnLst>
    <dgm:cxn modelId="{548E1805-1806-4D88-A247-C7FE4F9EBBD7}" srcId="{31E17E64-A075-4FB9-B965-853A2EABF553}" destId="{CCEE1B0B-D822-4F8C-A09C-691AD1E4D397}" srcOrd="1" destOrd="0" parTransId="{8BC19F18-2E14-473D-B9E5-3ACA6EB26FD4}" sibTransId="{C6BFA0F6-32C8-40CF-8F76-2568CB40683A}"/>
    <dgm:cxn modelId="{2DA6CB64-72E5-414F-90CA-7C0275C18B75}" type="presOf" srcId="{B7E2A2D7-931A-42DA-B33F-3B99E3ECF230}" destId="{24E56ACB-3ACE-4E50-BB58-8FC9B0A51FE0}" srcOrd="0" destOrd="0" presId="urn:microsoft.com/office/officeart/2005/8/layout/default"/>
    <dgm:cxn modelId="{3D34C552-257B-4081-A5DC-92D100D8634B}" type="presOf" srcId="{1A8224BF-BBB6-459E-9F73-46725D7C32B5}" destId="{70D19A87-0C1B-4AC1-BE03-DCDFEF5D50D7}" srcOrd="0" destOrd="0" presId="urn:microsoft.com/office/officeart/2005/8/layout/default"/>
    <dgm:cxn modelId="{1DFDAF75-4022-4A35-B4AE-13104E61A728}" type="presOf" srcId="{CCEE1B0B-D822-4F8C-A09C-691AD1E4D397}" destId="{3D5D68D5-4B8D-41C9-947C-D6FD8C33AF1B}" srcOrd="0" destOrd="0" presId="urn:microsoft.com/office/officeart/2005/8/layout/default"/>
    <dgm:cxn modelId="{20A60358-C346-4B88-90E8-643DBBAD647E}" type="presOf" srcId="{C8BBCA3D-CC39-4C86-9765-66D99520E429}" destId="{2DB87569-3670-4209-9EF8-291669F4F66F}" srcOrd="0" destOrd="0" presId="urn:microsoft.com/office/officeart/2005/8/layout/default"/>
    <dgm:cxn modelId="{795B8784-F53A-4D79-9E08-20E2BA7D1F12}" srcId="{31E17E64-A075-4FB9-B965-853A2EABF553}" destId="{1A8224BF-BBB6-459E-9F73-46725D7C32B5}" srcOrd="2" destOrd="0" parTransId="{72B5CAEB-68BC-443E-9F18-9C85C99E7187}" sibTransId="{500B2EB0-F931-4EBA-8041-D301A4F85696}"/>
    <dgm:cxn modelId="{F646AB8A-27C1-4F79-A9FE-D26A0ACF4B0B}" srcId="{31E17E64-A075-4FB9-B965-853A2EABF553}" destId="{B7E2A2D7-931A-42DA-B33F-3B99E3ECF230}" srcOrd="3" destOrd="0" parTransId="{D186F77F-6261-4110-9CF7-FF78A6FAB3EE}" sibTransId="{02B947A0-B484-46AB-AB01-24E0BEB90B4B}"/>
    <dgm:cxn modelId="{EFED34CF-6511-423A-BC6C-1780CF54F6BD}" srcId="{31E17E64-A075-4FB9-B965-853A2EABF553}" destId="{C8BBCA3D-CC39-4C86-9765-66D99520E429}" srcOrd="0" destOrd="0" parTransId="{5689F4F8-C8AD-474E-94E1-CE20DDD05D4D}" sibTransId="{C6D57088-8464-44DD-BF56-F37EFF73A306}"/>
    <dgm:cxn modelId="{7A36B5F2-50D8-497A-A9EE-0ECE793EF53D}" type="presOf" srcId="{31E17E64-A075-4FB9-B965-853A2EABF553}" destId="{58C32331-9408-4258-AAB0-F27656284E17}" srcOrd="0" destOrd="0" presId="urn:microsoft.com/office/officeart/2005/8/layout/default"/>
    <dgm:cxn modelId="{C6E397C3-A6FC-4DA0-A09E-68CD83C61E80}" type="presParOf" srcId="{58C32331-9408-4258-AAB0-F27656284E17}" destId="{2DB87569-3670-4209-9EF8-291669F4F66F}" srcOrd="0" destOrd="0" presId="urn:microsoft.com/office/officeart/2005/8/layout/default"/>
    <dgm:cxn modelId="{E7537249-4E69-4D65-93CC-CA3159C95E8C}" type="presParOf" srcId="{58C32331-9408-4258-AAB0-F27656284E17}" destId="{3120C79F-3693-493A-A89A-BF60B7131F11}" srcOrd="1" destOrd="0" presId="urn:microsoft.com/office/officeart/2005/8/layout/default"/>
    <dgm:cxn modelId="{AD1B5837-FED0-4CF8-88EC-6E2F8DF3764D}" type="presParOf" srcId="{58C32331-9408-4258-AAB0-F27656284E17}" destId="{3D5D68D5-4B8D-41C9-947C-D6FD8C33AF1B}" srcOrd="2" destOrd="0" presId="urn:microsoft.com/office/officeart/2005/8/layout/default"/>
    <dgm:cxn modelId="{F9FD0626-119C-427E-97E8-569CF9FE2000}" type="presParOf" srcId="{58C32331-9408-4258-AAB0-F27656284E17}" destId="{393F8C9E-6B69-4E87-B14F-785C89353C00}" srcOrd="3" destOrd="0" presId="urn:microsoft.com/office/officeart/2005/8/layout/default"/>
    <dgm:cxn modelId="{5F9BCA12-2C82-41F1-91DB-974E680F02AB}" type="presParOf" srcId="{58C32331-9408-4258-AAB0-F27656284E17}" destId="{70D19A87-0C1B-4AC1-BE03-DCDFEF5D50D7}" srcOrd="4" destOrd="0" presId="urn:microsoft.com/office/officeart/2005/8/layout/default"/>
    <dgm:cxn modelId="{146134EC-8844-4EE5-8EDD-63F50E9E2CA1}" type="presParOf" srcId="{58C32331-9408-4258-AAB0-F27656284E17}" destId="{4294C897-D108-48CE-A690-B0074D4554DE}" srcOrd="5" destOrd="0" presId="urn:microsoft.com/office/officeart/2005/8/layout/default"/>
    <dgm:cxn modelId="{5A2A2BD1-00D2-4EA9-95D3-2AC43380448C}" type="presParOf" srcId="{58C32331-9408-4258-AAB0-F27656284E17}" destId="{24E56ACB-3ACE-4E50-BB58-8FC9B0A51FE0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B87569-3670-4209-9EF8-291669F4F66F}">
      <dsp:nvSpPr>
        <dsp:cNvPr id="0" name=""/>
        <dsp:cNvSpPr/>
      </dsp:nvSpPr>
      <dsp:spPr>
        <a:xfrm>
          <a:off x="985542" y="279935"/>
          <a:ext cx="1775607" cy="880799"/>
        </a:xfrm>
        <a:prstGeom prst="rect">
          <a:avLst/>
        </a:prstGeom>
        <a:solidFill>
          <a:srgbClr val="0033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Purchase coffee inventory</a:t>
          </a:r>
        </a:p>
      </dsp:txBody>
      <dsp:txXfrm>
        <a:off x="985542" y="279935"/>
        <a:ext cx="1775607" cy="880799"/>
      </dsp:txXfrm>
    </dsp:sp>
    <dsp:sp modelId="{3D5D68D5-4B8D-41C9-947C-D6FD8C33AF1B}">
      <dsp:nvSpPr>
        <dsp:cNvPr id="0" name=""/>
        <dsp:cNvSpPr/>
      </dsp:nvSpPr>
      <dsp:spPr>
        <a:xfrm>
          <a:off x="989577" y="1301940"/>
          <a:ext cx="1775607" cy="880799"/>
        </a:xfrm>
        <a:prstGeom prst="rect">
          <a:avLst/>
        </a:prstGeom>
        <a:solidFill>
          <a:srgbClr val="0033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Rent store space for coffeehouse</a:t>
          </a:r>
        </a:p>
      </dsp:txBody>
      <dsp:txXfrm>
        <a:off x="989577" y="1301940"/>
        <a:ext cx="1775607" cy="880799"/>
      </dsp:txXfrm>
    </dsp:sp>
    <dsp:sp modelId="{70D19A87-0C1B-4AC1-BE03-DCDFEF5D50D7}">
      <dsp:nvSpPr>
        <dsp:cNvPr id="0" name=""/>
        <dsp:cNvSpPr/>
      </dsp:nvSpPr>
      <dsp:spPr>
        <a:xfrm>
          <a:off x="976398" y="3389836"/>
          <a:ext cx="1775607" cy="880799"/>
        </a:xfrm>
        <a:prstGeom prst="rect">
          <a:avLst/>
        </a:prstGeom>
        <a:solidFill>
          <a:srgbClr val="0033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Customers pay in advance</a:t>
          </a:r>
        </a:p>
      </dsp:txBody>
      <dsp:txXfrm>
        <a:off x="976398" y="3389836"/>
        <a:ext cx="1775607" cy="880799"/>
      </dsp:txXfrm>
    </dsp:sp>
    <dsp:sp modelId="{24E56ACB-3ACE-4E50-BB58-8FC9B0A51FE0}">
      <dsp:nvSpPr>
        <dsp:cNvPr id="0" name=""/>
        <dsp:cNvSpPr/>
      </dsp:nvSpPr>
      <dsp:spPr>
        <a:xfrm>
          <a:off x="985542" y="2353215"/>
          <a:ext cx="1775607" cy="880799"/>
        </a:xfrm>
        <a:prstGeom prst="rect">
          <a:avLst/>
        </a:prstGeom>
        <a:solidFill>
          <a:srgbClr val="0033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Employees earn wages</a:t>
          </a:r>
        </a:p>
      </dsp:txBody>
      <dsp:txXfrm>
        <a:off x="985542" y="2353215"/>
        <a:ext cx="1775607" cy="8807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B87569-3670-4209-9EF8-291669F4F66F}">
      <dsp:nvSpPr>
        <dsp:cNvPr id="0" name=""/>
        <dsp:cNvSpPr/>
      </dsp:nvSpPr>
      <dsp:spPr>
        <a:xfrm>
          <a:off x="985542" y="279935"/>
          <a:ext cx="1775607" cy="880799"/>
        </a:xfrm>
        <a:prstGeom prst="rect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Accounts payable</a:t>
          </a:r>
        </a:p>
      </dsp:txBody>
      <dsp:txXfrm>
        <a:off x="985542" y="279935"/>
        <a:ext cx="1775607" cy="880799"/>
      </dsp:txXfrm>
    </dsp:sp>
    <dsp:sp modelId="{3D5D68D5-4B8D-41C9-947C-D6FD8C33AF1B}">
      <dsp:nvSpPr>
        <dsp:cNvPr id="0" name=""/>
        <dsp:cNvSpPr/>
      </dsp:nvSpPr>
      <dsp:spPr>
        <a:xfrm>
          <a:off x="989577" y="1301940"/>
          <a:ext cx="1775607" cy="880799"/>
        </a:xfrm>
        <a:prstGeom prst="rect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Accrued rent (</a:t>
          </a:r>
          <a:r>
            <a:rPr lang="en-US" sz="1600" kern="1200" dirty="0" err="1"/>
            <a:t>accr</a:t>
          </a:r>
          <a:r>
            <a:rPr lang="en-US" sz="1600" kern="1200" dirty="0"/>
            <a:t>. liabilities)</a:t>
          </a:r>
        </a:p>
      </dsp:txBody>
      <dsp:txXfrm>
        <a:off x="989577" y="1301940"/>
        <a:ext cx="1775607" cy="880799"/>
      </dsp:txXfrm>
    </dsp:sp>
    <dsp:sp modelId="{70D19A87-0C1B-4AC1-BE03-DCDFEF5D50D7}">
      <dsp:nvSpPr>
        <dsp:cNvPr id="0" name=""/>
        <dsp:cNvSpPr/>
      </dsp:nvSpPr>
      <dsp:spPr>
        <a:xfrm>
          <a:off x="976398" y="3389836"/>
          <a:ext cx="1775607" cy="880799"/>
        </a:xfrm>
        <a:prstGeom prst="rect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Deferred revenue (stored value card liability”)</a:t>
          </a:r>
        </a:p>
      </dsp:txBody>
      <dsp:txXfrm>
        <a:off x="976398" y="3389836"/>
        <a:ext cx="1775607" cy="880799"/>
      </dsp:txXfrm>
    </dsp:sp>
    <dsp:sp modelId="{24E56ACB-3ACE-4E50-BB58-8FC9B0A51FE0}">
      <dsp:nvSpPr>
        <dsp:cNvPr id="0" name=""/>
        <dsp:cNvSpPr/>
      </dsp:nvSpPr>
      <dsp:spPr>
        <a:xfrm>
          <a:off x="985542" y="2353215"/>
          <a:ext cx="1775607" cy="880799"/>
        </a:xfrm>
        <a:prstGeom prst="rect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Accrued wages (</a:t>
          </a:r>
          <a:r>
            <a:rPr lang="en-US" sz="1600" kern="1200" dirty="0" err="1"/>
            <a:t>accr</a:t>
          </a:r>
          <a:r>
            <a:rPr lang="en-US" sz="1600" kern="1200" dirty="0"/>
            <a:t>. liabilities)</a:t>
          </a:r>
        </a:p>
      </dsp:txBody>
      <dsp:txXfrm>
        <a:off x="985542" y="2353215"/>
        <a:ext cx="1775607" cy="8807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046756-95B1-9E4B-B4F0-13B47C763CAF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D1FC82-C81D-9041-A08B-05D60FC30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485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B62887-402F-6941-80C6-F161CAE43A29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6F7C42-AA86-B746-B3A7-2D9388352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8938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62288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1442754" y="1945264"/>
            <a:ext cx="7726680" cy="331969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DB515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-7146" y="1938342"/>
            <a:ext cx="1371600" cy="3319690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26590" y="2130425"/>
            <a:ext cx="6831609" cy="2949369"/>
          </a:xfrm>
        </p:spPr>
        <p:txBody>
          <a:bodyPr tIns="91440" bIns="91440" anchor="ctr" anchorCtr="0">
            <a:normAutofit/>
          </a:bodyPr>
          <a:lstStyle>
            <a:lvl1pPr>
              <a:defRPr sz="4400" b="0">
                <a:solidFill>
                  <a:srgbClr val="FDB515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2389" y="5380391"/>
            <a:ext cx="6145810" cy="601555"/>
          </a:xfrm>
        </p:spPr>
        <p:txBody>
          <a:bodyPr>
            <a:normAutofit/>
          </a:bodyPr>
          <a:lstStyle>
            <a:lvl1pPr marL="0" indent="0" algn="r">
              <a:buNone/>
              <a:defRPr sz="3000">
                <a:solidFill>
                  <a:srgbClr val="54545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29" y="1009907"/>
            <a:ext cx="3023616" cy="66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83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545454"/>
                </a:solidFill>
              </a:defRPr>
            </a:lvl1pPr>
            <a:lvl2pPr>
              <a:defRPr>
                <a:solidFill>
                  <a:srgbClr val="545454"/>
                </a:solidFill>
              </a:defRPr>
            </a:lvl2pPr>
            <a:lvl3pPr>
              <a:defRPr>
                <a:solidFill>
                  <a:srgbClr val="545454"/>
                </a:solidFill>
              </a:defRPr>
            </a:lvl3pPr>
            <a:lvl4pPr>
              <a:defRPr>
                <a:solidFill>
                  <a:srgbClr val="545454"/>
                </a:solidFill>
              </a:defRPr>
            </a:lvl4pPr>
            <a:lvl5pPr>
              <a:defRPr>
                <a:solidFill>
                  <a:srgbClr val="54545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99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62288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11274" y="1331313"/>
            <a:ext cx="6631472" cy="1362075"/>
          </a:xfrm>
        </p:spPr>
        <p:txBody>
          <a:bodyPr lIns="0" rIns="457200" anchor="b" anchorCtr="0"/>
          <a:lstStyle>
            <a:lvl1pPr algn="l">
              <a:defRPr sz="4000" b="0" cap="all" spc="100">
                <a:solidFill>
                  <a:srgbClr val="00274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74" y="3308550"/>
            <a:ext cx="6631472" cy="1358157"/>
          </a:xfrm>
        </p:spPr>
        <p:txBody>
          <a:bodyPr lIns="0" rIns="457200" anchor="t" anchorCtr="0">
            <a:normAutofit/>
          </a:bodyPr>
          <a:lstStyle>
            <a:lvl1pPr marL="0" indent="0">
              <a:buNone/>
              <a:defRPr sz="2800" baseline="0">
                <a:solidFill>
                  <a:srgbClr val="54545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2" y="2838206"/>
            <a:ext cx="932688" cy="328314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977741" y="2838206"/>
            <a:ext cx="6720840" cy="328314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121" y="6004726"/>
            <a:ext cx="1839249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656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ide-by-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99941"/>
            <a:ext cx="4038600" cy="431995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545454"/>
                </a:solidFill>
              </a:defRPr>
            </a:lvl1pPr>
            <a:lvl2pPr>
              <a:defRPr sz="2000">
                <a:solidFill>
                  <a:srgbClr val="545454"/>
                </a:solidFill>
              </a:defRPr>
            </a:lvl2pPr>
            <a:lvl3pPr>
              <a:defRPr sz="1800">
                <a:solidFill>
                  <a:srgbClr val="545454"/>
                </a:solidFill>
              </a:defRPr>
            </a:lvl3pPr>
            <a:lvl4pPr>
              <a:defRPr sz="1600">
                <a:solidFill>
                  <a:srgbClr val="545454"/>
                </a:solidFill>
              </a:defRPr>
            </a:lvl4pPr>
            <a:lvl5pPr>
              <a:defRPr sz="1600">
                <a:solidFill>
                  <a:srgbClr val="545454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99941"/>
            <a:ext cx="4038600" cy="431995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545454"/>
                </a:solidFill>
              </a:defRPr>
            </a:lvl1pPr>
            <a:lvl2pPr>
              <a:defRPr sz="2000">
                <a:solidFill>
                  <a:srgbClr val="545454"/>
                </a:solidFill>
              </a:defRPr>
            </a:lvl2pPr>
            <a:lvl3pPr>
              <a:defRPr sz="1800">
                <a:solidFill>
                  <a:srgbClr val="545454"/>
                </a:solidFill>
              </a:defRPr>
            </a:lvl3pPr>
            <a:lvl4pPr>
              <a:defRPr sz="1600">
                <a:solidFill>
                  <a:srgbClr val="545454"/>
                </a:solidFill>
              </a:defRPr>
            </a:lvl4pPr>
            <a:lvl5pPr>
              <a:defRPr sz="1600">
                <a:solidFill>
                  <a:srgbClr val="545454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110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000" b="1">
                <a:solidFill>
                  <a:srgbClr val="54545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647587"/>
          </a:xfrm>
        </p:spPr>
        <p:txBody>
          <a:bodyPr>
            <a:normAutofit/>
          </a:bodyPr>
          <a:lstStyle>
            <a:lvl1pPr>
              <a:defRPr sz="2000">
                <a:solidFill>
                  <a:srgbClr val="545454"/>
                </a:solidFill>
              </a:defRPr>
            </a:lvl1pPr>
            <a:lvl2pPr>
              <a:defRPr sz="1800">
                <a:solidFill>
                  <a:srgbClr val="545454"/>
                </a:solidFill>
              </a:defRPr>
            </a:lvl2pPr>
            <a:lvl3pPr>
              <a:defRPr sz="1600">
                <a:solidFill>
                  <a:srgbClr val="545454"/>
                </a:solidFill>
              </a:defRPr>
            </a:lvl3pPr>
            <a:lvl4pPr>
              <a:defRPr sz="1400">
                <a:solidFill>
                  <a:srgbClr val="545454"/>
                </a:solidFill>
              </a:defRPr>
            </a:lvl4pPr>
            <a:lvl5pPr>
              <a:defRPr sz="1400">
                <a:solidFill>
                  <a:srgbClr val="545454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000" b="1">
                <a:solidFill>
                  <a:srgbClr val="54545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647587"/>
          </a:xfrm>
        </p:spPr>
        <p:txBody>
          <a:bodyPr>
            <a:normAutofit/>
          </a:bodyPr>
          <a:lstStyle>
            <a:lvl1pPr>
              <a:defRPr sz="2000">
                <a:solidFill>
                  <a:srgbClr val="545454"/>
                </a:solidFill>
              </a:defRPr>
            </a:lvl1pPr>
            <a:lvl2pPr>
              <a:defRPr sz="1800">
                <a:solidFill>
                  <a:srgbClr val="545454"/>
                </a:solidFill>
              </a:defRPr>
            </a:lvl2pPr>
            <a:lvl3pPr>
              <a:defRPr sz="1600">
                <a:solidFill>
                  <a:srgbClr val="545454"/>
                </a:solidFill>
              </a:defRPr>
            </a:lvl3pPr>
            <a:lvl4pPr>
              <a:defRPr sz="1400">
                <a:solidFill>
                  <a:srgbClr val="545454"/>
                </a:solidFill>
              </a:defRPr>
            </a:lvl4pPr>
            <a:lvl5pPr>
              <a:defRPr sz="1400">
                <a:solidFill>
                  <a:srgbClr val="545454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463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054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346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8935" y="4666920"/>
            <a:ext cx="7190154" cy="566738"/>
          </a:xfrm>
        </p:spPr>
        <p:txBody>
          <a:bodyPr anchor="b">
            <a:noAutofit/>
          </a:bodyPr>
          <a:lstStyle>
            <a:lvl1pPr algn="ctr">
              <a:defRPr sz="3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8935" y="547480"/>
            <a:ext cx="7190154" cy="404446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88935" y="5233658"/>
            <a:ext cx="7190154" cy="464893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rgbClr val="545454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058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9162288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1011276" y="2068035"/>
            <a:ext cx="6631472" cy="1362075"/>
          </a:xfrm>
        </p:spPr>
        <p:txBody>
          <a:bodyPr lIns="0" rIns="457200" anchor="b" anchorCtr="0"/>
          <a:lstStyle>
            <a:lvl1pPr algn="l">
              <a:defRPr sz="4000" b="0" cap="all" spc="100" baseline="0">
                <a:solidFill>
                  <a:srgbClr val="00274C"/>
                </a:solidFill>
              </a:defRPr>
            </a:lvl1pPr>
          </a:lstStyle>
          <a:p>
            <a:r>
              <a:rPr lang="en-US" dirty="0"/>
              <a:t>Click to edit Thank you Title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1011276" y="4043784"/>
            <a:ext cx="6631472" cy="1358157"/>
          </a:xfrm>
        </p:spPr>
        <p:txBody>
          <a:bodyPr lIns="0" rIns="457200" anchor="t" anchorCtr="0">
            <a:normAutofit/>
          </a:bodyPr>
          <a:lstStyle>
            <a:lvl1pPr marL="0" indent="0">
              <a:buNone/>
              <a:defRPr sz="2800" baseline="0">
                <a:solidFill>
                  <a:srgbClr val="54545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3572790"/>
            <a:ext cx="932688" cy="328314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977743" y="3572790"/>
            <a:ext cx="6720840" cy="328314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121" y="6004726"/>
            <a:ext cx="1839249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6916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7789" y="5948707"/>
            <a:ext cx="969263" cy="768652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1005840" y="5948707"/>
            <a:ext cx="8138160" cy="768652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90293"/>
            <a:ext cx="8229600" cy="10607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Header Style is Arial 38pt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03888"/>
            <a:ext cx="8229600" cy="4357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508" y="6137824"/>
            <a:ext cx="32750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2"/>
          </p:nvPr>
        </p:nvSpPr>
        <p:spPr>
          <a:xfrm>
            <a:off x="4467554" y="6137824"/>
            <a:ext cx="1270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135792" y="6138686"/>
            <a:ext cx="6428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274C"/>
                </a:solidFill>
              </a:defRPr>
            </a:lvl1pPr>
          </a:lstStyle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6849" y="6137824"/>
            <a:ext cx="1839951" cy="40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220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800" b="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rgbClr val="545454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545454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545454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545454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545454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diagramData" Target="../diagrams/data2.xml"/><Relationship Id="rId8" Type="http://schemas.openxmlformats.org/officeDocument/2006/relationships/diagramLayout" Target="../diagrams/layout2.xml"/><Relationship Id="rId9" Type="http://schemas.openxmlformats.org/officeDocument/2006/relationships/diagramQuickStyle" Target="../diagrams/quickStyle2.xml"/><Relationship Id="rId10" Type="http://schemas.openxmlformats.org/officeDocument/2006/relationships/diagramColors" Target="../diagrams/colors2.xml"/><Relationship Id="rId11" Type="http://schemas.microsoft.com/office/2007/relationships/diagramDrawing" Target="../diagrams/drawing2.xml"/><Relationship Id="rId1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4701" y="2130425"/>
            <a:ext cx="7517411" cy="2949369"/>
          </a:xfrm>
        </p:spPr>
        <p:txBody>
          <a:bodyPr>
            <a:normAutofit/>
          </a:bodyPr>
          <a:lstStyle/>
          <a:p>
            <a:pPr>
              <a:lnSpc>
                <a:spcPct val="114000"/>
              </a:lnSpc>
            </a:pPr>
            <a:r>
              <a:rPr lang="en-US" sz="4000" b="0" dirty="0"/>
              <a:t>Liabilities </a:t>
            </a:r>
          </a:p>
        </p:txBody>
      </p:sp>
    </p:spTree>
    <p:extLst>
      <p:ext uri="{BB962C8B-B14F-4D97-AF65-F5344CB8AC3E}">
        <p14:creationId xmlns:p14="http://schemas.microsoft.com/office/powerpoint/2010/main" val="69579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Capital Structure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3888"/>
            <a:ext cx="8229600" cy="4357652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00274C"/>
                </a:solidFill>
              </a:rPr>
              <a:t>Companies finance operations from two sources:</a:t>
            </a:r>
          </a:p>
          <a:p>
            <a:pPr marL="0" indent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00274C"/>
                </a:solidFill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2300" b="1" dirty="0">
                <a:solidFill>
                  <a:srgbClr val="FDB515"/>
                </a:solidFill>
              </a:rPr>
              <a:t>Equity</a:t>
            </a:r>
            <a:r>
              <a:rPr lang="en-US" sz="2300" dirty="0">
                <a:solidFill>
                  <a:srgbClr val="00274C"/>
                </a:solidFill>
              </a:rPr>
              <a:t> – owners, shareholders</a:t>
            </a:r>
          </a:p>
          <a:p>
            <a:pPr>
              <a:lnSpc>
                <a:spcPct val="114000"/>
              </a:lnSpc>
            </a:pPr>
            <a:r>
              <a:rPr lang="en-US" sz="2300" b="1" dirty="0">
                <a:solidFill>
                  <a:srgbClr val="FDB515"/>
                </a:solidFill>
              </a:rPr>
              <a:t>Liabilities - </a:t>
            </a:r>
            <a:r>
              <a:rPr lang="en-US" sz="2300" dirty="0">
                <a:solidFill>
                  <a:srgbClr val="00274C"/>
                </a:solidFill>
              </a:rPr>
              <a:t>lenders, vendors and customers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 marL="0" indent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00274C"/>
                </a:solidFill>
              </a:rPr>
              <a:t>The mix of debt and equity is the company’s </a:t>
            </a:r>
            <a:r>
              <a:rPr lang="en-US" sz="2300" b="1" dirty="0">
                <a:solidFill>
                  <a:srgbClr val="FDB515"/>
                </a:solidFill>
              </a:rPr>
              <a:t>capital structure.</a:t>
            </a:r>
            <a:r>
              <a:rPr lang="en-US" sz="2300" dirty="0">
                <a:solidFill>
                  <a:srgbClr val="00274C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93650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Liabilities – overview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3888"/>
            <a:ext cx="8229600" cy="4357652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Liabilities</a:t>
            </a:r>
            <a:r>
              <a:rPr lang="en-US" sz="2300" dirty="0">
                <a:solidFill>
                  <a:srgbClr val="00274C"/>
                </a:solidFill>
              </a:rPr>
              <a:t> - probable future sacrifice of economic benefits that arise from past transactions. 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2300" b="1" dirty="0">
                <a:solidFill>
                  <a:srgbClr val="FDB515"/>
                </a:solidFill>
              </a:rPr>
              <a:t>Types by maturity: </a:t>
            </a:r>
            <a:r>
              <a:rPr lang="en-US" sz="2300" dirty="0">
                <a:solidFill>
                  <a:srgbClr val="00274C"/>
                </a:solidFill>
              </a:rPr>
              <a:t>Current (short-term) and Long-term 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2300" b="1" dirty="0">
                <a:solidFill>
                  <a:srgbClr val="FDB515"/>
                </a:solidFill>
              </a:rPr>
              <a:t>Types by source: </a:t>
            </a:r>
            <a:r>
              <a:rPr lang="en-US" sz="2300" dirty="0">
                <a:solidFill>
                  <a:srgbClr val="00274C"/>
                </a:solidFill>
              </a:rPr>
              <a:t>Operating and Financial (non-operating) </a:t>
            </a:r>
          </a:p>
        </p:txBody>
      </p:sp>
    </p:spTree>
    <p:extLst>
      <p:ext uri="{BB962C8B-B14F-4D97-AF65-F5344CB8AC3E}">
        <p14:creationId xmlns:p14="http://schemas.microsoft.com/office/powerpoint/2010/main" val="764244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Operating liabilities – Starbucks example </a:t>
            </a:r>
            <a:endParaRPr lang="en-US" dirty="0">
              <a:solidFill>
                <a:srgbClr val="15284B"/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5E84C24-70A2-B8D2-A179-E75C6085C6B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646858"/>
              </p:ext>
            </p:extLst>
          </p:nvPr>
        </p:nvGraphicFramePr>
        <p:xfrm>
          <a:off x="416786" y="1246252"/>
          <a:ext cx="3924394" cy="43654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E48BB439-0841-AB80-E7E4-71C6E4FF19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4240494"/>
              </p:ext>
            </p:extLst>
          </p:nvPr>
        </p:nvGraphicFramePr>
        <p:xfrm>
          <a:off x="4531586" y="1246252"/>
          <a:ext cx="3924394" cy="43654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AE988751-B59D-19BD-A3AA-EB42ECEB1A36}"/>
              </a:ext>
            </a:extLst>
          </p:cNvPr>
          <p:cNvSpPr/>
          <p:nvPr/>
        </p:nvSpPr>
        <p:spPr>
          <a:xfrm>
            <a:off x="3779746" y="1763396"/>
            <a:ext cx="1215822" cy="467450"/>
          </a:xfrm>
          <a:prstGeom prst="rightArrow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9380C67-43E5-90C4-0027-E5B1D4B86A83}"/>
              </a:ext>
            </a:extLst>
          </p:cNvPr>
          <p:cNvSpPr/>
          <p:nvPr/>
        </p:nvSpPr>
        <p:spPr>
          <a:xfrm>
            <a:off x="3747742" y="2777399"/>
            <a:ext cx="1215822" cy="467450"/>
          </a:xfrm>
          <a:prstGeom prst="rightArrow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8A12264-29A1-BE76-BB03-E816733CB6B2}"/>
              </a:ext>
            </a:extLst>
          </p:cNvPr>
          <p:cNvSpPr/>
          <p:nvPr/>
        </p:nvSpPr>
        <p:spPr>
          <a:xfrm>
            <a:off x="3779746" y="3869564"/>
            <a:ext cx="1215822" cy="467450"/>
          </a:xfrm>
          <a:prstGeom prst="rightArrow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7A136FF-FC00-144C-C56C-7C946CB8F917}"/>
              </a:ext>
            </a:extLst>
          </p:cNvPr>
          <p:cNvSpPr/>
          <p:nvPr/>
        </p:nvSpPr>
        <p:spPr>
          <a:xfrm>
            <a:off x="3779746" y="4887596"/>
            <a:ext cx="1215822" cy="467450"/>
          </a:xfrm>
          <a:prstGeom prst="rightArrow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186694-9FAB-EA22-63BC-21A6A0E6FDBD}"/>
              </a:ext>
            </a:extLst>
          </p:cNvPr>
          <p:cNvSpPr txBox="1"/>
          <p:nvPr/>
        </p:nvSpPr>
        <p:spPr>
          <a:xfrm>
            <a:off x="1296326" y="5611747"/>
            <a:ext cx="65513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Financial accounting, Libby, Libby and Hodge, 10</a:t>
            </a:r>
            <a:r>
              <a:rPr lang="en-US" sz="900" baseline="30000" dirty="0"/>
              <a:t>th</a:t>
            </a:r>
            <a:r>
              <a:rPr lang="en-US" sz="900" dirty="0"/>
              <a:t> edition, McGraw-Hill Education</a:t>
            </a:r>
          </a:p>
        </p:txBody>
      </p:sp>
    </p:spTree>
    <p:extLst>
      <p:ext uri="{BB962C8B-B14F-4D97-AF65-F5344CB8AC3E}">
        <p14:creationId xmlns:p14="http://schemas.microsoft.com/office/powerpoint/2010/main" val="2584808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Financial liabilities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3888"/>
            <a:ext cx="8229600" cy="4357652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00274C"/>
                </a:solidFill>
              </a:rPr>
              <a:t>Financial liabilities (debt) represents capital provided by </a:t>
            </a:r>
            <a:r>
              <a:rPr lang="en-US" sz="2300" b="1" dirty="0">
                <a:solidFill>
                  <a:srgbClr val="FDB515"/>
                </a:solidFill>
              </a:rPr>
              <a:t>financial partners</a:t>
            </a:r>
            <a:r>
              <a:rPr lang="en-US" sz="2300" dirty="0">
                <a:solidFill>
                  <a:srgbClr val="00274C"/>
                </a:solidFill>
              </a:rPr>
              <a:t>. The contractual cost is called </a:t>
            </a:r>
            <a:r>
              <a:rPr lang="en-US" sz="2300" b="1" dirty="0">
                <a:solidFill>
                  <a:srgbClr val="FDB515"/>
                </a:solidFill>
              </a:rPr>
              <a:t>interest</a:t>
            </a:r>
            <a:r>
              <a:rPr lang="en-US" sz="2300" b="1" dirty="0">
                <a:solidFill>
                  <a:srgbClr val="00274C"/>
                </a:solidFill>
              </a:rPr>
              <a:t>. 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2300" b="1" dirty="0">
                <a:solidFill>
                  <a:srgbClr val="FDB515"/>
                </a:solidFill>
              </a:rPr>
              <a:t>Short term debt </a:t>
            </a:r>
            <a:r>
              <a:rPr lang="en-US" sz="2300" dirty="0">
                <a:solidFill>
                  <a:srgbClr val="00274C"/>
                </a:solidFill>
              </a:rPr>
              <a:t>– needs to be repaid within one year. </a:t>
            </a:r>
            <a:r>
              <a:rPr lang="en-US" sz="2300" b="1" dirty="0">
                <a:solidFill>
                  <a:srgbClr val="FDB515"/>
                </a:solidFill>
              </a:rPr>
              <a:t>Long term debt </a:t>
            </a:r>
            <a:r>
              <a:rPr lang="en-US" sz="2300" dirty="0">
                <a:solidFill>
                  <a:srgbClr val="00274C"/>
                </a:solidFill>
              </a:rPr>
              <a:t>– could be obtained in a private transaction or via issuance of publicly traded securities (commercial paper, bonds). 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 marL="0" indent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00274C"/>
                </a:solidFill>
              </a:rPr>
              <a:t>Each type of financing has </a:t>
            </a:r>
            <a:r>
              <a:rPr lang="en-US" sz="2300" b="1" dirty="0">
                <a:solidFill>
                  <a:srgbClr val="FDB515"/>
                </a:solidFill>
              </a:rPr>
              <a:t>pros and cons</a:t>
            </a:r>
            <a:r>
              <a:rPr lang="en-US" sz="2300" dirty="0">
                <a:solidFill>
                  <a:srgbClr val="00274C"/>
                </a:solidFill>
              </a:rPr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369646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Note/Loan Payable and interest expense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1F365-A587-A84E-3382-A45D140CD416}"/>
              </a:ext>
            </a:extLst>
          </p:cNvPr>
          <p:cNvSpPr txBox="1"/>
          <p:nvPr/>
        </p:nvSpPr>
        <p:spPr>
          <a:xfrm>
            <a:off x="523748" y="1415428"/>
            <a:ext cx="7900924" cy="132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2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-112" charset="2"/>
              <a:buNone/>
              <a:defRPr/>
            </a:pPr>
            <a:r>
              <a:rPr lang="en-US" sz="2300" dirty="0"/>
              <a:t>A </a:t>
            </a:r>
            <a:r>
              <a:rPr lang="en-US" sz="2300" b="1" dirty="0">
                <a:solidFill>
                  <a:srgbClr val="FDB515"/>
                </a:solidFill>
              </a:rPr>
              <a:t>note payable: </a:t>
            </a:r>
            <a:r>
              <a:rPr lang="en-US" sz="2300" dirty="0"/>
              <a:t>formal written contract that specifies the </a:t>
            </a:r>
            <a:r>
              <a:rPr lang="en-US" sz="2300" b="1" dirty="0">
                <a:solidFill>
                  <a:srgbClr val="FDB515"/>
                </a:solidFill>
              </a:rPr>
              <a:t>principal, </a:t>
            </a:r>
            <a:r>
              <a:rPr lang="en-US" sz="2300" dirty="0"/>
              <a:t>the </a:t>
            </a:r>
            <a:r>
              <a:rPr lang="en-US" sz="2300" b="1" dirty="0">
                <a:solidFill>
                  <a:srgbClr val="FDB515"/>
                </a:solidFill>
              </a:rPr>
              <a:t>repayment date </a:t>
            </a:r>
            <a:r>
              <a:rPr lang="en-US" sz="2300" dirty="0"/>
              <a:t>and the </a:t>
            </a:r>
            <a:r>
              <a:rPr lang="en-US" sz="2300" b="1" dirty="0">
                <a:solidFill>
                  <a:srgbClr val="FDB515"/>
                </a:solidFill>
              </a:rPr>
              <a:t>interest rate</a:t>
            </a:r>
            <a:r>
              <a:rPr lang="en-US" sz="2300" dirty="0"/>
              <a:t>.  </a:t>
            </a:r>
          </a:p>
          <a:p>
            <a:pPr>
              <a:lnSpc>
                <a:spcPct val="112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-112" charset="2"/>
              <a:buNone/>
              <a:defRPr/>
            </a:pPr>
            <a:endParaRPr lang="en-US" sz="2300" dirty="0"/>
          </a:p>
        </p:txBody>
      </p:sp>
      <p:pic>
        <p:nvPicPr>
          <p:cNvPr id="7" name="Picture 6" descr="Timeline of a note payable. On November 1 the company borrows from the bank; December 31 is the fiscal year-end when interest is accrued; interest is due April 30; and the remaining interest plus the principal are due October 31. Source: Libby, Libby and Hodge.">
            <a:extLst>
              <a:ext uri="{FF2B5EF4-FFF2-40B4-BE49-F238E27FC236}">
                <a16:creationId xmlns:a16="http://schemas.microsoft.com/office/drawing/2014/main" id="{B17A3E05-730B-8DE8-96CE-7281B13A6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184" y="2476226"/>
            <a:ext cx="6078861" cy="29663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6F368D-CF43-832A-17CA-94CA9C0614E3}"/>
              </a:ext>
            </a:extLst>
          </p:cNvPr>
          <p:cNvSpPr txBox="1"/>
          <p:nvPr/>
        </p:nvSpPr>
        <p:spPr>
          <a:xfrm>
            <a:off x="1623547" y="5650468"/>
            <a:ext cx="65513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Financial accounting, Libby, Libby and Hodge, 10</a:t>
            </a:r>
            <a:r>
              <a:rPr lang="en-US" sz="900" baseline="30000" dirty="0"/>
              <a:t>th</a:t>
            </a:r>
            <a:r>
              <a:rPr lang="en-US" sz="900" dirty="0"/>
              <a:t> edition, McGraw-Hill Education</a:t>
            </a:r>
          </a:p>
        </p:txBody>
      </p:sp>
    </p:spTree>
    <p:extLst>
      <p:ext uri="{BB962C8B-B14F-4D97-AF65-F5344CB8AC3E}">
        <p14:creationId xmlns:p14="http://schemas.microsoft.com/office/powerpoint/2010/main" val="2395475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Note/Loan Payable and interest – reporting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3888"/>
            <a:ext cx="8229600" cy="4357652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At the time of borrowing: </a:t>
            </a:r>
            <a:r>
              <a:rPr lang="en-US" sz="2300" dirty="0">
                <a:solidFill>
                  <a:srgbClr val="00274C"/>
                </a:solidFill>
              </a:rPr>
              <a:t>Cash and liabilities increase by the same amount. No effect on the income statement.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At the end of each reporting period:</a:t>
            </a:r>
            <a:r>
              <a:rPr lang="en-US" sz="2300" dirty="0">
                <a:solidFill>
                  <a:srgbClr val="00274C"/>
                </a:solidFill>
              </a:rPr>
              <a:t> the interest is reported as an expense on the income statement even if not paid in cash. 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At the loan due date: </a:t>
            </a:r>
            <a:r>
              <a:rPr lang="en-US" sz="2300" dirty="0">
                <a:solidFill>
                  <a:srgbClr val="00274C"/>
                </a:solidFill>
              </a:rPr>
              <a:t>Cash and the liabilities decrease by the amount repaid. No effect on the income statement. </a:t>
            </a:r>
            <a:endParaRPr lang="en-US" sz="2300" b="1" dirty="0">
              <a:solidFill>
                <a:srgbClr val="FDB51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5801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What drives the interest rate?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3888"/>
            <a:ext cx="8229600" cy="4357652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00274C"/>
                </a:solidFill>
              </a:rPr>
              <a:t>The </a:t>
            </a:r>
            <a:r>
              <a:rPr lang="en-US" sz="2300" b="1" dirty="0">
                <a:solidFill>
                  <a:srgbClr val="FDB515"/>
                </a:solidFill>
              </a:rPr>
              <a:t>interest rate </a:t>
            </a:r>
            <a:r>
              <a:rPr lang="en-US" sz="2300" dirty="0">
                <a:solidFill>
                  <a:srgbClr val="00274C"/>
                </a:solidFill>
              </a:rPr>
              <a:t>for financial liabilities is </a:t>
            </a:r>
            <a:r>
              <a:rPr lang="en-US" sz="2300" b="1" dirty="0">
                <a:solidFill>
                  <a:srgbClr val="FDB515"/>
                </a:solidFill>
              </a:rPr>
              <a:t>affected </a:t>
            </a:r>
            <a:r>
              <a:rPr lang="en-US" sz="2300" dirty="0">
                <a:solidFill>
                  <a:srgbClr val="00274C"/>
                </a:solidFill>
              </a:rPr>
              <a:t>by: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2300" b="1" dirty="0">
                <a:solidFill>
                  <a:srgbClr val="00274C"/>
                </a:solidFill>
              </a:rPr>
              <a:t>Nominal base rate </a:t>
            </a:r>
            <a:r>
              <a:rPr lang="en-US" sz="2300" dirty="0">
                <a:solidFill>
                  <a:srgbClr val="00274C"/>
                </a:solidFill>
              </a:rPr>
              <a:t>– risk free rate including inflation </a:t>
            </a:r>
          </a:p>
          <a:p>
            <a:pPr>
              <a:lnSpc>
                <a:spcPct val="114000"/>
              </a:lnSpc>
            </a:pPr>
            <a:r>
              <a:rPr lang="en-US" sz="2300" b="1" dirty="0">
                <a:solidFill>
                  <a:srgbClr val="00274C"/>
                </a:solidFill>
              </a:rPr>
              <a:t>Premium for maturity </a:t>
            </a:r>
            <a:r>
              <a:rPr lang="en-US" sz="2300" dirty="0">
                <a:solidFill>
                  <a:srgbClr val="00274C"/>
                </a:solidFill>
              </a:rPr>
              <a:t>–</a:t>
            </a:r>
            <a:r>
              <a:rPr lang="en-US" sz="2300" b="1" dirty="0">
                <a:solidFill>
                  <a:srgbClr val="00274C"/>
                </a:solidFill>
              </a:rPr>
              <a:t> </a:t>
            </a:r>
            <a:r>
              <a:rPr lang="en-US" sz="2300" dirty="0">
                <a:solidFill>
                  <a:srgbClr val="00274C"/>
                </a:solidFill>
              </a:rPr>
              <a:t>compensation for time horizon</a:t>
            </a:r>
          </a:p>
          <a:p>
            <a:pPr>
              <a:lnSpc>
                <a:spcPct val="114000"/>
              </a:lnSpc>
            </a:pPr>
            <a:r>
              <a:rPr lang="en-US" sz="2300" b="1" dirty="0">
                <a:solidFill>
                  <a:srgbClr val="00274C"/>
                </a:solidFill>
              </a:rPr>
              <a:t>Premium for default risk </a:t>
            </a:r>
            <a:r>
              <a:rPr lang="en-US" sz="2300" dirty="0">
                <a:solidFill>
                  <a:srgbClr val="00274C"/>
                </a:solidFill>
              </a:rPr>
              <a:t>– varies with credit quality </a:t>
            </a:r>
          </a:p>
          <a:p>
            <a:pPr lvl="1"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The credit quality depends on: Business risk and Financial risk. </a:t>
            </a:r>
          </a:p>
        </p:txBody>
      </p:sp>
    </p:spTree>
    <p:extLst>
      <p:ext uri="{BB962C8B-B14F-4D97-AF65-F5344CB8AC3E}">
        <p14:creationId xmlns:p14="http://schemas.microsoft.com/office/powerpoint/2010/main" val="3104705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Historical Fed Funds rate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3979" y="5589278"/>
            <a:ext cx="7232821" cy="374339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5284B"/>
                </a:solidFill>
              </a:rPr>
              <a:t>Source: Board of Governors of the Federal Reserve System (US) –June 2025</a:t>
            </a:r>
            <a:endParaRPr lang="en-US" sz="2000" dirty="0">
              <a:solidFill>
                <a:srgbClr val="15284B"/>
              </a:solidFill>
            </a:endParaRPr>
          </a:p>
        </p:txBody>
      </p:sp>
      <p:pic>
        <p:nvPicPr>
          <p:cNvPr id="4" name="Picture 3" descr="FRED line chart of the U.S. Federal Funds Effective Rate from about 2001 to 2025. The rate is near 6.5% in 2000-2001, falls to about 1% by 2003-2004, rises above 5% by 2006-2007, drops near zero after the 2008 recession, climbs to about 2.4% by 2019, falls to near zero in 2020, then rises sharply to roughly 5.3% in 2023-2024 before easing toward 4%. Source: Board of Governors of the Federal Reserve System via FRED.">
            <a:extLst>
              <a:ext uri="{FF2B5EF4-FFF2-40B4-BE49-F238E27FC236}">
                <a16:creationId xmlns:a16="http://schemas.microsoft.com/office/drawing/2014/main" id="{EE2BEC5E-D0FE-92D0-4DAC-761ACD48D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828" y="1451091"/>
            <a:ext cx="7190824" cy="409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199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>
                <a:solidFill>
                  <a:srgbClr val="15284B"/>
                </a:solidFill>
              </a:rPr>
              <a:t>Historical credit spreads (Baa – US Treasury)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3979" y="5564564"/>
            <a:ext cx="7232821" cy="374339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5284B"/>
                </a:solidFill>
              </a:rPr>
              <a:t>Source: Board of Governors of the Federal Reserve System (US) </a:t>
            </a:r>
            <a:r>
              <a:rPr lang="en-US" sz="1000">
                <a:solidFill>
                  <a:srgbClr val="15284B"/>
                </a:solidFill>
              </a:rPr>
              <a:t>– June 2025</a:t>
            </a:r>
            <a:endParaRPr lang="en-US" sz="2000" dirty="0">
              <a:solidFill>
                <a:srgbClr val="00274C"/>
              </a:solidFill>
            </a:endParaRPr>
          </a:p>
        </p:txBody>
      </p:sp>
      <p:pic>
        <p:nvPicPr>
          <p:cNvPr id="5" name="Picture 4" descr="FRED line chart of the credit spread, measured as Moody's seasoned Baa corporate bond yield minus the 10-year U.S. Treasury yield, from about 2001 to 2025. The spread mostly ranges between roughly 1.5% and 3.5%, spiking to about 6% during the 2008-2009 financial crisis and to roughly 3.8% in early 2020 before narrowing. Source: Federal Reserve via FRED.">
            <a:extLst>
              <a:ext uri="{FF2B5EF4-FFF2-40B4-BE49-F238E27FC236}">
                <a16:creationId xmlns:a16="http://schemas.microsoft.com/office/drawing/2014/main" id="{F6160A3D-D2C8-81F0-F768-AC7532297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89" y="1411477"/>
            <a:ext cx="7079764" cy="403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56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Indebtedness – metrics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3888"/>
            <a:ext cx="8229600" cy="4357652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Debt / Assets </a:t>
            </a:r>
            <a:r>
              <a:rPr lang="en-US" sz="2300" dirty="0">
                <a:solidFill>
                  <a:srgbClr val="00274C"/>
                </a:solidFill>
              </a:rPr>
              <a:t>and </a:t>
            </a:r>
            <a:r>
              <a:rPr lang="en-US" sz="2300" b="1" dirty="0">
                <a:solidFill>
                  <a:srgbClr val="FDB515"/>
                </a:solidFill>
              </a:rPr>
              <a:t>Debt / Equity: </a:t>
            </a: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show what % of </a:t>
            </a:r>
            <a:r>
              <a:rPr lang="en-US" sz="2300">
                <a:solidFill>
                  <a:srgbClr val="00274C"/>
                </a:solidFill>
              </a:rPr>
              <a:t>the assets </a:t>
            </a:r>
            <a:r>
              <a:rPr lang="en-US" sz="2300" dirty="0">
                <a:solidFill>
                  <a:srgbClr val="00274C"/>
                </a:solidFill>
              </a:rPr>
              <a:t>is financed with debt.  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Interest coverage: EBIT / interest expense:</a:t>
            </a: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shows the company’s ability to service its debt. 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 marL="0" indent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00274C"/>
                </a:solidFill>
              </a:rPr>
              <a:t>The ratios have effect on the company’s credit rating and therefore, the cost of its debt capital. </a:t>
            </a:r>
          </a:p>
        </p:txBody>
      </p:sp>
    </p:spTree>
    <p:extLst>
      <p:ext uri="{BB962C8B-B14F-4D97-AF65-F5344CB8AC3E}">
        <p14:creationId xmlns:p14="http://schemas.microsoft.com/office/powerpoint/2010/main" val="3051742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erkeley-Haas Color Palette">
      <a:dk1>
        <a:srgbClr val="003057"/>
      </a:dk1>
      <a:lt1>
        <a:sysClr val="window" lastClr="FFFFFF"/>
      </a:lt1>
      <a:dk2>
        <a:srgbClr val="75777B"/>
      </a:dk2>
      <a:lt2>
        <a:srgbClr val="C3BDAD"/>
      </a:lt2>
      <a:accent1>
        <a:srgbClr val="0072CE"/>
      </a:accent1>
      <a:accent2>
        <a:srgbClr val="D8623F"/>
      </a:accent2>
      <a:accent3>
        <a:srgbClr val="6AA603"/>
      </a:accent3>
      <a:accent4>
        <a:srgbClr val="EFB82B"/>
      </a:accent4>
      <a:accent5>
        <a:srgbClr val="EA4D6C"/>
      </a:accent5>
      <a:accent6>
        <a:srgbClr val="9BBFAD"/>
      </a:accent6>
      <a:hlink>
        <a:srgbClr val="B2B3B2"/>
      </a:hlink>
      <a:folHlink>
        <a:srgbClr val="777877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16759</TotalTime>
  <Words>478</Words>
  <Application>Microsoft Office PowerPoint</Application>
  <PresentationFormat>On-screen Show (4:3)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Office Theme</vt:lpstr>
      <vt:lpstr>Liabilities </vt:lpstr>
      <vt:lpstr>Capital Structure </vt:lpstr>
      <vt:lpstr>Liabilities – overview </vt:lpstr>
      <vt:lpstr>Operating liabilities – Starbucks example </vt:lpstr>
      <vt:lpstr>Financial liabilities </vt:lpstr>
      <vt:lpstr>Note/Loan Payable and interest expense `</vt:lpstr>
      <vt:lpstr>Note/Loan Payable and interest – reporting </vt:lpstr>
      <vt:lpstr>What drives the interest rate? </vt:lpstr>
      <vt:lpstr>Historical Fed Funds rate</vt:lpstr>
      <vt:lpstr>Historical credit spreads (Baa – US Treasury) </vt:lpstr>
      <vt:lpstr>Indebtedness – metrics </vt:lpstr>
    </vt:vector>
  </TitlesOfParts>
  <Company>Haas School of Business, 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Mai Pham Le</dc:creator>
  <cp:lastModifiedBy>Veselina Dinova</cp:lastModifiedBy>
  <cp:revision>166</cp:revision>
  <dcterms:created xsi:type="dcterms:W3CDTF">2014-11-25T20:43:26Z</dcterms:created>
  <dcterms:modified xsi:type="dcterms:W3CDTF">2025-07-12T23:25:47Z</dcterms:modified>
</cp:coreProperties>
</file>
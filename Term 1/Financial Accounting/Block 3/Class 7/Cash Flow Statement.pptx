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2" r:id="rId3"/>
    <p:sldId id="327" r:id="rId4"/>
    <p:sldId id="334" r:id="rId5"/>
    <p:sldId id="328" r:id="rId6"/>
    <p:sldId id="329" r:id="rId7"/>
    <p:sldId id="339" r:id="rId8"/>
    <p:sldId id="335" r:id="rId9"/>
    <p:sldId id="330" r:id="rId10"/>
    <p:sldId id="331" r:id="rId11"/>
    <p:sldId id="33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AF5112-DCCC-F442-B9BB-91E91E5BE225}">
          <p14:sldIdLst>
            <p14:sldId id="256"/>
            <p14:sldId id="262"/>
            <p14:sldId id="327"/>
            <p14:sldId id="334"/>
            <p14:sldId id="328"/>
            <p14:sldId id="329"/>
            <p14:sldId id="339"/>
            <p14:sldId id="335"/>
            <p14:sldId id="330"/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515"/>
    <a:srgbClr val="336600"/>
    <a:srgbClr val="003300"/>
    <a:srgbClr val="00274C"/>
    <a:srgbClr val="15284B"/>
    <a:srgbClr val="545454"/>
    <a:srgbClr val="1C5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859D7A-ED98-4263-8B7C-1AC7F20B8CD1}" v="10" dt="2025-07-13T00:57:22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3586" autoAdjust="0"/>
  </p:normalViewPr>
  <p:slideViewPr>
    <p:cSldViewPr snapToGrid="0" snapToObjects="1">
      <p:cViewPr varScale="1">
        <p:scale>
          <a:sx n="86" d="100"/>
          <a:sy n="86" d="100"/>
        </p:scale>
        <p:origin x="1298" y="2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89859D7A-ED98-4263-8B7C-1AC7F20B8CD1}"/>
    <pc:docChg chg="undo custSel addSld delSld modSld sldOrd modSection">
      <pc:chgData name="Veselina Dinova" userId="5935860719f7b8c5" providerId="LiveId" clId="{89859D7A-ED98-4263-8B7C-1AC7F20B8CD1}" dt="2025-07-13T01:05:51.526" v="1600" actId="20577"/>
      <pc:docMkLst>
        <pc:docMk/>
      </pc:docMkLst>
      <pc:sldChg chg="modSp mod">
        <pc:chgData name="Veselina Dinova" userId="5935860719f7b8c5" providerId="LiveId" clId="{89859D7A-ED98-4263-8B7C-1AC7F20B8CD1}" dt="2025-07-13T00:52:09.399" v="1106" actId="20577"/>
        <pc:sldMkLst>
          <pc:docMk/>
          <pc:sldMk cId="2893650772" sldId="262"/>
        </pc:sldMkLst>
        <pc:spChg chg="mod">
          <ac:chgData name="Veselina Dinova" userId="5935860719f7b8c5" providerId="LiveId" clId="{89859D7A-ED98-4263-8B7C-1AC7F20B8CD1}" dt="2025-07-13T00:52:09.399" v="1106" actId="20577"/>
          <ac:spMkLst>
            <pc:docMk/>
            <pc:sldMk cId="2893650772" sldId="262"/>
            <ac:spMk id="3" creationId="{00000000-0000-0000-0000-000000000000}"/>
          </ac:spMkLst>
        </pc:spChg>
      </pc:sldChg>
      <pc:sldChg chg="del">
        <pc:chgData name="Veselina Dinova" userId="5935860719f7b8c5" providerId="LiveId" clId="{89859D7A-ED98-4263-8B7C-1AC7F20B8CD1}" dt="2025-07-11T23:49:16.575" v="0" actId="47"/>
        <pc:sldMkLst>
          <pc:docMk/>
          <pc:sldMk cId="461449252" sldId="277"/>
        </pc:sldMkLst>
      </pc:sldChg>
      <pc:sldChg chg="del">
        <pc:chgData name="Veselina Dinova" userId="5935860719f7b8c5" providerId="LiveId" clId="{89859D7A-ED98-4263-8B7C-1AC7F20B8CD1}" dt="2025-07-12T00:48:36.441" v="1028" actId="47"/>
        <pc:sldMkLst>
          <pc:docMk/>
          <pc:sldMk cId="2201149398" sldId="284"/>
        </pc:sldMkLst>
      </pc:sldChg>
      <pc:sldChg chg="modSp mod">
        <pc:chgData name="Veselina Dinova" userId="5935860719f7b8c5" providerId="LiveId" clId="{89859D7A-ED98-4263-8B7C-1AC7F20B8CD1}" dt="2025-07-13T00:52:39.541" v="1109" actId="20577"/>
        <pc:sldMkLst>
          <pc:docMk/>
          <pc:sldMk cId="3287081092" sldId="327"/>
        </pc:sldMkLst>
        <pc:spChg chg="mod">
          <ac:chgData name="Veselina Dinova" userId="5935860719f7b8c5" providerId="LiveId" clId="{89859D7A-ED98-4263-8B7C-1AC7F20B8CD1}" dt="2025-07-11T23:54:30.172" v="183" actId="6549"/>
          <ac:spMkLst>
            <pc:docMk/>
            <pc:sldMk cId="3287081092" sldId="327"/>
            <ac:spMk id="2" creationId="{00000000-0000-0000-0000-000000000000}"/>
          </ac:spMkLst>
        </pc:spChg>
        <pc:spChg chg="mod">
          <ac:chgData name="Veselina Dinova" userId="5935860719f7b8c5" providerId="LiveId" clId="{89859D7A-ED98-4263-8B7C-1AC7F20B8CD1}" dt="2025-07-13T00:52:39.541" v="1109" actId="20577"/>
          <ac:spMkLst>
            <pc:docMk/>
            <pc:sldMk cId="3287081092" sldId="327"/>
            <ac:spMk id="3" creationId="{00000000-0000-0000-0000-000000000000}"/>
          </ac:spMkLst>
        </pc:spChg>
      </pc:sldChg>
      <pc:sldChg chg="modSp mod">
        <pc:chgData name="Veselina Dinova" userId="5935860719f7b8c5" providerId="LiveId" clId="{89859D7A-ED98-4263-8B7C-1AC7F20B8CD1}" dt="2025-07-13T00:58:03.294" v="1257" actId="20577"/>
        <pc:sldMkLst>
          <pc:docMk/>
          <pc:sldMk cId="1750357949" sldId="328"/>
        </pc:sldMkLst>
        <pc:spChg chg="mod">
          <ac:chgData name="Veselina Dinova" userId="5935860719f7b8c5" providerId="LiveId" clId="{89859D7A-ED98-4263-8B7C-1AC7F20B8CD1}" dt="2025-07-11T23:54:55.782" v="211" actId="6549"/>
          <ac:spMkLst>
            <pc:docMk/>
            <pc:sldMk cId="1750357949" sldId="328"/>
            <ac:spMk id="2" creationId="{00000000-0000-0000-0000-000000000000}"/>
          </ac:spMkLst>
        </pc:spChg>
        <pc:spChg chg="mod">
          <ac:chgData name="Veselina Dinova" userId="5935860719f7b8c5" providerId="LiveId" clId="{89859D7A-ED98-4263-8B7C-1AC7F20B8CD1}" dt="2025-07-13T00:58:03.294" v="1257" actId="20577"/>
          <ac:spMkLst>
            <pc:docMk/>
            <pc:sldMk cId="1750357949" sldId="328"/>
            <ac:spMk id="3" creationId="{00000000-0000-0000-0000-000000000000}"/>
          </ac:spMkLst>
        </pc:spChg>
      </pc:sldChg>
      <pc:sldChg chg="modSp mod">
        <pc:chgData name="Veselina Dinova" userId="5935860719f7b8c5" providerId="LiveId" clId="{89859D7A-ED98-4263-8B7C-1AC7F20B8CD1}" dt="2025-07-13T00:58:48.467" v="1287" actId="20577"/>
        <pc:sldMkLst>
          <pc:docMk/>
          <pc:sldMk cId="1928372098" sldId="329"/>
        </pc:sldMkLst>
        <pc:spChg chg="mod">
          <ac:chgData name="Veselina Dinova" userId="5935860719f7b8c5" providerId="LiveId" clId="{89859D7A-ED98-4263-8B7C-1AC7F20B8CD1}" dt="2025-07-12T00:00:13.616" v="396" actId="20577"/>
          <ac:spMkLst>
            <pc:docMk/>
            <pc:sldMk cId="1928372098" sldId="329"/>
            <ac:spMk id="2" creationId="{00000000-0000-0000-0000-000000000000}"/>
          </ac:spMkLst>
        </pc:spChg>
        <pc:spChg chg="mod">
          <ac:chgData name="Veselina Dinova" userId="5935860719f7b8c5" providerId="LiveId" clId="{89859D7A-ED98-4263-8B7C-1AC7F20B8CD1}" dt="2025-07-13T00:58:48.467" v="1287" actId="20577"/>
          <ac:spMkLst>
            <pc:docMk/>
            <pc:sldMk cId="1928372098" sldId="329"/>
            <ac:spMk id="3" creationId="{00000000-0000-0000-0000-000000000000}"/>
          </ac:spMkLst>
        </pc:spChg>
      </pc:sldChg>
      <pc:sldChg chg="modSp mod">
        <pc:chgData name="Veselina Dinova" userId="5935860719f7b8c5" providerId="LiveId" clId="{89859D7A-ED98-4263-8B7C-1AC7F20B8CD1}" dt="2025-07-12T00:46:12.267" v="944" actId="255"/>
        <pc:sldMkLst>
          <pc:docMk/>
          <pc:sldMk cId="1332409905" sldId="330"/>
        </pc:sldMkLst>
        <pc:spChg chg="mod">
          <ac:chgData name="Veselina Dinova" userId="5935860719f7b8c5" providerId="LiveId" clId="{89859D7A-ED98-4263-8B7C-1AC7F20B8CD1}" dt="2025-07-12T00:46:12.267" v="944" actId="255"/>
          <ac:spMkLst>
            <pc:docMk/>
            <pc:sldMk cId="1332409905" sldId="330"/>
            <ac:spMk id="3" creationId="{00000000-0000-0000-0000-000000000000}"/>
          </ac:spMkLst>
        </pc:spChg>
      </pc:sldChg>
      <pc:sldChg chg="modSp mod">
        <pc:chgData name="Veselina Dinova" userId="5935860719f7b8c5" providerId="LiveId" clId="{89859D7A-ED98-4263-8B7C-1AC7F20B8CD1}" dt="2025-07-13T01:03:26.803" v="1457" actId="20577"/>
        <pc:sldMkLst>
          <pc:docMk/>
          <pc:sldMk cId="2752543875" sldId="331"/>
        </pc:sldMkLst>
        <pc:spChg chg="mod">
          <ac:chgData name="Veselina Dinova" userId="5935860719f7b8c5" providerId="LiveId" clId="{89859D7A-ED98-4263-8B7C-1AC7F20B8CD1}" dt="2025-07-13T01:03:26.803" v="1457" actId="20577"/>
          <ac:spMkLst>
            <pc:docMk/>
            <pc:sldMk cId="2752543875" sldId="331"/>
            <ac:spMk id="3" creationId="{00000000-0000-0000-0000-000000000000}"/>
          </ac:spMkLst>
        </pc:spChg>
      </pc:sldChg>
      <pc:sldChg chg="modSp mod">
        <pc:chgData name="Veselina Dinova" userId="5935860719f7b8c5" providerId="LiveId" clId="{89859D7A-ED98-4263-8B7C-1AC7F20B8CD1}" dt="2025-07-13T01:05:51.526" v="1600" actId="20577"/>
        <pc:sldMkLst>
          <pc:docMk/>
          <pc:sldMk cId="2785695393" sldId="332"/>
        </pc:sldMkLst>
        <pc:spChg chg="mod">
          <ac:chgData name="Veselina Dinova" userId="5935860719f7b8c5" providerId="LiveId" clId="{89859D7A-ED98-4263-8B7C-1AC7F20B8CD1}" dt="2025-07-13T01:05:51.526" v="1600" actId="20577"/>
          <ac:spMkLst>
            <pc:docMk/>
            <pc:sldMk cId="2785695393" sldId="332"/>
            <ac:spMk id="3" creationId="{00000000-0000-0000-0000-000000000000}"/>
          </ac:spMkLst>
        </pc:spChg>
      </pc:sldChg>
      <pc:sldChg chg="del">
        <pc:chgData name="Veselina Dinova" userId="5935860719f7b8c5" providerId="LiveId" clId="{89859D7A-ED98-4263-8B7C-1AC7F20B8CD1}" dt="2025-07-12T00:49:06.811" v="1030" actId="47"/>
        <pc:sldMkLst>
          <pc:docMk/>
          <pc:sldMk cId="4268319808" sldId="333"/>
        </pc:sldMkLst>
      </pc:sldChg>
      <pc:sldChg chg="addSp modSp mod ord">
        <pc:chgData name="Veselina Dinova" userId="5935860719f7b8c5" providerId="LiveId" clId="{89859D7A-ED98-4263-8B7C-1AC7F20B8CD1}" dt="2025-07-13T00:57:33.098" v="1250" actId="1076"/>
        <pc:sldMkLst>
          <pc:docMk/>
          <pc:sldMk cId="3512099514" sldId="334"/>
        </pc:sldMkLst>
        <pc:spChg chg="mod">
          <ac:chgData name="Veselina Dinova" userId="5935860719f7b8c5" providerId="LiveId" clId="{89859D7A-ED98-4263-8B7C-1AC7F20B8CD1}" dt="2025-07-13T00:57:00.248" v="1244" actId="20577"/>
          <ac:spMkLst>
            <pc:docMk/>
            <pc:sldMk cId="3512099514" sldId="334"/>
            <ac:spMk id="3" creationId="{00000000-0000-0000-0000-000000000000}"/>
          </ac:spMkLst>
        </pc:spChg>
        <pc:spChg chg="add mod">
          <ac:chgData name="Veselina Dinova" userId="5935860719f7b8c5" providerId="LiveId" clId="{89859D7A-ED98-4263-8B7C-1AC7F20B8CD1}" dt="2025-07-13T00:57:20.090" v="1245" actId="1076"/>
          <ac:spMkLst>
            <pc:docMk/>
            <pc:sldMk cId="3512099514" sldId="334"/>
            <ac:spMk id="4" creationId="{06A58155-14C1-2590-4EAB-C7099B3635C7}"/>
          </ac:spMkLst>
        </pc:spChg>
        <pc:spChg chg="add mod">
          <ac:chgData name="Veselina Dinova" userId="5935860719f7b8c5" providerId="LiveId" clId="{89859D7A-ED98-4263-8B7C-1AC7F20B8CD1}" dt="2025-07-13T00:57:33.098" v="1250" actId="1076"/>
          <ac:spMkLst>
            <pc:docMk/>
            <pc:sldMk cId="3512099514" sldId="334"/>
            <ac:spMk id="5" creationId="{611789AD-5291-BE2E-4C50-5654DEB5C53D}"/>
          </ac:spMkLst>
        </pc:spChg>
      </pc:sldChg>
      <pc:sldChg chg="modSp mod">
        <pc:chgData name="Veselina Dinova" userId="5935860719f7b8c5" providerId="LiveId" clId="{89859D7A-ED98-4263-8B7C-1AC7F20B8CD1}" dt="2025-07-13T01:01:39.548" v="1442" actId="20577"/>
        <pc:sldMkLst>
          <pc:docMk/>
          <pc:sldMk cId="3998073299" sldId="335"/>
        </pc:sldMkLst>
        <pc:spChg chg="mod">
          <ac:chgData name="Veselina Dinova" userId="5935860719f7b8c5" providerId="LiveId" clId="{89859D7A-ED98-4263-8B7C-1AC7F20B8CD1}" dt="2025-07-12T00:02:56.526" v="473" actId="20577"/>
          <ac:spMkLst>
            <pc:docMk/>
            <pc:sldMk cId="3998073299" sldId="335"/>
            <ac:spMk id="2" creationId="{00000000-0000-0000-0000-000000000000}"/>
          </ac:spMkLst>
        </pc:spChg>
        <pc:spChg chg="mod">
          <ac:chgData name="Veselina Dinova" userId="5935860719f7b8c5" providerId="LiveId" clId="{89859D7A-ED98-4263-8B7C-1AC7F20B8CD1}" dt="2025-07-13T01:01:39.548" v="1442" actId="20577"/>
          <ac:spMkLst>
            <pc:docMk/>
            <pc:sldMk cId="3998073299" sldId="335"/>
            <ac:spMk id="3" creationId="{00000000-0000-0000-0000-000000000000}"/>
          </ac:spMkLst>
        </pc:spChg>
      </pc:sldChg>
      <pc:sldChg chg="del">
        <pc:chgData name="Veselina Dinova" userId="5935860719f7b8c5" providerId="LiveId" clId="{89859D7A-ED98-4263-8B7C-1AC7F20B8CD1}" dt="2025-07-12T00:50:36.842" v="1089" actId="47"/>
        <pc:sldMkLst>
          <pc:docMk/>
          <pc:sldMk cId="517068316" sldId="337"/>
        </pc:sldMkLst>
      </pc:sldChg>
      <pc:sldChg chg="del">
        <pc:chgData name="Veselina Dinova" userId="5935860719f7b8c5" providerId="LiveId" clId="{89859D7A-ED98-4263-8B7C-1AC7F20B8CD1}" dt="2025-07-12T00:48:37.224" v="1029" actId="47"/>
        <pc:sldMkLst>
          <pc:docMk/>
          <pc:sldMk cId="2441706801" sldId="338"/>
        </pc:sldMkLst>
      </pc:sldChg>
      <pc:sldChg chg="modSp add mod">
        <pc:chgData name="Veselina Dinova" userId="5935860719f7b8c5" providerId="LiveId" clId="{89859D7A-ED98-4263-8B7C-1AC7F20B8CD1}" dt="2025-07-13T00:59:40.172" v="1352" actId="20577"/>
        <pc:sldMkLst>
          <pc:docMk/>
          <pc:sldMk cId="4277400576" sldId="339"/>
        </pc:sldMkLst>
        <pc:spChg chg="mod">
          <ac:chgData name="Veselina Dinova" userId="5935860719f7b8c5" providerId="LiveId" clId="{89859D7A-ED98-4263-8B7C-1AC7F20B8CD1}" dt="2025-07-12T00:01:54.455" v="426" actId="20577"/>
          <ac:spMkLst>
            <pc:docMk/>
            <pc:sldMk cId="4277400576" sldId="339"/>
            <ac:spMk id="2" creationId="{3848F264-8198-94D6-FE43-DEA78CE97DF8}"/>
          </ac:spMkLst>
        </pc:spChg>
        <pc:spChg chg="mod">
          <ac:chgData name="Veselina Dinova" userId="5935860719f7b8c5" providerId="LiveId" clId="{89859D7A-ED98-4263-8B7C-1AC7F20B8CD1}" dt="2025-07-13T00:59:40.172" v="1352" actId="20577"/>
          <ac:spMkLst>
            <pc:docMk/>
            <pc:sldMk cId="4277400576" sldId="339"/>
            <ac:spMk id="3" creationId="{7E36DDEF-D2B5-7529-6897-EB279E27C37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46756-95B1-9E4B-B4F0-13B47C763CAF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1FC82-C81D-9041-A08B-05D60FC3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485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62887-402F-6941-80C6-F161CAE43A29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F7C42-AA86-B746-B3A7-2D9388352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93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1442754" y="1945264"/>
            <a:ext cx="7726680" cy="331969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DB515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-7146" y="1938342"/>
            <a:ext cx="1371600" cy="331969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6590" y="2130425"/>
            <a:ext cx="6831609" cy="2949369"/>
          </a:xfrm>
        </p:spPr>
        <p:txBody>
          <a:bodyPr tIns="91440" bIns="91440" anchor="ctr" anchorCtr="0">
            <a:normAutofit/>
          </a:bodyPr>
          <a:lstStyle>
            <a:lvl1pPr>
              <a:defRPr sz="4400" b="0">
                <a:solidFill>
                  <a:srgbClr val="FDB515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2389" y="5380391"/>
            <a:ext cx="6145810" cy="601555"/>
          </a:xfrm>
        </p:spPr>
        <p:txBody>
          <a:bodyPr>
            <a:normAutofit/>
          </a:bodyPr>
          <a:lstStyle>
            <a:lvl1pPr marL="0" indent="0" algn="r">
              <a:buNone/>
              <a:defRPr sz="3000">
                <a:solidFill>
                  <a:srgbClr val="54545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9" y="1009907"/>
            <a:ext cx="3023616" cy="66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8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45454"/>
                </a:solidFill>
              </a:defRPr>
            </a:lvl1pPr>
            <a:lvl2pPr>
              <a:defRPr>
                <a:solidFill>
                  <a:srgbClr val="545454"/>
                </a:solidFill>
              </a:defRPr>
            </a:lvl2pPr>
            <a:lvl3pPr>
              <a:defRPr>
                <a:solidFill>
                  <a:srgbClr val="545454"/>
                </a:solidFill>
              </a:defRPr>
            </a:lvl3pPr>
            <a:lvl4pPr>
              <a:defRPr>
                <a:solidFill>
                  <a:srgbClr val="545454"/>
                </a:solidFill>
              </a:defRPr>
            </a:lvl4pPr>
            <a:lvl5pPr>
              <a:defRPr>
                <a:solidFill>
                  <a:srgbClr val="54545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9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1274" y="1331313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74" y="3308550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2" y="2838206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77741" y="2838206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5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1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6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5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935" y="4666920"/>
            <a:ext cx="7190154" cy="566738"/>
          </a:xfrm>
        </p:spPr>
        <p:txBody>
          <a:bodyPr anchor="b">
            <a:noAutofit/>
          </a:bodyPr>
          <a:lstStyle>
            <a:lvl1pPr algn="ctr">
              <a:defRPr sz="3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935" y="547480"/>
            <a:ext cx="7190154" cy="4044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8935" y="5233658"/>
            <a:ext cx="7190154" cy="464893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54545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5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011276" y="2068035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 baseline="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011276" y="4043784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3572790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77743" y="3572790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91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7789" y="5948707"/>
            <a:ext cx="969263" cy="76865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005840" y="5948707"/>
            <a:ext cx="8138160" cy="768652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90293"/>
            <a:ext cx="8229600" cy="1060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03888"/>
            <a:ext cx="8229600" cy="435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508" y="6137824"/>
            <a:ext cx="327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4467554" y="6137824"/>
            <a:ext cx="1270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35792" y="6138686"/>
            <a:ext cx="642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74C"/>
                </a:solidFill>
              </a:defRPr>
            </a:lvl1pPr>
          </a:lstStyle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849" y="6137824"/>
            <a:ext cx="1839951" cy="4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2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800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54545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54545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54545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54545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54545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4701" y="2130425"/>
            <a:ext cx="7517411" cy="2949369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4000" dirty="0"/>
              <a:t>Cash Flow Statement </a:t>
            </a:r>
            <a:endParaRPr lang="en-US" sz="4000" b="0" dirty="0"/>
          </a:p>
        </p:txBody>
      </p:sp>
    </p:spTree>
    <p:extLst>
      <p:ext uri="{BB962C8B-B14F-4D97-AF65-F5344CB8AC3E}">
        <p14:creationId xmlns:p14="http://schemas.microsoft.com/office/powerpoint/2010/main" val="69579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Cash is KING!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Generating positive </a:t>
            </a:r>
            <a:r>
              <a:rPr lang="en-US" sz="2300" b="1" dirty="0">
                <a:solidFill>
                  <a:srgbClr val="FFC000"/>
                </a:solidFill>
              </a:rPr>
              <a:t>cash flow </a:t>
            </a:r>
            <a:r>
              <a:rPr lang="en-US" sz="2300" dirty="0">
                <a:solidFill>
                  <a:srgbClr val="00274C"/>
                </a:solidFill>
              </a:rPr>
              <a:t>is a core objective for any company.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Understanding where cash comes from and where it goes reveals both opportunities and warning signs.</a:t>
            </a:r>
            <a:r>
              <a:rPr lang="en-US" sz="2300" b="1" dirty="0">
                <a:solidFill>
                  <a:srgbClr val="FFC000"/>
                </a:solidFill>
              </a:rPr>
              <a:t/>
            </a:r>
            <a:r>
              <a:rPr lang="en-US" sz="2300" dirty="0">
                <a:solidFill>
                  <a:srgbClr val="00274C"/>
                </a:solidFill>
              </a:rPr>
              <a:t/>
            </a:r>
            <a:r>
              <a:rPr lang="en-US" sz="2300" b="1" dirty="0">
                <a:solidFill>
                  <a:srgbClr val="FFC000"/>
                </a:solidFill>
              </a:rPr>
              <a:t/>
            </a:r>
            <a:r>
              <a:rPr lang="en-US" sz="2300" dirty="0">
                <a:solidFill>
                  <a:srgbClr val="00274C"/>
                </a:solidFill>
              </a:rPr>
              <a:t/>
            </a: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DB515"/>
                </a:solidFill>
              </a:rPr>
              <a:t>Negative cash flows </a:t>
            </a:r>
            <a:r>
              <a:rPr lang="en-US" sz="2300" dirty="0">
                <a:solidFill>
                  <a:srgbClr val="00274C"/>
                </a:solidFill>
              </a:rPr>
              <a:t>– meaning, reasons, trends </a:t>
            </a:r>
          </a:p>
        </p:txBody>
      </p:sp>
    </p:spTree>
    <p:extLst>
      <p:ext uri="{BB962C8B-B14F-4D97-AF65-F5344CB8AC3E}">
        <p14:creationId xmlns:p14="http://schemas.microsoft.com/office/powerpoint/2010/main" val="289365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15284B"/>
                </a:solidFill>
              </a:rPr>
              <a:t>CF statement – purpose and structure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Purpose - </a:t>
            </a:r>
            <a:r>
              <a:rPr lang="en-US" sz="2300" b="1" dirty="0">
                <a:solidFill>
                  <a:srgbClr val="FDB515"/>
                </a:solidFill>
              </a:rPr>
              <a:t>explain the gap </a:t>
            </a:r>
            <a:r>
              <a:rPr lang="en-US" sz="2300" dirty="0">
                <a:solidFill>
                  <a:srgbClr val="00274C"/>
                </a:solidFill>
              </a:rPr>
              <a:t>between net profit and cash in the bank account.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Reveals the </a:t>
            </a:r>
            <a:r>
              <a:rPr lang="en-US" sz="2300" b="1" dirty="0">
                <a:solidFill>
                  <a:srgbClr val="FDB515"/>
                </a:solidFill>
              </a:rPr>
              <a:t>earnings quality.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CF statement has </a:t>
            </a:r>
            <a:r>
              <a:rPr lang="en-US" sz="2300" b="1" dirty="0">
                <a:solidFill>
                  <a:srgbClr val="FDB515"/>
                </a:solidFill>
              </a:rPr>
              <a:t>three sections (by activity):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Cash flow from operations (CFO)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Cash flow from investing activities (CFI)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Cash flow from financing activities (CFF)</a:t>
            </a:r>
          </a:p>
        </p:txBody>
      </p:sp>
    </p:spTree>
    <p:extLst>
      <p:ext uri="{BB962C8B-B14F-4D97-AF65-F5344CB8AC3E}">
        <p14:creationId xmlns:p14="http://schemas.microsoft.com/office/powerpoint/2010/main" val="328708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statement – structure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 algn="ctr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002060"/>
                </a:solidFill>
              </a:rPr>
              <a:t>Beginning cash + </a:t>
            </a:r>
            <a:r>
              <a:rPr lang="en-US" sz="2300" b="1" dirty="0">
                <a:solidFill>
                  <a:srgbClr val="FDB515"/>
                </a:solidFill>
              </a:rPr>
              <a:t>Change in cash </a:t>
            </a:r>
            <a:r>
              <a:rPr lang="en-US" sz="2300" b="1" dirty="0">
                <a:solidFill>
                  <a:srgbClr val="002060"/>
                </a:solidFill>
              </a:rPr>
              <a:t>=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b="1" dirty="0">
                <a:solidFill>
                  <a:srgbClr val="002060"/>
                </a:solidFill>
              </a:rPr>
              <a:t>Ending cash </a:t>
            </a:r>
          </a:p>
          <a:p>
            <a:pPr marL="0" indent="0" algn="ctr">
              <a:lnSpc>
                <a:spcPct val="114000"/>
              </a:lnSpc>
              <a:buNone/>
            </a:pPr>
            <a:endParaRPr lang="en-US" sz="2300" b="1" dirty="0">
              <a:solidFill>
                <a:srgbClr val="002060"/>
              </a:solidFill>
            </a:endParaRPr>
          </a:p>
          <a:p>
            <a:pPr marL="0" indent="0" algn="ctr">
              <a:lnSpc>
                <a:spcPct val="114000"/>
              </a:lnSpc>
              <a:buNone/>
            </a:pPr>
            <a:endParaRPr lang="en-US" sz="2300" b="1" dirty="0">
              <a:solidFill>
                <a:srgbClr val="002060"/>
              </a:solidFill>
            </a:endParaRPr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Change in cash = CFO + CFI + CFF</a:t>
            </a:r>
          </a:p>
          <a:p>
            <a:pPr marL="0" indent="0" algn="ctr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from the CF statement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06A58155-14C1-2590-4EAB-C7099B3635C7}"/>
              </a:ext>
            </a:extLst>
          </p:cNvPr>
          <p:cNvSpPr/>
          <p:nvPr/>
        </p:nvSpPr>
        <p:spPr>
          <a:xfrm>
            <a:off x="4316768" y="2601158"/>
            <a:ext cx="616998" cy="661387"/>
          </a:xfrm>
          <a:prstGeom prst="downArrow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11789AD-5291-BE2E-4C50-5654DEB5C53D}"/>
              </a:ext>
            </a:extLst>
          </p:cNvPr>
          <p:cNvSpPr/>
          <p:nvPr/>
        </p:nvSpPr>
        <p:spPr>
          <a:xfrm>
            <a:off x="4423300" y="3916533"/>
            <a:ext cx="437224" cy="362504"/>
          </a:xfrm>
          <a:prstGeom prst="downArrow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9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from operations – structure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Cash flow from operations (CFO):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Net income from the IS plus: 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</a:rPr>
              <a:t>Adjustment for non-cash entries on the IS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</a:rPr>
              <a:t>Adjustment for non-operating items 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</a:rPr>
              <a:t>Adjustment for working capital timing </a:t>
            </a:r>
          </a:p>
          <a:p>
            <a:pPr marL="457200" lvl="1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35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from operations – adjustment 1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Adjustment 1: non-cash expenses and income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Since some of the expenses on the IS are non-cash (depreciation, stock-based compensation), they are added back.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For the same logic, non-cash income is subtracted. 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37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547D4-F452-30CB-6D79-C369E6E3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F264-8198-94D6-FE43-DEA78CE9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from operations – adjustment 2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6DDEF-D2B5-7529-6897-EB279E27C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Adjustment 2: reclassify non-operating items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Occasionally, the IS includes gains or losses resulting from non-operating activities. These gains or losses should be removed from the CFO and reported in CFI or CFF.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Gains are recorded as outflows.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Losses are recorded as inflows. </a:t>
            </a:r>
          </a:p>
        </p:txBody>
      </p:sp>
    </p:spTree>
    <p:extLst>
      <p:ext uri="{BB962C8B-B14F-4D97-AF65-F5344CB8AC3E}">
        <p14:creationId xmlns:p14="http://schemas.microsoft.com/office/powerpoint/2010/main" val="427740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from operations – adjustment 3 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Adjustment 3: working capital timing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There is timing mismatch between the cash collections and payments, and the recognition of revenue and expenses. 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336600"/>
                </a:solidFill>
              </a:rPr>
              <a:t>Increase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dirty="0">
                <a:solidFill>
                  <a:srgbClr val="00274C"/>
                </a:solidFill>
              </a:rPr>
              <a:t>/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b="1" dirty="0">
                <a:solidFill>
                  <a:srgbClr val="C00000"/>
                </a:solidFill>
              </a:rPr>
              <a:t>(decrease)</a:t>
            </a:r>
            <a:r>
              <a:rPr lang="en-US" sz="2300" dirty="0">
                <a:solidFill>
                  <a:srgbClr val="C00000"/>
                </a:solidFill>
              </a:rPr>
              <a:t> </a:t>
            </a:r>
            <a:r>
              <a:rPr lang="en-US" sz="2300" dirty="0">
                <a:solidFill>
                  <a:srgbClr val="00274C"/>
                </a:solidFill>
              </a:rPr>
              <a:t>in </a:t>
            </a:r>
            <a:r>
              <a:rPr lang="en-US" sz="2300" b="1" dirty="0">
                <a:solidFill>
                  <a:srgbClr val="002060"/>
                </a:solidFill>
              </a:rPr>
              <a:t>current ASSETS </a:t>
            </a:r>
            <a:r>
              <a:rPr lang="en-US" sz="2300" dirty="0">
                <a:solidFill>
                  <a:srgbClr val="00274C"/>
                </a:solidFill>
              </a:rPr>
              <a:t>results in </a:t>
            </a:r>
            <a:r>
              <a:rPr lang="en-US" sz="2300" b="1" dirty="0">
                <a:solidFill>
                  <a:srgbClr val="336600"/>
                </a:solidFill>
              </a:rPr>
              <a:t>negative</a:t>
            </a:r>
            <a:r>
              <a:rPr lang="en-US" sz="2300" dirty="0">
                <a:solidFill>
                  <a:srgbClr val="00274C"/>
                </a:solidFill>
              </a:rPr>
              <a:t> / </a:t>
            </a:r>
            <a:r>
              <a:rPr lang="en-US" sz="2300" b="1" dirty="0">
                <a:solidFill>
                  <a:srgbClr val="C00000"/>
                </a:solidFill>
              </a:rPr>
              <a:t>(positive) </a:t>
            </a:r>
            <a:r>
              <a:rPr lang="en-US" sz="2300" dirty="0">
                <a:solidFill>
                  <a:srgbClr val="00274C"/>
                </a:solidFill>
              </a:rPr>
              <a:t>adjustment in CFO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336600"/>
                </a:solidFill>
              </a:rPr>
              <a:t>Increase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dirty="0">
                <a:solidFill>
                  <a:srgbClr val="00274C"/>
                </a:solidFill>
              </a:rPr>
              <a:t>/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b="1" dirty="0">
                <a:solidFill>
                  <a:srgbClr val="C00000"/>
                </a:solidFill>
              </a:rPr>
              <a:t>(decrease) </a:t>
            </a:r>
            <a:r>
              <a:rPr lang="en-US" sz="2300" dirty="0">
                <a:solidFill>
                  <a:srgbClr val="00274C"/>
                </a:solidFill>
              </a:rPr>
              <a:t>in </a:t>
            </a:r>
            <a:r>
              <a:rPr lang="en-US" sz="2300" b="1" dirty="0">
                <a:solidFill>
                  <a:srgbClr val="002060"/>
                </a:solidFill>
              </a:rPr>
              <a:t>current LIABILITIES</a:t>
            </a:r>
            <a:r>
              <a:rPr lang="en-US" sz="2300" dirty="0">
                <a:solidFill>
                  <a:srgbClr val="00274C"/>
                </a:solidFill>
              </a:rPr>
              <a:t> results in a </a:t>
            </a:r>
            <a:r>
              <a:rPr lang="en-US" sz="2300" b="1" dirty="0">
                <a:solidFill>
                  <a:srgbClr val="336600"/>
                </a:solidFill>
              </a:rPr>
              <a:t>positive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dirty="0">
                <a:solidFill>
                  <a:srgbClr val="00274C"/>
                </a:solidFill>
              </a:rPr>
              <a:t>/</a:t>
            </a:r>
            <a:r>
              <a:rPr lang="en-US" sz="2300" b="1" dirty="0">
                <a:solidFill>
                  <a:srgbClr val="FDB515"/>
                </a:solidFill>
              </a:rPr>
              <a:t> </a:t>
            </a:r>
            <a:r>
              <a:rPr lang="en-US" sz="2300" b="1" dirty="0">
                <a:solidFill>
                  <a:srgbClr val="C00000"/>
                </a:solidFill>
              </a:rPr>
              <a:t>(negative) </a:t>
            </a:r>
            <a:r>
              <a:rPr lang="en-US" sz="2300" dirty="0">
                <a:solidFill>
                  <a:srgbClr val="00274C"/>
                </a:solidFill>
              </a:rPr>
              <a:t>adjustment in CFO</a:t>
            </a:r>
          </a:p>
        </p:txBody>
      </p:sp>
    </p:spTree>
    <p:extLst>
      <p:ext uri="{BB962C8B-B14F-4D97-AF65-F5344CB8AC3E}">
        <p14:creationId xmlns:p14="http://schemas.microsoft.com/office/powerpoint/2010/main" val="399807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from investing activities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</a:t>
            </a:r>
            <a:r>
              <a:rPr lang="en-US" sz="2300" b="1" dirty="0">
                <a:solidFill>
                  <a:srgbClr val="FFC000"/>
                </a:solidFill>
              </a:rPr>
              <a:t>CF from investing activities </a:t>
            </a:r>
            <a:r>
              <a:rPr lang="en-US" sz="2300" dirty="0">
                <a:solidFill>
                  <a:srgbClr val="00274C"/>
                </a:solidFill>
              </a:rPr>
              <a:t>includes cash flows related to the acquisition or disposal of non-working capital assets.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Examples: property, plant and equipment; acquisitions and investments of businesses, financial instruments. 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FC000"/>
                </a:solidFill>
              </a:rPr>
              <a:t>Investments</a:t>
            </a:r>
            <a:r>
              <a:rPr lang="en-US" sz="2300" dirty="0">
                <a:solidFill>
                  <a:srgbClr val="00274C"/>
                </a:solidFill>
              </a:rPr>
              <a:t> represent </a:t>
            </a:r>
            <a:r>
              <a:rPr lang="en-US" sz="2300" b="1" dirty="0">
                <a:solidFill>
                  <a:srgbClr val="FFC000"/>
                </a:solidFill>
              </a:rPr>
              <a:t>cash outflows</a:t>
            </a:r>
            <a:endParaRPr lang="en-US" sz="2300" b="1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FC000"/>
                </a:solidFill>
              </a:rPr>
              <a:t>Disposals </a:t>
            </a:r>
            <a:r>
              <a:rPr lang="en-US" sz="2300" dirty="0">
                <a:solidFill>
                  <a:srgbClr val="00274C"/>
                </a:solidFill>
              </a:rPr>
              <a:t>represent</a:t>
            </a:r>
            <a:r>
              <a:rPr lang="en-US" sz="2300" b="1" dirty="0">
                <a:solidFill>
                  <a:srgbClr val="FFC000"/>
                </a:solidFill>
              </a:rPr>
              <a:t> cash inflows</a:t>
            </a:r>
            <a:endParaRPr lang="en-US" sz="2300" dirty="0">
              <a:solidFill>
                <a:srgbClr val="0027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40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from financial activities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</a:t>
            </a:r>
            <a:r>
              <a:rPr lang="en-US" sz="2300" b="1" dirty="0">
                <a:solidFill>
                  <a:srgbClr val="FFC000"/>
                </a:solidFill>
              </a:rPr>
              <a:t>Cash flow from financing </a:t>
            </a:r>
            <a:r>
              <a:rPr lang="en-US" sz="2300" dirty="0">
                <a:solidFill>
                  <a:srgbClr val="00274C"/>
                </a:solidFill>
              </a:rPr>
              <a:t>activities includes cash flows related to various financial activities of the firm.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Examples: borrowing or repayments of debt, issuance of stock, share buybacks and dividends.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FC000"/>
                </a:solidFill>
              </a:rPr>
              <a:t>Debt borrowing</a:t>
            </a:r>
            <a:r>
              <a:rPr lang="en-US" sz="2300" dirty="0">
                <a:solidFill>
                  <a:srgbClr val="00274C"/>
                </a:solidFill>
              </a:rPr>
              <a:t> and </a:t>
            </a:r>
            <a:r>
              <a:rPr lang="en-US" sz="2300" b="1" dirty="0">
                <a:solidFill>
                  <a:srgbClr val="FFC000"/>
                </a:solidFill>
              </a:rPr>
              <a:t>stock issuance </a:t>
            </a:r>
            <a:r>
              <a:rPr lang="en-US" sz="2300" dirty="0">
                <a:solidFill>
                  <a:srgbClr val="00274C"/>
                </a:solidFill>
              </a:rPr>
              <a:t>represent </a:t>
            </a:r>
            <a:r>
              <a:rPr lang="en-US" sz="2300" b="1" dirty="0">
                <a:solidFill>
                  <a:srgbClr val="FFC000"/>
                </a:solidFill>
              </a:rPr>
              <a:t>cash inflows </a:t>
            </a:r>
          </a:p>
          <a:p>
            <a:pPr>
              <a:lnSpc>
                <a:spcPct val="114000"/>
              </a:lnSpc>
            </a:pPr>
            <a:r>
              <a:rPr lang="en-US" sz="2300" b="1" dirty="0">
                <a:solidFill>
                  <a:srgbClr val="FFC000"/>
                </a:solidFill>
              </a:rPr>
              <a:t>Debt repayment</a:t>
            </a:r>
            <a:r>
              <a:rPr lang="en-US" sz="2300" dirty="0">
                <a:solidFill>
                  <a:srgbClr val="00274C"/>
                </a:solidFill>
              </a:rPr>
              <a:t>, </a:t>
            </a:r>
            <a:r>
              <a:rPr lang="en-US" sz="2300" b="1" dirty="0">
                <a:solidFill>
                  <a:srgbClr val="FFC000"/>
                </a:solidFill>
              </a:rPr>
              <a:t>share buybacks </a:t>
            </a:r>
            <a:r>
              <a:rPr lang="en-US" sz="2300" dirty="0">
                <a:solidFill>
                  <a:srgbClr val="00274C"/>
                </a:solidFill>
              </a:rPr>
              <a:t>and </a:t>
            </a:r>
            <a:r>
              <a:rPr lang="en-US" sz="2300" b="1" dirty="0">
                <a:solidFill>
                  <a:srgbClr val="FFC000"/>
                </a:solidFill>
              </a:rPr>
              <a:t>dividend</a:t>
            </a:r>
            <a:r>
              <a:rPr lang="en-US" sz="2300" dirty="0">
                <a:solidFill>
                  <a:srgbClr val="00274C"/>
                </a:solidFill>
              </a:rPr>
              <a:t> payments represent </a:t>
            </a:r>
            <a:r>
              <a:rPr lang="en-US" sz="2300" b="1" dirty="0">
                <a:solidFill>
                  <a:srgbClr val="FFC000"/>
                </a:solidFill>
              </a:rPr>
              <a:t>cash outflows</a:t>
            </a:r>
            <a:r>
              <a:rPr lang="en-US" sz="2300" dirty="0">
                <a:solidFill>
                  <a:srgbClr val="00274C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2543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CF statement analysis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3888"/>
            <a:ext cx="8229600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00274C"/>
                </a:solidFill>
              </a:rPr>
              <a:t>The CF statement answers a few </a:t>
            </a:r>
            <a:r>
              <a:rPr lang="en-US" sz="2300" b="1" dirty="0">
                <a:solidFill>
                  <a:srgbClr val="FDB515"/>
                </a:solidFill>
              </a:rPr>
              <a:t>important questions</a:t>
            </a:r>
            <a:r>
              <a:rPr lang="en-US" sz="2300" dirty="0">
                <a:solidFill>
                  <a:srgbClr val="00274C"/>
                </a:solidFill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Does the business generate cash, and how (CFO)?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How is it deployed (CFI and CFF)? </a:t>
            </a:r>
          </a:p>
          <a:p>
            <a:pPr>
              <a:lnSpc>
                <a:spcPct val="114000"/>
              </a:lnSpc>
            </a:pPr>
            <a:r>
              <a:rPr lang="en-US" sz="2300" dirty="0">
                <a:solidFill>
                  <a:srgbClr val="00274C"/>
                </a:solidFill>
              </a:rPr>
              <a:t>How is the </a:t>
            </a:r>
            <a:r>
              <a:rPr lang="en-US" sz="2300">
                <a:solidFill>
                  <a:srgbClr val="00274C"/>
                </a:solidFill>
              </a:rPr>
              <a:t>business financed </a:t>
            </a:r>
            <a:r>
              <a:rPr lang="en-US" sz="2300" dirty="0">
                <a:solidFill>
                  <a:srgbClr val="00274C"/>
                </a:solidFill>
              </a:rPr>
              <a:t>(</a:t>
            </a:r>
            <a:r>
              <a:rPr lang="en-US" sz="2300">
                <a:solidFill>
                  <a:srgbClr val="00274C"/>
                </a:solidFill>
              </a:rPr>
              <a:t>CFF)? </a:t>
            </a: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endParaRPr lang="en-US" sz="2300" dirty="0">
              <a:solidFill>
                <a:srgbClr val="00274C"/>
              </a:solidFill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Relationship</a:t>
            </a:r>
            <a:r>
              <a:rPr lang="en-US" sz="2300" dirty="0">
                <a:solidFill>
                  <a:srgbClr val="00274C"/>
                </a:solidFill>
              </a:rPr>
              <a:t> between </a:t>
            </a:r>
            <a:r>
              <a:rPr lang="en-US" sz="2300" b="1" dirty="0">
                <a:solidFill>
                  <a:srgbClr val="FDB515"/>
                </a:solidFill>
              </a:rPr>
              <a:t>CFO, CFI and CFF</a:t>
            </a:r>
            <a:r>
              <a:rPr lang="en-US" sz="2300" b="1" dirty="0">
                <a:solidFill>
                  <a:srgbClr val="00274C"/>
                </a:solidFill>
              </a:rPr>
              <a:t> </a:t>
            </a:r>
            <a:r>
              <a:rPr lang="en-US" sz="2300" dirty="0">
                <a:solidFill>
                  <a:srgbClr val="00274C"/>
                </a:solidFill>
              </a:rPr>
              <a:t>varies by industry and company’s maturity. </a:t>
            </a:r>
          </a:p>
        </p:txBody>
      </p:sp>
    </p:spTree>
    <p:extLst>
      <p:ext uri="{BB962C8B-B14F-4D97-AF65-F5344CB8AC3E}">
        <p14:creationId xmlns:p14="http://schemas.microsoft.com/office/powerpoint/2010/main" val="278569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16932</TotalTime>
  <Words>491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Cash Flow Statement </vt:lpstr>
      <vt:lpstr>Cash is KING! </vt:lpstr>
      <vt:lpstr>CF statement – purpose and structure</vt:lpstr>
      <vt:lpstr>CF statement – structure </vt:lpstr>
      <vt:lpstr>CF from operations – structure </vt:lpstr>
      <vt:lpstr>CF from operations – adjustment 1</vt:lpstr>
      <vt:lpstr>CF from operations – adjustment 2</vt:lpstr>
      <vt:lpstr>CF from operations – adjustment 3  </vt:lpstr>
      <vt:lpstr>CF from investing activities </vt:lpstr>
      <vt:lpstr>CF from financial activities </vt:lpstr>
      <vt:lpstr>CF statement analysis </vt:lpstr>
    </vt:vector>
  </TitlesOfParts>
  <Company>Haas School of Business, 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 Pham Le</dc:creator>
  <cp:lastModifiedBy>Veselina Dinova</cp:lastModifiedBy>
  <cp:revision>168</cp:revision>
  <dcterms:created xsi:type="dcterms:W3CDTF">2014-11-25T20:43:26Z</dcterms:created>
  <dcterms:modified xsi:type="dcterms:W3CDTF">2025-07-13T01:05:56Z</dcterms:modified>
</cp:coreProperties>
</file>
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753600" cy="7315200"/>
  <p:notesSz cx="6858000" cy="9144000"/>
  <p:embeddedFontLst>
    <p:embeddedFont>
      <p:font typeface="Arial Bold" panose="020B0704020202020204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1440" y="2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4B4E9993-6D55-4F39-B7EE-D860DEB4728B}"/>
    <pc:docChg chg="custSel modSld">
      <pc:chgData name="Veselina Dinova" userId="5935860719f7b8c5" providerId="LiveId" clId="{4B4E9993-6D55-4F39-B7EE-D860DEB4728B}" dt="2025-09-01T17:28:10.139" v="33" actId="948"/>
      <pc:docMkLst>
        <pc:docMk/>
      </pc:docMkLst>
      <pc:sldChg chg="modSp mod">
        <pc:chgData name="Veselina Dinova" userId="5935860719f7b8c5" providerId="LiveId" clId="{4B4E9993-6D55-4F39-B7EE-D860DEB4728B}" dt="2025-09-01T17:22:18.833" v="10" actId="948"/>
        <pc:sldMkLst>
          <pc:docMk/>
          <pc:sldMk cId="0" sldId="258"/>
        </pc:sldMkLst>
        <pc:spChg chg="mod">
          <ac:chgData name="Veselina Dinova" userId="5935860719f7b8c5" providerId="LiveId" clId="{4B4E9993-6D55-4F39-B7EE-D860DEB4728B}" dt="2025-09-01T17:22:18.833" v="10" actId="948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2:43.006" v="12" actId="12"/>
        <pc:sldMkLst>
          <pc:docMk/>
          <pc:sldMk cId="0" sldId="260"/>
        </pc:sldMkLst>
        <pc:spChg chg="mod">
          <ac:chgData name="Veselina Dinova" userId="5935860719f7b8c5" providerId="LiveId" clId="{4B4E9993-6D55-4F39-B7EE-D860DEB4728B}" dt="2025-09-01T17:22:43.006" v="12" actId="12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3:34.902" v="17" actId="1076"/>
        <pc:sldMkLst>
          <pc:docMk/>
          <pc:sldMk cId="0" sldId="261"/>
        </pc:sldMkLst>
        <pc:spChg chg="mod">
          <ac:chgData name="Veselina Dinova" userId="5935860719f7b8c5" providerId="LiveId" clId="{4B4E9993-6D55-4F39-B7EE-D860DEB4728B}" dt="2025-09-01T17:23:34.902" v="17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Veselina Dinova" userId="5935860719f7b8c5" providerId="LiveId" clId="{4B4E9993-6D55-4F39-B7EE-D860DEB4728B}" dt="2025-09-01T17:23:30.644" v="1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Veselina Dinova" userId="5935860719f7b8c5" providerId="LiveId" clId="{4B4E9993-6D55-4F39-B7EE-D860DEB4728B}" dt="2025-09-01T17:23:27.392" v="15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Veselina Dinova" userId="5935860719f7b8c5" providerId="LiveId" clId="{4B4E9993-6D55-4F39-B7EE-D860DEB4728B}" dt="2025-09-01T17:23:22.755" v="14" actId="1076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3:46.419" v="18" actId="255"/>
        <pc:sldMkLst>
          <pc:docMk/>
          <pc:sldMk cId="0" sldId="262"/>
        </pc:sldMkLst>
        <pc:spChg chg="mod">
          <ac:chgData name="Veselina Dinova" userId="5935860719f7b8c5" providerId="LiveId" clId="{4B4E9993-6D55-4F39-B7EE-D860DEB4728B}" dt="2025-09-01T17:23:46.419" v="18" actId="255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4:11.440" v="19" actId="255"/>
        <pc:sldMkLst>
          <pc:docMk/>
          <pc:sldMk cId="0" sldId="263"/>
        </pc:sldMkLst>
        <pc:spChg chg="mod">
          <ac:chgData name="Veselina Dinova" userId="5935860719f7b8c5" providerId="LiveId" clId="{4B4E9993-6D55-4F39-B7EE-D860DEB4728B}" dt="2025-09-01T17:24:11.440" v="19" actId="255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4:44.448" v="21" actId="313"/>
        <pc:sldMkLst>
          <pc:docMk/>
          <pc:sldMk cId="0" sldId="264"/>
        </pc:sldMkLst>
        <pc:spChg chg="mod">
          <ac:chgData name="Veselina Dinova" userId="5935860719f7b8c5" providerId="LiveId" clId="{4B4E9993-6D55-4F39-B7EE-D860DEB4728B}" dt="2025-09-01T17:24:44.448" v="21" actId="313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8:10.139" v="33" actId="948"/>
        <pc:sldMkLst>
          <pc:docMk/>
          <pc:sldMk cId="0" sldId="267"/>
        </pc:sldMkLst>
        <pc:spChg chg="mod">
          <ac:chgData name="Veselina Dinova" userId="5935860719f7b8c5" providerId="LiveId" clId="{4B4E9993-6D55-4F39-B7EE-D860DEB4728B}" dt="2025-09-01T17:28:10.139" v="33" actId="948"/>
          <ac:spMkLst>
            <pc:docMk/>
            <pc:sldMk cId="0" sldId="267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7:43.761" v="32" actId="948"/>
        <pc:sldMkLst>
          <pc:docMk/>
          <pc:sldMk cId="0" sldId="268"/>
        </pc:sldMkLst>
        <pc:spChg chg="mod">
          <ac:chgData name="Veselina Dinova" userId="5935860719f7b8c5" providerId="LiveId" clId="{4B4E9993-6D55-4F39-B7EE-D860DEB4728B}" dt="2025-09-01T17:27:43.761" v="32" actId="948"/>
          <ac:spMkLst>
            <pc:docMk/>
            <pc:sldMk cId="0" sldId="268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6:58.084" v="30" actId="948"/>
        <pc:sldMkLst>
          <pc:docMk/>
          <pc:sldMk cId="0" sldId="270"/>
        </pc:sldMkLst>
        <pc:spChg chg="mod">
          <ac:chgData name="Veselina Dinova" userId="5935860719f7b8c5" providerId="LiveId" clId="{4B4E9993-6D55-4F39-B7EE-D860DEB4728B}" dt="2025-09-01T17:26:58.084" v="30" actId="948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7:23.602" v="31" actId="948"/>
        <pc:sldMkLst>
          <pc:docMk/>
          <pc:sldMk cId="0" sldId="271"/>
        </pc:sldMkLst>
        <pc:spChg chg="mod">
          <ac:chgData name="Veselina Dinova" userId="5935860719f7b8c5" providerId="LiveId" clId="{4B4E9993-6D55-4F39-B7EE-D860DEB4728B}" dt="2025-09-01T17:27:23.602" v="31" actId="948"/>
          <ac:spMkLst>
            <pc:docMk/>
            <pc:sldMk cId="0" sldId="271"/>
            <ac:spMk id="10" creationId="{00000000-0000-0000-0000-000000000000}"/>
          </ac:spMkLst>
        </pc:spChg>
      </pc:sldChg>
      <pc:sldChg chg="modSp mod">
        <pc:chgData name="Veselina Dinova" userId="5935860719f7b8c5" providerId="LiveId" clId="{4B4E9993-6D55-4F39-B7EE-D860DEB4728B}" dt="2025-09-01T17:26:36.918" v="29" actId="948"/>
        <pc:sldMkLst>
          <pc:docMk/>
          <pc:sldMk cId="0" sldId="273"/>
        </pc:sldMkLst>
        <pc:spChg chg="mod">
          <ac:chgData name="Veselina Dinova" userId="5935860719f7b8c5" providerId="LiveId" clId="{4B4E9993-6D55-4F39-B7EE-D860DEB4728B}" dt="2025-09-01T17:26:36.918" v="29" actId="948"/>
          <ac:spMkLst>
            <pc:docMk/>
            <pc:sldMk cId="0" sldId="273"/>
            <ac:spMk id="7" creationId="{00000000-0000-0000-0000-000000000000}"/>
          </ac:spMkLst>
        </pc:spChg>
      </pc:sldChg>
    </pc:docChg>
  </pc:docChgLst>
  <pc:docChgLst>
    <pc:chgData name="Veselina Dinova" userId="5935860719f7b8c5" providerId="LiveId" clId="{ED2D30BF-0559-4C74-AC1A-8A249FFF2ECF}"/>
    <pc:docChg chg="delSld modSld">
      <pc:chgData name="Veselina Dinova" userId="5935860719f7b8c5" providerId="LiveId" clId="{ED2D30BF-0559-4C74-AC1A-8A249FFF2ECF}" dt="2025-08-06T16:35:45.072" v="12" actId="1076"/>
      <pc:docMkLst>
        <pc:docMk/>
      </pc:docMkLst>
      <pc:sldChg chg="modSp mod">
        <pc:chgData name="Veselina Dinova" userId="5935860719f7b8c5" providerId="LiveId" clId="{ED2D30BF-0559-4C74-AC1A-8A249FFF2ECF}" dt="2025-08-04T22:47:28.395" v="3" actId="1076"/>
        <pc:sldMkLst>
          <pc:docMk/>
          <pc:sldMk cId="0" sldId="261"/>
        </pc:sldMkLst>
        <pc:spChg chg="mod">
          <ac:chgData name="Veselina Dinova" userId="5935860719f7b8c5" providerId="LiveId" clId="{ED2D30BF-0559-4C74-AC1A-8A249FFF2ECF}" dt="2025-08-04T22:47:28.395" v="3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Veselina Dinova" userId="5935860719f7b8c5" providerId="LiveId" clId="{ED2D30BF-0559-4C74-AC1A-8A249FFF2ECF}" dt="2025-08-04T22:43:03.364" v="0" actId="1076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Veselina Dinova" userId="5935860719f7b8c5" providerId="LiveId" clId="{ED2D30BF-0559-4C74-AC1A-8A249FFF2ECF}" dt="2025-08-05T16:47:50.505" v="5" actId="1076"/>
        <pc:sldMkLst>
          <pc:docMk/>
          <pc:sldMk cId="0" sldId="266"/>
        </pc:sldMkLst>
        <pc:spChg chg="mod">
          <ac:chgData name="Veselina Dinova" userId="5935860719f7b8c5" providerId="LiveId" clId="{ED2D30BF-0559-4C74-AC1A-8A249FFF2ECF}" dt="2025-08-05T16:47:50.505" v="5" actId="1076"/>
          <ac:spMkLst>
            <pc:docMk/>
            <pc:sldMk cId="0" sldId="266"/>
            <ac:spMk id="16" creationId="{00000000-0000-0000-0000-000000000000}"/>
          </ac:spMkLst>
        </pc:spChg>
      </pc:sldChg>
      <pc:sldChg chg="modSp mod">
        <pc:chgData name="Veselina Dinova" userId="5935860719f7b8c5" providerId="LiveId" clId="{ED2D30BF-0559-4C74-AC1A-8A249FFF2ECF}" dt="2025-08-06T16:35:45.072" v="12" actId="1076"/>
        <pc:sldMkLst>
          <pc:docMk/>
          <pc:sldMk cId="0" sldId="269"/>
        </pc:sldMkLst>
        <pc:spChg chg="mod">
          <ac:chgData name="Veselina Dinova" userId="5935860719f7b8c5" providerId="LiveId" clId="{ED2D30BF-0559-4C74-AC1A-8A249FFF2ECF}" dt="2025-08-06T16:35:18.623" v="8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Veselina Dinova" userId="5935860719f7b8c5" providerId="LiveId" clId="{ED2D30BF-0559-4C74-AC1A-8A249FFF2ECF}" dt="2025-08-06T16:35:45.072" v="12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Veselina Dinova" userId="5935860719f7b8c5" providerId="LiveId" clId="{ED2D30BF-0559-4C74-AC1A-8A249FFF2ECF}" dt="2025-08-06T16:35:25.654" v="9" actId="107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Veselina Dinova" userId="5935860719f7b8c5" providerId="LiveId" clId="{ED2D30BF-0559-4C74-AC1A-8A249FFF2ECF}" dt="2025-08-06T16:35:15.434" v="7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Veselina Dinova" userId="5935860719f7b8c5" providerId="LiveId" clId="{ED2D30BF-0559-4C74-AC1A-8A249FFF2ECF}" dt="2025-08-06T16:35:10.875" v="6" actId="1076"/>
          <ac:spMkLst>
            <pc:docMk/>
            <pc:sldMk cId="0" sldId="269"/>
            <ac:spMk id="38" creationId="{00000000-0000-0000-0000-000000000000}"/>
          </ac:spMkLst>
        </pc:spChg>
        <pc:grpChg chg="mod">
          <ac:chgData name="Veselina Dinova" userId="5935860719f7b8c5" providerId="LiveId" clId="{ED2D30BF-0559-4C74-AC1A-8A249FFF2ECF}" dt="2025-08-06T16:35:40.614" v="11" actId="1076"/>
          <ac:grpSpMkLst>
            <pc:docMk/>
            <pc:sldMk cId="0" sldId="269"/>
            <ac:grpSpMk id="16" creationId="{00000000-0000-0000-0000-000000000000}"/>
          </ac:grpSpMkLst>
        </pc:grpChg>
      </pc:sldChg>
      <pc:sldChg chg="del">
        <pc:chgData name="Veselina Dinova" userId="5935860719f7b8c5" providerId="LiveId" clId="{ED2D30BF-0559-4C74-AC1A-8A249FFF2ECF}" dt="2025-08-04T23:35:04.526" v="4" actId="47"/>
        <pc:sldMkLst>
          <pc:docMk/>
          <pc:sldMk cId="0" sldId="27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www.sec.gov/" TargetMode="Externa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www.sec.gov/" TargetMode="Externa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10591" y="1077234"/>
            <a:ext cx="3225190" cy="705510"/>
          </a:xfrm>
          <a:custGeom>
            <a:avLst/>
            <a:gdLst/>
            <a:ahLst/>
            <a:cxnLst/>
            <a:rect l="l" t="t" r="r" b="b"/>
            <a:pathLst>
              <a:path w="3225190" h="705510">
                <a:moveTo>
                  <a:pt x="0" y="0"/>
                </a:moveTo>
                <a:lnTo>
                  <a:pt x="3225190" y="0"/>
                </a:lnTo>
                <a:lnTo>
                  <a:pt x="3225190" y="705511"/>
                </a:lnTo>
                <a:lnTo>
                  <a:pt x="0" y="705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647681" y="2272453"/>
            <a:ext cx="8018572" cy="3145994"/>
            <a:chOff x="0" y="0"/>
            <a:chExt cx="10691429" cy="41946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91429" cy="4194658"/>
            </a:xfrm>
            <a:custGeom>
              <a:avLst/>
              <a:gdLst/>
              <a:ahLst/>
              <a:cxnLst/>
              <a:rect l="l" t="t" r="r" b="b"/>
              <a:pathLst>
                <a:path w="10691429" h="4194658">
                  <a:moveTo>
                    <a:pt x="0" y="0"/>
                  </a:moveTo>
                  <a:lnTo>
                    <a:pt x="10691429" y="0"/>
                  </a:lnTo>
                  <a:lnTo>
                    <a:pt x="10691429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61925"/>
              <a:ext cx="10691429" cy="4356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6"/>
                </a:lnSpc>
              </a:pPr>
              <a:r>
                <a:rPr lang="en-US" sz="4266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Financial Accounting </a:t>
              </a:r>
            </a:p>
            <a:p>
              <a:pPr algn="l">
                <a:lnSpc>
                  <a:spcPts val="5836"/>
                </a:lnSpc>
              </a:pPr>
              <a:r>
                <a:rPr lang="en-US" sz="4266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Introduction </a:t>
              </a:r>
            </a:p>
          </p:txBody>
        </p:sp>
      </p:grpSp>
      <p:sp>
        <p:nvSpPr>
          <p:cNvPr id="17" name="Title 17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Financial Accounting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704320" cy="158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>
                  <a:solidFill>
                    <a:srgbClr val="00274C"/>
                  </a:solidFill>
                  <a:latin typeface="Arial"/>
                  <a:ea typeface="Arial"/>
                  <a:cs typeface="Arial"/>
                  <a:sym typeface="Arial"/>
                </a:rPr>
                <a:t>Accounting - the language of business 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025271" y="1704702"/>
            <a:ext cx="5988008" cy="4483714"/>
          </a:xfrm>
          <a:custGeom>
            <a:avLst/>
            <a:gdLst/>
            <a:ahLst/>
            <a:cxnLst/>
            <a:rect l="l" t="t" r="r" b="b"/>
            <a:pathLst>
              <a:path w="5988008" h="4483714">
                <a:moveTo>
                  <a:pt x="0" y="0"/>
                </a:moveTo>
                <a:lnTo>
                  <a:pt x="5988008" y="0"/>
                </a:lnTo>
                <a:lnTo>
                  <a:pt x="5988008" y="4483714"/>
                </a:lnTo>
                <a:lnTo>
                  <a:pt x="0" y="448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476" b="-80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Accounting - the language of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704320" cy="158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dirty="0">
                  <a:solidFill>
                    <a:srgbClr val="00274C"/>
                  </a:solidFill>
                  <a:latin typeface="Arial"/>
                  <a:ea typeface="Arial"/>
                  <a:cs typeface="Arial"/>
                  <a:sym typeface="Arial"/>
                </a:rPr>
                <a:t>Agenda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64142"/>
            <a:ext cx="8595360" cy="45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546" lvl="1" indent="-137273" algn="l">
              <a:lnSpc>
                <a:spcPct val="130000"/>
              </a:lnSpc>
              <a:buFont typeface="Arial"/>
              <a:buChar char="•"/>
            </a:pPr>
            <a:r>
              <a:rPr lang="en-US" sz="2300" b="1" dirty="0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Course introduction: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Purpose of the course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Structure, logistics and performance measurements</a:t>
            </a:r>
          </a:p>
          <a:p>
            <a:pPr marL="762226" lvl="2" indent="-254075" algn="l">
              <a:lnSpc>
                <a:spcPct val="130000"/>
              </a:lnSpc>
            </a:pPr>
            <a:endParaRPr lang="en-US" sz="2300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546" lvl="1" indent="-137273" algn="l">
              <a:lnSpc>
                <a:spcPct val="130000"/>
              </a:lnSpc>
              <a:buFont typeface="Arial"/>
              <a:buChar char="•"/>
            </a:pPr>
            <a:r>
              <a:rPr lang="en-US" sz="2300" b="1" dirty="0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Financial accounting overview: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Users of the financial information 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main financial statements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Regulation  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How to find the financial accounting data </a:t>
            </a:r>
          </a:p>
          <a:p>
            <a:pPr marL="762226" lvl="2" indent="-254075" algn="l">
              <a:lnSpc>
                <a:spcPct val="130000"/>
              </a:lnSpc>
              <a:buFont typeface="Arial"/>
              <a:buChar char="⚬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Market prices and accounting data</a:t>
            </a: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10591" y="1077234"/>
            <a:ext cx="3225190" cy="705510"/>
          </a:xfrm>
          <a:custGeom>
            <a:avLst/>
            <a:gdLst/>
            <a:ahLst/>
            <a:cxnLst/>
            <a:rect l="l" t="t" r="r" b="b"/>
            <a:pathLst>
              <a:path w="3225190" h="705510">
                <a:moveTo>
                  <a:pt x="0" y="0"/>
                </a:moveTo>
                <a:lnTo>
                  <a:pt x="3225190" y="0"/>
                </a:lnTo>
                <a:lnTo>
                  <a:pt x="3225190" y="705511"/>
                </a:lnTo>
                <a:lnTo>
                  <a:pt x="0" y="705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735029" y="2272453"/>
            <a:ext cx="7287050" cy="3145994"/>
            <a:chOff x="0" y="0"/>
            <a:chExt cx="9716066" cy="41946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6066" cy="4194658"/>
            </a:xfrm>
            <a:custGeom>
              <a:avLst/>
              <a:gdLst/>
              <a:ahLst/>
              <a:cxnLst/>
              <a:rect l="l" t="t" r="r" b="b"/>
              <a:pathLst>
                <a:path w="9716066" h="4194658">
                  <a:moveTo>
                    <a:pt x="0" y="0"/>
                  </a:moveTo>
                  <a:lnTo>
                    <a:pt x="9716066" y="0"/>
                  </a:lnTo>
                  <a:lnTo>
                    <a:pt x="9716066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9716066" cy="4289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31"/>
                </a:lnSpc>
              </a:pPr>
              <a:r>
                <a:rPr lang="en-US" sz="4693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Course Overview</a:t>
              </a:r>
            </a:p>
          </p:txBody>
        </p:sp>
      </p:grpSp>
      <p:sp>
        <p:nvSpPr>
          <p:cNvPr id="17" name="Title 17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Course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What is Financial Accounting?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600200"/>
            <a:ext cx="8595360" cy="4093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Business storytelling with numbers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460586" lvl="1" indent="-230293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Formally: preparing and sharing financial reports that reflect a company's performance.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This information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is useful 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for:</a:t>
            </a:r>
          </a:p>
          <a:p>
            <a:pPr marL="480173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Management team and employees </a:t>
            </a:r>
          </a:p>
          <a:p>
            <a:pPr marL="480173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Business and financial partners </a:t>
            </a:r>
          </a:p>
          <a:p>
            <a:pPr marL="480173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Investors and analysts </a:t>
            </a:r>
          </a:p>
          <a:p>
            <a:pPr marL="480173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Regulators </a:t>
            </a: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What is Financial Accounting?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Course Objectives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508632" y="1678844"/>
            <a:ext cx="3979062" cy="4249999"/>
          </a:xfrm>
          <a:custGeom>
            <a:avLst/>
            <a:gdLst/>
            <a:ahLst/>
            <a:cxnLst/>
            <a:rect l="l" t="t" r="r" b="b"/>
            <a:pathLst>
              <a:path w="3979062" h="4249999">
                <a:moveTo>
                  <a:pt x="0" y="0"/>
                </a:moveTo>
                <a:lnTo>
                  <a:pt x="3979062" y="0"/>
                </a:lnTo>
                <a:lnTo>
                  <a:pt x="3979062" y="4249999"/>
                </a:lnTo>
                <a:lnTo>
                  <a:pt x="0" y="4249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657415" y="2532604"/>
            <a:ext cx="778213" cy="77821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3200" y="7302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28800" y="5521324"/>
            <a:ext cx="5121473" cy="38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6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rules, principles, guidelines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49042" y="4841227"/>
            <a:ext cx="3587413" cy="38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6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accounting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00400" y="4256852"/>
            <a:ext cx="4753868" cy="38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6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and understand the data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94752" y="3545168"/>
            <a:ext cx="5332539" cy="396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6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and question the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92965" y="1433631"/>
            <a:ext cx="450711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5"/>
              </a:lnSpc>
              <a:spcBef>
                <a:spcPct val="0"/>
              </a:spcBef>
            </a:pPr>
            <a:r>
              <a:rPr lang="en-US" sz="361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Make wise decisions</a:t>
            </a:r>
          </a:p>
        </p:txBody>
      </p:sp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Course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How to succeed in this class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8632" y="1827381"/>
            <a:ext cx="8793804" cy="208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812" lvl="1" indent="-292906" algn="just">
              <a:lnSpc>
                <a:spcPts val="4097"/>
              </a:lnSpc>
              <a:buAutoNum type="arabicPeriod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Prepare for class like you mean it.   </a:t>
            </a:r>
          </a:p>
          <a:p>
            <a:pPr marL="585812" lvl="1" indent="-292906" algn="just">
              <a:lnSpc>
                <a:spcPts val="4097"/>
              </a:lnSpc>
              <a:buAutoNum type="arabicPeriod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Engage actively and participate fully.  </a:t>
            </a:r>
          </a:p>
          <a:p>
            <a:pPr marL="585812" lvl="1" indent="-292906" algn="just">
              <a:lnSpc>
                <a:spcPts val="4097"/>
              </a:lnSpc>
              <a:buAutoNum type="arabicPeriod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Review the material and ask follow-up questions.  </a:t>
            </a:r>
          </a:p>
          <a:p>
            <a:pPr marL="585812" lvl="1" indent="-292906" algn="just">
              <a:lnSpc>
                <a:spcPts val="4097"/>
              </a:lnSpc>
              <a:buAutoNum type="arabicPeriod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Apply the lessons in real-world scenarios.</a:t>
            </a: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How to succeed in this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Assignments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26042"/>
            <a:ext cx="8595360" cy="448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8891" lvl="1" indent="-169446" algn="l">
              <a:lnSpc>
                <a:spcPts val="3949"/>
              </a:lnSpc>
              <a:buFont typeface="Arial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Quizzes and a final exam</a:t>
            </a:r>
            <a:r>
              <a:rPr lang="en-US" sz="2300" b="1" dirty="0">
                <a:solidFill>
                  <a:srgbClr val="15284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137070" lvl="2" indent="-379023" algn="l">
              <a:lnSpc>
                <a:spcPts val="3949"/>
              </a:lnSpc>
              <a:buFont typeface="Arial"/>
              <a:buChar char="⚬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Practice quizzes and practice exams </a:t>
            </a:r>
          </a:p>
          <a:p>
            <a:pPr marL="338779" lvl="1" indent="-169389" algn="l">
              <a:lnSpc>
                <a:spcPts val="3949"/>
              </a:lnSpc>
              <a:buFont typeface="Arial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Homework </a:t>
            </a:r>
          </a:p>
          <a:p>
            <a:pPr marL="338779" lvl="1" indent="-169389" algn="l">
              <a:lnSpc>
                <a:spcPts val="3949"/>
              </a:lnSpc>
              <a:buFont typeface="Arial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Team presentations </a:t>
            </a:r>
          </a:p>
          <a:p>
            <a:pPr marL="338779" lvl="1" indent="-169389" algn="l">
              <a:lnSpc>
                <a:spcPts val="3949"/>
              </a:lnSpc>
              <a:buFont typeface="Arial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Participation in class and remotely</a:t>
            </a:r>
          </a:p>
          <a:p>
            <a:pPr marL="338891" lvl="1" indent="-169446" algn="l">
              <a:lnSpc>
                <a:spcPts val="3949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Other </a:t>
            </a:r>
          </a:p>
          <a:p>
            <a:pPr marL="1137066" lvl="2" indent="-379022" algn="l">
              <a:lnSpc>
                <a:spcPts val="3949"/>
              </a:lnSpc>
              <a:buFont typeface="Arial"/>
              <a:buChar char="⚬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In-class activities </a:t>
            </a:r>
          </a:p>
          <a:p>
            <a:pPr marL="1137070" lvl="2" indent="-379023" algn="l">
              <a:lnSpc>
                <a:spcPts val="3949"/>
              </a:lnSpc>
              <a:buFont typeface="Arial"/>
              <a:buChar char="⚬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Review the statements of companies of interest </a:t>
            </a:r>
          </a:p>
          <a:p>
            <a:pPr marL="1137070" lvl="2" indent="-379023" algn="l">
              <a:lnSpc>
                <a:spcPts val="3949"/>
              </a:lnSpc>
              <a:buFont typeface="Arial"/>
              <a:buChar char="⚬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Follow the news </a:t>
            </a: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Assignments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Other topics of interest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06992"/>
            <a:ext cx="8595360" cy="407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1760" lvl="1" indent="-175880" algn="l">
              <a:lnSpc>
                <a:spcPts val="4127"/>
              </a:lnSpc>
              <a:buFont typeface="Arial"/>
              <a:buChar char="•"/>
            </a:pPr>
            <a:r>
              <a:rPr lang="en-US" sz="2300" dirty="0" err="1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bCourses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 website </a:t>
            </a:r>
          </a:p>
          <a:p>
            <a:pPr marL="1121751" lvl="2" indent="-373917" algn="l">
              <a:lnSpc>
                <a:spcPts val="4087"/>
              </a:lnSpc>
              <a:buFont typeface="Arial"/>
              <a:buChar char="⚬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Materials </a:t>
            </a:r>
          </a:p>
          <a:p>
            <a:pPr marL="1121636" lvl="2" indent="-373879" algn="l">
              <a:lnSpc>
                <a:spcPts val="4087"/>
              </a:lnSpc>
              <a:buFont typeface="Arial"/>
              <a:buChar char="⚬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Assignments </a:t>
            </a:r>
          </a:p>
          <a:p>
            <a:pPr marL="351645" lvl="1" indent="-175822" algn="l">
              <a:lnSpc>
                <a:spcPts val="4127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Textbook </a:t>
            </a:r>
          </a:p>
          <a:p>
            <a:pPr marL="351645" lvl="1" indent="-175822" algn="l">
              <a:lnSpc>
                <a:spcPts val="4127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Office hours, discussion sections, tutoring </a:t>
            </a:r>
          </a:p>
          <a:p>
            <a:pPr marL="351760" lvl="1" indent="-175880" algn="l">
              <a:lnSpc>
                <a:spcPts val="4127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Other communication </a:t>
            </a:r>
          </a:p>
          <a:p>
            <a:pPr marL="351760" lvl="1" indent="-175880" algn="l">
              <a:lnSpc>
                <a:spcPts val="4127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Excel, calculators, AI tools  </a:t>
            </a:r>
          </a:p>
          <a:p>
            <a:pPr algn="l">
              <a:lnSpc>
                <a:spcPts val="2867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Other topics of interest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10591" y="1077234"/>
            <a:ext cx="3225190" cy="705510"/>
          </a:xfrm>
          <a:custGeom>
            <a:avLst/>
            <a:gdLst/>
            <a:ahLst/>
            <a:cxnLst/>
            <a:rect l="l" t="t" r="r" b="b"/>
            <a:pathLst>
              <a:path w="3225190" h="705510">
                <a:moveTo>
                  <a:pt x="0" y="0"/>
                </a:moveTo>
                <a:lnTo>
                  <a:pt x="3225190" y="0"/>
                </a:lnTo>
                <a:lnTo>
                  <a:pt x="3225190" y="705511"/>
                </a:lnTo>
                <a:lnTo>
                  <a:pt x="0" y="705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735029" y="2272453"/>
            <a:ext cx="7287050" cy="3145994"/>
            <a:chOff x="0" y="0"/>
            <a:chExt cx="9716066" cy="41946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6066" cy="4194658"/>
            </a:xfrm>
            <a:custGeom>
              <a:avLst/>
              <a:gdLst/>
              <a:ahLst/>
              <a:cxnLst/>
              <a:rect l="l" t="t" r="r" b="b"/>
              <a:pathLst>
                <a:path w="9716066" h="4194658">
                  <a:moveTo>
                    <a:pt x="0" y="0"/>
                  </a:moveTo>
                  <a:lnTo>
                    <a:pt x="9716066" y="0"/>
                  </a:lnTo>
                  <a:lnTo>
                    <a:pt x="9716066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9716066" cy="4289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31"/>
                </a:lnSpc>
              </a:pPr>
              <a:r>
                <a:rPr lang="en-US" sz="4693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Financial Accounting Introduction </a:t>
              </a:r>
            </a:p>
          </p:txBody>
        </p:sp>
      </p:grpSp>
      <p:sp>
        <p:nvSpPr>
          <p:cNvPr id="17" name="Title 17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Financial Accounting Introduction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Accounting system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11525" y="2287670"/>
            <a:ext cx="2492410" cy="187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1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Financial Accounting Reports </a:t>
            </a:r>
          </a:p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Periodic financial statements and related disclosures</a:t>
            </a:r>
          </a:p>
          <a:p>
            <a:pPr algn="ctr">
              <a:lnSpc>
                <a:spcPts val="1791"/>
              </a:lnSpc>
            </a:pPr>
            <a:endParaRPr lang="en-US" sz="1493">
              <a:solidFill>
                <a:srgbClr val="00305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791"/>
              </a:lnSpc>
            </a:pPr>
            <a:endParaRPr lang="en-US" sz="1493">
              <a:solidFill>
                <a:srgbClr val="00305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791"/>
              </a:lnSpc>
            </a:pPr>
            <a:r>
              <a:rPr lang="en-US" sz="1493" b="1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External Decision Makers</a:t>
            </a:r>
          </a:p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Evaluate the company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1655" y="2291491"/>
            <a:ext cx="2591691" cy="187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1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Managerial Accounting Reports </a:t>
            </a:r>
          </a:p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Detailed plans and continuous performance reports</a:t>
            </a:r>
          </a:p>
          <a:p>
            <a:pPr algn="ctr">
              <a:lnSpc>
                <a:spcPts val="1791"/>
              </a:lnSpc>
            </a:pPr>
            <a:endParaRPr lang="en-US" sz="1493">
              <a:solidFill>
                <a:srgbClr val="00305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791"/>
              </a:lnSpc>
            </a:pPr>
            <a:endParaRPr lang="en-US" sz="1493">
              <a:solidFill>
                <a:srgbClr val="00305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791"/>
              </a:lnSpc>
            </a:pPr>
            <a:r>
              <a:rPr lang="en-US" sz="1493" b="1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Internal Decision Makers </a:t>
            </a:r>
          </a:p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Run the company 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781572" y="1896845"/>
            <a:ext cx="3861311" cy="282550"/>
            <a:chOff x="0" y="0"/>
            <a:chExt cx="5148415" cy="376734"/>
          </a:xfrm>
        </p:grpSpPr>
        <p:sp>
          <p:nvSpPr>
            <p:cNvPr id="13" name="Freeform 13"/>
            <p:cNvSpPr/>
            <p:nvPr/>
          </p:nvSpPr>
          <p:spPr>
            <a:xfrm>
              <a:off x="17780" y="-127"/>
              <a:ext cx="5113020" cy="376555"/>
            </a:xfrm>
            <a:custGeom>
              <a:avLst/>
              <a:gdLst/>
              <a:ahLst/>
              <a:cxnLst/>
              <a:rect l="l" t="t" r="r" b="b"/>
              <a:pathLst>
                <a:path w="5113020" h="376555">
                  <a:moveTo>
                    <a:pt x="0" y="325501"/>
                  </a:moveTo>
                  <a:lnTo>
                    <a:pt x="2528443" y="254"/>
                  </a:lnTo>
                  <a:cubicBezTo>
                    <a:pt x="2530221" y="0"/>
                    <a:pt x="2531872" y="0"/>
                    <a:pt x="2533650" y="254"/>
                  </a:cubicBezTo>
                  <a:lnTo>
                    <a:pt x="5113020" y="336296"/>
                  </a:lnTo>
                  <a:lnTo>
                    <a:pt x="5107813" y="376555"/>
                  </a:lnTo>
                  <a:lnTo>
                    <a:pt x="2528316" y="40640"/>
                  </a:lnTo>
                  <a:lnTo>
                    <a:pt x="2530983" y="20447"/>
                  </a:lnTo>
                  <a:lnTo>
                    <a:pt x="2533523" y="40640"/>
                  </a:lnTo>
                  <a:lnTo>
                    <a:pt x="5080" y="365887"/>
                  </a:lnTo>
                  <a:close/>
                </a:path>
              </a:pathLst>
            </a:custGeom>
            <a:solidFill>
              <a:srgbClr val="00305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56666" y="1429450"/>
            <a:ext cx="2067775" cy="459579"/>
            <a:chOff x="0" y="0"/>
            <a:chExt cx="2757033" cy="6127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57043" cy="612775"/>
            </a:xfrm>
            <a:custGeom>
              <a:avLst/>
              <a:gdLst/>
              <a:ahLst/>
              <a:cxnLst/>
              <a:rect l="l" t="t" r="r" b="b"/>
              <a:pathLst>
                <a:path w="2757043" h="612775">
                  <a:moveTo>
                    <a:pt x="0" y="0"/>
                  </a:moveTo>
                  <a:lnTo>
                    <a:pt x="2757043" y="0"/>
                  </a:lnTo>
                  <a:lnTo>
                    <a:pt x="2757043" y="612775"/>
                  </a:lnTo>
                  <a:lnTo>
                    <a:pt x="0" y="61277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748109" y="1531968"/>
            <a:ext cx="1884895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Accounting System</a:t>
            </a:r>
          </a:p>
        </p:txBody>
      </p:sp>
      <p:sp>
        <p:nvSpPr>
          <p:cNvPr id="17" name="AutoShape 17"/>
          <p:cNvSpPr/>
          <p:nvPr/>
        </p:nvSpPr>
        <p:spPr>
          <a:xfrm rot="5615152">
            <a:off x="2541128" y="3481979"/>
            <a:ext cx="433202" cy="0"/>
          </a:xfrm>
          <a:prstGeom prst="line">
            <a:avLst/>
          </a:prstGeom>
          <a:ln w="19050" cap="rnd">
            <a:solidFill>
              <a:srgbClr val="FDB515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rot="5189481">
            <a:off x="6388898" y="3440683"/>
            <a:ext cx="442707" cy="0"/>
          </a:xfrm>
          <a:prstGeom prst="line">
            <a:avLst/>
          </a:prstGeom>
          <a:ln w="19050" cap="rnd">
            <a:solidFill>
              <a:srgbClr val="FDB515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973212" y="5483239"/>
            <a:ext cx="1375071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Managers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8908" y="5443208"/>
            <a:ext cx="1195707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Investors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0640" y="5443208"/>
            <a:ext cx="1224793" cy="2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Creditors</a:t>
            </a:r>
          </a:p>
        </p:txBody>
      </p:sp>
      <p:sp>
        <p:nvSpPr>
          <p:cNvPr id="22" name="Freeform 22" descr="Screen Shot 2018-09-12 at 2.07.40 PM.png"/>
          <p:cNvSpPr/>
          <p:nvPr/>
        </p:nvSpPr>
        <p:spPr>
          <a:xfrm>
            <a:off x="5821870" y="4354594"/>
            <a:ext cx="1576762" cy="1091324"/>
          </a:xfrm>
          <a:custGeom>
            <a:avLst/>
            <a:gdLst/>
            <a:ahLst/>
            <a:cxnLst/>
            <a:rect l="l" t="t" r="r" b="b"/>
            <a:pathLst>
              <a:path w="1576762" h="1091324">
                <a:moveTo>
                  <a:pt x="0" y="0"/>
                </a:moveTo>
                <a:lnTo>
                  <a:pt x="1576761" y="0"/>
                </a:lnTo>
                <a:lnTo>
                  <a:pt x="1576761" y="1091324"/>
                </a:lnTo>
                <a:lnTo>
                  <a:pt x="0" y="1091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" r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 descr="Screen Shot 2018-09-12 at 2.08.20 PM.png"/>
          <p:cNvSpPr/>
          <p:nvPr/>
        </p:nvSpPr>
        <p:spPr>
          <a:xfrm>
            <a:off x="1309364" y="4309799"/>
            <a:ext cx="2916207" cy="1021022"/>
          </a:xfrm>
          <a:custGeom>
            <a:avLst/>
            <a:gdLst/>
            <a:ahLst/>
            <a:cxnLst/>
            <a:rect l="l" t="t" r="r" b="b"/>
            <a:pathLst>
              <a:path w="2916207" h="1021022">
                <a:moveTo>
                  <a:pt x="0" y="0"/>
                </a:moveTo>
                <a:lnTo>
                  <a:pt x="2916207" y="0"/>
                </a:lnTo>
                <a:lnTo>
                  <a:pt x="2916207" y="1021022"/>
                </a:lnTo>
                <a:lnTo>
                  <a:pt x="0" y="1021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" r="-8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961813" y="2161004"/>
            <a:ext cx="3440853" cy="3804406"/>
            <a:chOff x="0" y="0"/>
            <a:chExt cx="4587804" cy="50725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87875" cy="5072507"/>
            </a:xfrm>
            <a:custGeom>
              <a:avLst/>
              <a:gdLst/>
              <a:ahLst/>
              <a:cxnLst/>
              <a:rect l="l" t="t" r="r" b="b"/>
              <a:pathLst>
                <a:path w="4587875" h="5072507">
                  <a:moveTo>
                    <a:pt x="0" y="777240"/>
                  </a:moveTo>
                  <a:cubicBezTo>
                    <a:pt x="0" y="347980"/>
                    <a:pt x="347726" y="0"/>
                    <a:pt x="776732" y="0"/>
                  </a:cubicBezTo>
                  <a:lnTo>
                    <a:pt x="3811143" y="0"/>
                  </a:lnTo>
                  <a:lnTo>
                    <a:pt x="3811143" y="18034"/>
                  </a:lnTo>
                  <a:lnTo>
                    <a:pt x="3811143" y="0"/>
                  </a:lnTo>
                  <a:lnTo>
                    <a:pt x="3811143" y="18034"/>
                  </a:lnTo>
                  <a:lnTo>
                    <a:pt x="3811143" y="0"/>
                  </a:lnTo>
                  <a:cubicBezTo>
                    <a:pt x="4240149" y="0"/>
                    <a:pt x="4587875" y="347980"/>
                    <a:pt x="4587875" y="777240"/>
                  </a:cubicBezTo>
                  <a:lnTo>
                    <a:pt x="4569841" y="777240"/>
                  </a:lnTo>
                  <a:lnTo>
                    <a:pt x="4587875" y="777240"/>
                  </a:lnTo>
                  <a:lnTo>
                    <a:pt x="4587875" y="4295267"/>
                  </a:lnTo>
                  <a:lnTo>
                    <a:pt x="4569841" y="4295267"/>
                  </a:lnTo>
                  <a:lnTo>
                    <a:pt x="4587875" y="4295267"/>
                  </a:lnTo>
                  <a:cubicBezTo>
                    <a:pt x="4587875" y="4724527"/>
                    <a:pt x="4240149" y="5072507"/>
                    <a:pt x="3811143" y="5072507"/>
                  </a:cubicBezTo>
                  <a:lnTo>
                    <a:pt x="3811143" y="5054473"/>
                  </a:lnTo>
                  <a:lnTo>
                    <a:pt x="3811143" y="5072507"/>
                  </a:lnTo>
                  <a:lnTo>
                    <a:pt x="776732" y="5072507"/>
                  </a:lnTo>
                  <a:lnTo>
                    <a:pt x="776732" y="5054473"/>
                  </a:lnTo>
                  <a:lnTo>
                    <a:pt x="776732" y="5072507"/>
                  </a:lnTo>
                  <a:cubicBezTo>
                    <a:pt x="347726" y="5072507"/>
                    <a:pt x="0" y="4724527"/>
                    <a:pt x="0" y="4295267"/>
                  </a:cubicBezTo>
                  <a:lnTo>
                    <a:pt x="0" y="777240"/>
                  </a:lnTo>
                  <a:lnTo>
                    <a:pt x="18034" y="777240"/>
                  </a:lnTo>
                  <a:lnTo>
                    <a:pt x="0" y="777240"/>
                  </a:lnTo>
                  <a:moveTo>
                    <a:pt x="36068" y="777240"/>
                  </a:moveTo>
                  <a:lnTo>
                    <a:pt x="36068" y="4295267"/>
                  </a:lnTo>
                  <a:lnTo>
                    <a:pt x="18034" y="4295267"/>
                  </a:lnTo>
                  <a:lnTo>
                    <a:pt x="36068" y="4295267"/>
                  </a:lnTo>
                  <a:cubicBezTo>
                    <a:pt x="36068" y="4704588"/>
                    <a:pt x="367665" y="5036439"/>
                    <a:pt x="776605" y="5036439"/>
                  </a:cubicBezTo>
                  <a:lnTo>
                    <a:pt x="3811143" y="5036439"/>
                  </a:lnTo>
                  <a:cubicBezTo>
                    <a:pt x="4220083" y="5036439"/>
                    <a:pt x="4551680" y="4704588"/>
                    <a:pt x="4551680" y="4295267"/>
                  </a:cubicBezTo>
                  <a:lnTo>
                    <a:pt x="4551680" y="777240"/>
                  </a:lnTo>
                  <a:cubicBezTo>
                    <a:pt x="4551680" y="367919"/>
                    <a:pt x="4220083" y="36068"/>
                    <a:pt x="3811143" y="36068"/>
                  </a:cubicBezTo>
                  <a:lnTo>
                    <a:pt x="776732" y="36068"/>
                  </a:lnTo>
                  <a:lnTo>
                    <a:pt x="776732" y="18034"/>
                  </a:lnTo>
                  <a:lnTo>
                    <a:pt x="776732" y="36068"/>
                  </a:lnTo>
                  <a:cubicBezTo>
                    <a:pt x="367665" y="36068"/>
                    <a:pt x="36068" y="367919"/>
                    <a:pt x="36068" y="777240"/>
                  </a:cubicBez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61678" y="6063352"/>
            <a:ext cx="6805223" cy="19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lang="en-US" sz="1066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Source: Financial accounting, Libby, Libby and Hodge, 10ᵗʰ edition, McGraw-Hill Education</a:t>
            </a:r>
          </a:p>
        </p:txBody>
      </p:sp>
      <p:sp>
        <p:nvSpPr>
          <p:cNvPr id="27" name="Title 27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Accounting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Parties responsible for the reports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35567"/>
            <a:ext cx="8595360" cy="461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Corporate managers:</a:t>
            </a:r>
          </a:p>
          <a:p>
            <a:pPr marL="300284" lvl="1" indent="-150142" algn="l">
              <a:lnSpc>
                <a:spcPct val="130000"/>
              </a:lnSpc>
              <a:buFont typeface="Arial"/>
              <a:buChar char="•"/>
            </a:pP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The CEO and the CFO </a:t>
            </a:r>
          </a:p>
          <a:p>
            <a:pPr marL="300284" lvl="1" indent="-150142" algn="l">
              <a:lnSpc>
                <a:spcPct val="130000"/>
              </a:lnSpc>
              <a:buFont typeface="Arial"/>
              <a:buChar char="•"/>
            </a:pP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Accounting staff </a:t>
            </a:r>
          </a:p>
          <a:p>
            <a:pPr marL="300284" lvl="1" indent="-150142"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Board of Directors </a:t>
            </a:r>
          </a:p>
          <a:p>
            <a:pPr marL="300284" lvl="1" indent="-150142" algn="l">
              <a:lnSpc>
                <a:spcPct val="130000"/>
              </a:lnSpc>
            </a:pPr>
            <a:endParaRPr lang="en-US" sz="2333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Independent Auditors</a:t>
            </a:r>
          </a:p>
          <a:p>
            <a:pPr algn="l">
              <a:lnSpc>
                <a:spcPct val="130000"/>
              </a:lnSpc>
            </a:pPr>
            <a:endParaRPr lang="en-US" sz="2333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Regulation </a:t>
            </a:r>
          </a:p>
          <a:p>
            <a:pPr marL="274546" lvl="1" indent="-137273" algn="l">
              <a:lnSpc>
                <a:spcPct val="130000"/>
              </a:lnSpc>
            </a:pPr>
            <a:endParaRPr lang="en-US" sz="2333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Parties responsible for the reports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Important notes about Accounting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35567"/>
            <a:ext cx="8595360" cy="601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Accounting summarizes business data to inform managers and investors about performance and financial position.</a:t>
            </a: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/>
            </a: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Accounting is </a:t>
            </a: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not a precise </a:t>
            </a: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science. </a:t>
            </a: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Accounting is </a:t>
            </a: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conservative</a:t>
            </a: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Key principles: accrual, matching, conservatism, full disclosure, materiality.</a:t>
            </a:r>
            <a:r>
              <a:rPr lang="en-US" sz="2333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Important notes about Accounting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Financial statements – overview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78107" y="4616027"/>
            <a:ext cx="2065867" cy="1415627"/>
            <a:chOff x="0" y="0"/>
            <a:chExt cx="2754489" cy="1887502"/>
          </a:xfrm>
        </p:grpSpPr>
        <p:sp>
          <p:nvSpPr>
            <p:cNvPr id="11" name="Freeform 11"/>
            <p:cNvSpPr/>
            <p:nvPr/>
          </p:nvSpPr>
          <p:spPr>
            <a:xfrm>
              <a:off x="22606" y="22606"/>
              <a:ext cx="2709164" cy="1842389"/>
            </a:xfrm>
            <a:custGeom>
              <a:avLst/>
              <a:gdLst/>
              <a:ahLst/>
              <a:cxnLst/>
              <a:rect l="l" t="t" r="r" b="b"/>
              <a:pathLst>
                <a:path w="2709164" h="1842389">
                  <a:moveTo>
                    <a:pt x="0" y="307086"/>
                  </a:moveTo>
                  <a:cubicBezTo>
                    <a:pt x="0" y="137414"/>
                    <a:pt x="138557" y="0"/>
                    <a:pt x="309372" y="0"/>
                  </a:cubicBezTo>
                  <a:lnTo>
                    <a:pt x="2399792" y="0"/>
                  </a:lnTo>
                  <a:cubicBezTo>
                    <a:pt x="2570734" y="0"/>
                    <a:pt x="2709164" y="137414"/>
                    <a:pt x="2709164" y="307086"/>
                  </a:cubicBezTo>
                  <a:lnTo>
                    <a:pt x="2709164" y="1535303"/>
                  </a:lnTo>
                  <a:cubicBezTo>
                    <a:pt x="2709164" y="1704848"/>
                    <a:pt x="2570607" y="1842389"/>
                    <a:pt x="2399792" y="1842389"/>
                  </a:cubicBezTo>
                  <a:lnTo>
                    <a:pt x="309372" y="1842389"/>
                  </a:lnTo>
                  <a:cubicBezTo>
                    <a:pt x="138430" y="1842389"/>
                    <a:pt x="0" y="1704975"/>
                    <a:pt x="0" y="1535303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2754376" cy="1887601"/>
            </a:xfrm>
            <a:custGeom>
              <a:avLst/>
              <a:gdLst/>
              <a:ahLst/>
              <a:cxnLst/>
              <a:rect l="l" t="t" r="r" b="b"/>
              <a:pathLst>
                <a:path w="2754376" h="1887601">
                  <a:moveTo>
                    <a:pt x="0" y="329692"/>
                  </a:moveTo>
                  <a:cubicBezTo>
                    <a:pt x="0" y="147447"/>
                    <a:pt x="148844" y="0"/>
                    <a:pt x="331978" y="0"/>
                  </a:cubicBezTo>
                  <a:lnTo>
                    <a:pt x="2422398" y="0"/>
                  </a:lnTo>
                  <a:lnTo>
                    <a:pt x="2422398" y="22606"/>
                  </a:lnTo>
                  <a:lnTo>
                    <a:pt x="2422398" y="0"/>
                  </a:lnTo>
                  <a:cubicBezTo>
                    <a:pt x="2605659" y="0"/>
                    <a:pt x="2754376" y="147447"/>
                    <a:pt x="2754376" y="329692"/>
                  </a:cubicBezTo>
                  <a:lnTo>
                    <a:pt x="2731770" y="329692"/>
                  </a:lnTo>
                  <a:lnTo>
                    <a:pt x="2754376" y="329692"/>
                  </a:lnTo>
                  <a:lnTo>
                    <a:pt x="2754376" y="1557909"/>
                  </a:lnTo>
                  <a:lnTo>
                    <a:pt x="2731770" y="1557909"/>
                  </a:lnTo>
                  <a:lnTo>
                    <a:pt x="2754376" y="1557909"/>
                  </a:lnTo>
                  <a:cubicBezTo>
                    <a:pt x="2754376" y="1740154"/>
                    <a:pt x="2605532" y="1887601"/>
                    <a:pt x="2422398" y="1887601"/>
                  </a:cubicBezTo>
                  <a:lnTo>
                    <a:pt x="2422398" y="1864995"/>
                  </a:lnTo>
                  <a:lnTo>
                    <a:pt x="2422398" y="1887601"/>
                  </a:lnTo>
                  <a:lnTo>
                    <a:pt x="331978" y="1887601"/>
                  </a:lnTo>
                  <a:lnTo>
                    <a:pt x="331978" y="1864995"/>
                  </a:lnTo>
                  <a:lnTo>
                    <a:pt x="331978" y="1887601"/>
                  </a:lnTo>
                  <a:cubicBezTo>
                    <a:pt x="148844" y="1887474"/>
                    <a:pt x="0" y="1740027"/>
                    <a:pt x="0" y="1557909"/>
                  </a:cubicBezTo>
                  <a:lnTo>
                    <a:pt x="0" y="329692"/>
                  </a:lnTo>
                  <a:lnTo>
                    <a:pt x="22606" y="329692"/>
                  </a:lnTo>
                  <a:lnTo>
                    <a:pt x="0" y="329692"/>
                  </a:lnTo>
                  <a:moveTo>
                    <a:pt x="45212" y="329692"/>
                  </a:moveTo>
                  <a:lnTo>
                    <a:pt x="45212" y="1557909"/>
                  </a:lnTo>
                  <a:lnTo>
                    <a:pt x="22606" y="1557909"/>
                  </a:lnTo>
                  <a:lnTo>
                    <a:pt x="45212" y="1557909"/>
                  </a:lnTo>
                  <a:cubicBezTo>
                    <a:pt x="45212" y="1714881"/>
                    <a:pt x="173482" y="1842389"/>
                    <a:pt x="332105" y="1842389"/>
                  </a:cubicBezTo>
                  <a:lnTo>
                    <a:pt x="2422525" y="1842389"/>
                  </a:lnTo>
                  <a:cubicBezTo>
                    <a:pt x="2581148" y="1842389"/>
                    <a:pt x="2709418" y="1714881"/>
                    <a:pt x="2709418" y="1557909"/>
                  </a:cubicBezTo>
                  <a:lnTo>
                    <a:pt x="2709418" y="329692"/>
                  </a:lnTo>
                  <a:cubicBezTo>
                    <a:pt x="2709418" y="172720"/>
                    <a:pt x="2581148" y="45212"/>
                    <a:pt x="2422525" y="45212"/>
                  </a:cubicBezTo>
                  <a:lnTo>
                    <a:pt x="331978" y="45212"/>
                  </a:lnTo>
                  <a:lnTo>
                    <a:pt x="331978" y="22606"/>
                  </a:lnTo>
                  <a:lnTo>
                    <a:pt x="331978" y="45212"/>
                  </a:lnTo>
                  <a:cubicBezTo>
                    <a:pt x="173482" y="45212"/>
                    <a:pt x="45212" y="172720"/>
                    <a:pt x="45212" y="329692"/>
                  </a:cubicBezTo>
                  <a:close/>
                </a:path>
              </a:pathLst>
            </a:custGeom>
            <a:solidFill>
              <a:srgbClr val="00539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5867" y="3234267"/>
            <a:ext cx="1822027" cy="1903307"/>
            <a:chOff x="0" y="0"/>
            <a:chExt cx="2429369" cy="2537742"/>
          </a:xfrm>
        </p:grpSpPr>
        <p:sp>
          <p:nvSpPr>
            <p:cNvPr id="14" name="Freeform 14"/>
            <p:cNvSpPr/>
            <p:nvPr/>
          </p:nvSpPr>
          <p:spPr>
            <a:xfrm>
              <a:off x="22606" y="22606"/>
              <a:ext cx="2384171" cy="2492502"/>
            </a:xfrm>
            <a:custGeom>
              <a:avLst/>
              <a:gdLst/>
              <a:ahLst/>
              <a:cxnLst/>
              <a:rect l="l" t="t" r="r" b="b"/>
              <a:pathLst>
                <a:path w="2384171" h="2492502">
                  <a:moveTo>
                    <a:pt x="0" y="397637"/>
                  </a:moveTo>
                  <a:cubicBezTo>
                    <a:pt x="0" y="178054"/>
                    <a:pt x="177927" y="0"/>
                    <a:pt x="397383" y="0"/>
                  </a:cubicBezTo>
                  <a:lnTo>
                    <a:pt x="1986788" y="0"/>
                  </a:lnTo>
                  <a:cubicBezTo>
                    <a:pt x="2206244" y="0"/>
                    <a:pt x="2384171" y="178054"/>
                    <a:pt x="2384171" y="397637"/>
                  </a:cubicBezTo>
                  <a:lnTo>
                    <a:pt x="2384171" y="2094865"/>
                  </a:lnTo>
                  <a:cubicBezTo>
                    <a:pt x="2384171" y="2314448"/>
                    <a:pt x="2206244" y="2492502"/>
                    <a:pt x="1986788" y="2492502"/>
                  </a:cubicBezTo>
                  <a:lnTo>
                    <a:pt x="397383" y="2492502"/>
                  </a:lnTo>
                  <a:cubicBezTo>
                    <a:pt x="177927" y="2492502"/>
                    <a:pt x="0" y="2314448"/>
                    <a:pt x="0" y="2094865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2429383" cy="2537714"/>
            </a:xfrm>
            <a:custGeom>
              <a:avLst/>
              <a:gdLst/>
              <a:ahLst/>
              <a:cxnLst/>
              <a:rect l="l" t="t" r="r" b="b"/>
              <a:pathLst>
                <a:path w="2429383" h="2537714">
                  <a:moveTo>
                    <a:pt x="0" y="420243"/>
                  </a:moveTo>
                  <a:cubicBezTo>
                    <a:pt x="0" y="188214"/>
                    <a:pt x="187960" y="0"/>
                    <a:pt x="419989" y="0"/>
                  </a:cubicBezTo>
                  <a:lnTo>
                    <a:pt x="2009394" y="0"/>
                  </a:lnTo>
                  <a:lnTo>
                    <a:pt x="2009394" y="22606"/>
                  </a:lnTo>
                  <a:lnTo>
                    <a:pt x="2009394" y="0"/>
                  </a:lnTo>
                  <a:lnTo>
                    <a:pt x="2009394" y="22606"/>
                  </a:lnTo>
                  <a:lnTo>
                    <a:pt x="2009394" y="0"/>
                  </a:lnTo>
                  <a:cubicBezTo>
                    <a:pt x="2241296" y="0"/>
                    <a:pt x="2429383" y="188214"/>
                    <a:pt x="2429383" y="420243"/>
                  </a:cubicBezTo>
                  <a:lnTo>
                    <a:pt x="2406777" y="420243"/>
                  </a:lnTo>
                  <a:lnTo>
                    <a:pt x="2429383" y="420243"/>
                  </a:lnTo>
                  <a:lnTo>
                    <a:pt x="2429383" y="2117471"/>
                  </a:lnTo>
                  <a:lnTo>
                    <a:pt x="2406777" y="2117471"/>
                  </a:lnTo>
                  <a:lnTo>
                    <a:pt x="2429383" y="2117471"/>
                  </a:lnTo>
                  <a:cubicBezTo>
                    <a:pt x="2429383" y="2349627"/>
                    <a:pt x="2241423" y="2537714"/>
                    <a:pt x="2009394" y="2537714"/>
                  </a:cubicBezTo>
                  <a:lnTo>
                    <a:pt x="2009394" y="2515108"/>
                  </a:lnTo>
                  <a:lnTo>
                    <a:pt x="2009394" y="2537714"/>
                  </a:lnTo>
                  <a:lnTo>
                    <a:pt x="419989" y="2537714"/>
                  </a:lnTo>
                  <a:lnTo>
                    <a:pt x="419989" y="2515108"/>
                  </a:lnTo>
                  <a:lnTo>
                    <a:pt x="419989" y="2537714"/>
                  </a:lnTo>
                  <a:cubicBezTo>
                    <a:pt x="187960" y="2537714"/>
                    <a:pt x="0" y="2349500"/>
                    <a:pt x="0" y="2117471"/>
                  </a:cubicBezTo>
                  <a:lnTo>
                    <a:pt x="0" y="420243"/>
                  </a:lnTo>
                  <a:lnTo>
                    <a:pt x="22606" y="420243"/>
                  </a:lnTo>
                  <a:lnTo>
                    <a:pt x="0" y="420243"/>
                  </a:lnTo>
                  <a:moveTo>
                    <a:pt x="45212" y="420243"/>
                  </a:moveTo>
                  <a:lnTo>
                    <a:pt x="45212" y="2117471"/>
                  </a:lnTo>
                  <a:lnTo>
                    <a:pt x="22606" y="2117471"/>
                  </a:lnTo>
                  <a:lnTo>
                    <a:pt x="45212" y="2117471"/>
                  </a:lnTo>
                  <a:cubicBezTo>
                    <a:pt x="45212" y="2324608"/>
                    <a:pt x="212979" y="2492629"/>
                    <a:pt x="419989" y="2492629"/>
                  </a:cubicBezTo>
                  <a:lnTo>
                    <a:pt x="2009394" y="2492629"/>
                  </a:lnTo>
                  <a:cubicBezTo>
                    <a:pt x="2216404" y="2492629"/>
                    <a:pt x="2384171" y="2324735"/>
                    <a:pt x="2384171" y="2117471"/>
                  </a:cubicBezTo>
                  <a:lnTo>
                    <a:pt x="2384171" y="420243"/>
                  </a:lnTo>
                  <a:cubicBezTo>
                    <a:pt x="2384171" y="213106"/>
                    <a:pt x="2216404" y="45085"/>
                    <a:pt x="2009394" y="45085"/>
                  </a:cubicBezTo>
                  <a:lnTo>
                    <a:pt x="419989" y="45085"/>
                  </a:lnTo>
                  <a:lnTo>
                    <a:pt x="419989" y="22606"/>
                  </a:lnTo>
                  <a:lnTo>
                    <a:pt x="419989" y="45212"/>
                  </a:lnTo>
                  <a:cubicBezTo>
                    <a:pt x="212979" y="45212"/>
                    <a:pt x="45212" y="213106"/>
                    <a:pt x="45212" y="420370"/>
                  </a:cubicBezTo>
                  <a:close/>
                </a:path>
              </a:pathLst>
            </a:custGeom>
            <a:solidFill>
              <a:srgbClr val="15284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36784" y="2381167"/>
            <a:ext cx="2065867" cy="1415627"/>
            <a:chOff x="0" y="0"/>
            <a:chExt cx="2754489" cy="1887502"/>
          </a:xfrm>
        </p:grpSpPr>
        <p:sp>
          <p:nvSpPr>
            <p:cNvPr id="17" name="Freeform 17"/>
            <p:cNvSpPr/>
            <p:nvPr/>
          </p:nvSpPr>
          <p:spPr>
            <a:xfrm>
              <a:off x="22606" y="22606"/>
              <a:ext cx="2709164" cy="1842389"/>
            </a:xfrm>
            <a:custGeom>
              <a:avLst/>
              <a:gdLst/>
              <a:ahLst/>
              <a:cxnLst/>
              <a:rect l="l" t="t" r="r" b="b"/>
              <a:pathLst>
                <a:path w="2709164" h="1842389">
                  <a:moveTo>
                    <a:pt x="0" y="307086"/>
                  </a:moveTo>
                  <a:cubicBezTo>
                    <a:pt x="0" y="137414"/>
                    <a:pt x="138557" y="0"/>
                    <a:pt x="309372" y="0"/>
                  </a:cubicBezTo>
                  <a:lnTo>
                    <a:pt x="2399792" y="0"/>
                  </a:lnTo>
                  <a:cubicBezTo>
                    <a:pt x="2570734" y="0"/>
                    <a:pt x="2709164" y="137414"/>
                    <a:pt x="2709164" y="307086"/>
                  </a:cubicBezTo>
                  <a:lnTo>
                    <a:pt x="2709164" y="1535303"/>
                  </a:lnTo>
                  <a:cubicBezTo>
                    <a:pt x="2709164" y="1704848"/>
                    <a:pt x="2570607" y="1842389"/>
                    <a:pt x="2399792" y="1842389"/>
                  </a:cubicBezTo>
                  <a:lnTo>
                    <a:pt x="309372" y="1842389"/>
                  </a:lnTo>
                  <a:cubicBezTo>
                    <a:pt x="138430" y="1842389"/>
                    <a:pt x="0" y="1704975"/>
                    <a:pt x="0" y="1535303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2754376" cy="1887601"/>
            </a:xfrm>
            <a:custGeom>
              <a:avLst/>
              <a:gdLst/>
              <a:ahLst/>
              <a:cxnLst/>
              <a:rect l="l" t="t" r="r" b="b"/>
              <a:pathLst>
                <a:path w="2754376" h="1887601">
                  <a:moveTo>
                    <a:pt x="0" y="329692"/>
                  </a:moveTo>
                  <a:cubicBezTo>
                    <a:pt x="0" y="147447"/>
                    <a:pt x="148844" y="0"/>
                    <a:pt x="331978" y="0"/>
                  </a:cubicBezTo>
                  <a:lnTo>
                    <a:pt x="2422398" y="0"/>
                  </a:lnTo>
                  <a:lnTo>
                    <a:pt x="2422398" y="22606"/>
                  </a:lnTo>
                  <a:lnTo>
                    <a:pt x="2422398" y="0"/>
                  </a:lnTo>
                  <a:cubicBezTo>
                    <a:pt x="2605659" y="0"/>
                    <a:pt x="2754376" y="147447"/>
                    <a:pt x="2754376" y="329692"/>
                  </a:cubicBezTo>
                  <a:lnTo>
                    <a:pt x="2731770" y="329692"/>
                  </a:lnTo>
                  <a:lnTo>
                    <a:pt x="2754376" y="329692"/>
                  </a:lnTo>
                  <a:lnTo>
                    <a:pt x="2754376" y="1557909"/>
                  </a:lnTo>
                  <a:lnTo>
                    <a:pt x="2731770" y="1557909"/>
                  </a:lnTo>
                  <a:lnTo>
                    <a:pt x="2754376" y="1557909"/>
                  </a:lnTo>
                  <a:cubicBezTo>
                    <a:pt x="2754376" y="1740154"/>
                    <a:pt x="2605532" y="1887601"/>
                    <a:pt x="2422398" y="1887601"/>
                  </a:cubicBezTo>
                  <a:lnTo>
                    <a:pt x="2422398" y="1864995"/>
                  </a:lnTo>
                  <a:lnTo>
                    <a:pt x="2422398" y="1887601"/>
                  </a:lnTo>
                  <a:lnTo>
                    <a:pt x="331978" y="1887601"/>
                  </a:lnTo>
                  <a:lnTo>
                    <a:pt x="331978" y="1864995"/>
                  </a:lnTo>
                  <a:lnTo>
                    <a:pt x="331978" y="1887601"/>
                  </a:lnTo>
                  <a:cubicBezTo>
                    <a:pt x="148844" y="1887474"/>
                    <a:pt x="0" y="1740027"/>
                    <a:pt x="0" y="1557909"/>
                  </a:cubicBezTo>
                  <a:lnTo>
                    <a:pt x="0" y="329692"/>
                  </a:lnTo>
                  <a:lnTo>
                    <a:pt x="22606" y="329692"/>
                  </a:lnTo>
                  <a:lnTo>
                    <a:pt x="0" y="329692"/>
                  </a:lnTo>
                  <a:moveTo>
                    <a:pt x="45212" y="329692"/>
                  </a:moveTo>
                  <a:lnTo>
                    <a:pt x="45212" y="1557909"/>
                  </a:lnTo>
                  <a:lnTo>
                    <a:pt x="22606" y="1557909"/>
                  </a:lnTo>
                  <a:lnTo>
                    <a:pt x="45212" y="1557909"/>
                  </a:lnTo>
                  <a:cubicBezTo>
                    <a:pt x="45212" y="1714881"/>
                    <a:pt x="173482" y="1842389"/>
                    <a:pt x="332105" y="1842389"/>
                  </a:cubicBezTo>
                  <a:lnTo>
                    <a:pt x="2422525" y="1842389"/>
                  </a:lnTo>
                  <a:cubicBezTo>
                    <a:pt x="2581148" y="1842389"/>
                    <a:pt x="2709418" y="1714881"/>
                    <a:pt x="2709418" y="1557909"/>
                  </a:cubicBezTo>
                  <a:lnTo>
                    <a:pt x="2709418" y="329692"/>
                  </a:lnTo>
                  <a:cubicBezTo>
                    <a:pt x="2709418" y="172720"/>
                    <a:pt x="2581148" y="45212"/>
                    <a:pt x="2422525" y="45212"/>
                  </a:cubicBezTo>
                  <a:lnTo>
                    <a:pt x="331978" y="45212"/>
                  </a:lnTo>
                  <a:lnTo>
                    <a:pt x="331978" y="22606"/>
                  </a:lnTo>
                  <a:lnTo>
                    <a:pt x="331978" y="45212"/>
                  </a:lnTo>
                  <a:cubicBezTo>
                    <a:pt x="173482" y="45212"/>
                    <a:pt x="45212" y="172720"/>
                    <a:pt x="45212" y="329692"/>
                  </a:cubicBezTo>
                  <a:close/>
                </a:path>
              </a:pathLst>
            </a:custGeom>
            <a:solidFill>
              <a:srgbClr val="15284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04240" y="3620169"/>
            <a:ext cx="1619231" cy="119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Beginning Balance </a:t>
            </a:r>
          </a:p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Sheet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42238" y="2526520"/>
            <a:ext cx="1892793" cy="119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Periodic </a:t>
            </a:r>
          </a:p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Income Statement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88639" y="4765862"/>
            <a:ext cx="1909777" cy="121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Periodic </a:t>
            </a:r>
          </a:p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Cash Flow  </a:t>
            </a:r>
          </a:p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Statement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404187" y="3234267"/>
            <a:ext cx="1822027" cy="1903307"/>
            <a:chOff x="0" y="0"/>
            <a:chExt cx="2429369" cy="2537742"/>
          </a:xfrm>
        </p:grpSpPr>
        <p:sp>
          <p:nvSpPr>
            <p:cNvPr id="23" name="Freeform 23"/>
            <p:cNvSpPr/>
            <p:nvPr/>
          </p:nvSpPr>
          <p:spPr>
            <a:xfrm>
              <a:off x="22606" y="22606"/>
              <a:ext cx="2384171" cy="2492502"/>
            </a:xfrm>
            <a:custGeom>
              <a:avLst/>
              <a:gdLst/>
              <a:ahLst/>
              <a:cxnLst/>
              <a:rect l="l" t="t" r="r" b="b"/>
              <a:pathLst>
                <a:path w="2384171" h="2492502">
                  <a:moveTo>
                    <a:pt x="0" y="397637"/>
                  </a:moveTo>
                  <a:cubicBezTo>
                    <a:pt x="0" y="178054"/>
                    <a:pt x="177927" y="0"/>
                    <a:pt x="397383" y="0"/>
                  </a:cubicBezTo>
                  <a:lnTo>
                    <a:pt x="1986788" y="0"/>
                  </a:lnTo>
                  <a:cubicBezTo>
                    <a:pt x="2206244" y="0"/>
                    <a:pt x="2384171" y="178054"/>
                    <a:pt x="2384171" y="397637"/>
                  </a:cubicBezTo>
                  <a:lnTo>
                    <a:pt x="2384171" y="2094865"/>
                  </a:lnTo>
                  <a:cubicBezTo>
                    <a:pt x="2384171" y="2314448"/>
                    <a:pt x="2206244" y="2492502"/>
                    <a:pt x="1986788" y="2492502"/>
                  </a:cubicBezTo>
                  <a:lnTo>
                    <a:pt x="397383" y="2492502"/>
                  </a:lnTo>
                  <a:cubicBezTo>
                    <a:pt x="177927" y="2492502"/>
                    <a:pt x="0" y="2314448"/>
                    <a:pt x="0" y="2094865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2429383" cy="2537714"/>
            </a:xfrm>
            <a:custGeom>
              <a:avLst/>
              <a:gdLst/>
              <a:ahLst/>
              <a:cxnLst/>
              <a:rect l="l" t="t" r="r" b="b"/>
              <a:pathLst>
                <a:path w="2429383" h="2537714">
                  <a:moveTo>
                    <a:pt x="0" y="420243"/>
                  </a:moveTo>
                  <a:cubicBezTo>
                    <a:pt x="0" y="188214"/>
                    <a:pt x="187960" y="0"/>
                    <a:pt x="419989" y="0"/>
                  </a:cubicBezTo>
                  <a:lnTo>
                    <a:pt x="2009394" y="0"/>
                  </a:lnTo>
                  <a:lnTo>
                    <a:pt x="2009394" y="22606"/>
                  </a:lnTo>
                  <a:lnTo>
                    <a:pt x="2009394" y="0"/>
                  </a:lnTo>
                  <a:lnTo>
                    <a:pt x="2009394" y="22606"/>
                  </a:lnTo>
                  <a:lnTo>
                    <a:pt x="2009394" y="0"/>
                  </a:lnTo>
                  <a:cubicBezTo>
                    <a:pt x="2241296" y="0"/>
                    <a:pt x="2429383" y="188214"/>
                    <a:pt x="2429383" y="420243"/>
                  </a:cubicBezTo>
                  <a:lnTo>
                    <a:pt x="2406777" y="420243"/>
                  </a:lnTo>
                  <a:lnTo>
                    <a:pt x="2429383" y="420243"/>
                  </a:lnTo>
                  <a:lnTo>
                    <a:pt x="2429383" y="2117471"/>
                  </a:lnTo>
                  <a:lnTo>
                    <a:pt x="2406777" y="2117471"/>
                  </a:lnTo>
                  <a:lnTo>
                    <a:pt x="2429383" y="2117471"/>
                  </a:lnTo>
                  <a:cubicBezTo>
                    <a:pt x="2429383" y="2349627"/>
                    <a:pt x="2241423" y="2537714"/>
                    <a:pt x="2009394" y="2537714"/>
                  </a:cubicBezTo>
                  <a:lnTo>
                    <a:pt x="2009394" y="2515108"/>
                  </a:lnTo>
                  <a:lnTo>
                    <a:pt x="2009394" y="2537714"/>
                  </a:lnTo>
                  <a:lnTo>
                    <a:pt x="419989" y="2537714"/>
                  </a:lnTo>
                  <a:lnTo>
                    <a:pt x="419989" y="2515108"/>
                  </a:lnTo>
                  <a:lnTo>
                    <a:pt x="419989" y="2537714"/>
                  </a:lnTo>
                  <a:cubicBezTo>
                    <a:pt x="187960" y="2537714"/>
                    <a:pt x="0" y="2349500"/>
                    <a:pt x="0" y="2117471"/>
                  </a:cubicBezTo>
                  <a:lnTo>
                    <a:pt x="0" y="420243"/>
                  </a:lnTo>
                  <a:lnTo>
                    <a:pt x="22606" y="420243"/>
                  </a:lnTo>
                  <a:lnTo>
                    <a:pt x="0" y="420243"/>
                  </a:lnTo>
                  <a:moveTo>
                    <a:pt x="45212" y="420243"/>
                  </a:moveTo>
                  <a:lnTo>
                    <a:pt x="45212" y="2117471"/>
                  </a:lnTo>
                  <a:lnTo>
                    <a:pt x="22606" y="2117471"/>
                  </a:lnTo>
                  <a:lnTo>
                    <a:pt x="45212" y="2117471"/>
                  </a:lnTo>
                  <a:cubicBezTo>
                    <a:pt x="45212" y="2324608"/>
                    <a:pt x="212979" y="2492629"/>
                    <a:pt x="419989" y="2492629"/>
                  </a:cubicBezTo>
                  <a:lnTo>
                    <a:pt x="2009394" y="2492629"/>
                  </a:lnTo>
                  <a:cubicBezTo>
                    <a:pt x="2216404" y="2492629"/>
                    <a:pt x="2384171" y="2324735"/>
                    <a:pt x="2384171" y="2117471"/>
                  </a:cubicBezTo>
                  <a:lnTo>
                    <a:pt x="2384171" y="420243"/>
                  </a:lnTo>
                  <a:cubicBezTo>
                    <a:pt x="2384171" y="213106"/>
                    <a:pt x="2216404" y="45085"/>
                    <a:pt x="2009394" y="45085"/>
                  </a:cubicBezTo>
                  <a:lnTo>
                    <a:pt x="419989" y="45085"/>
                  </a:lnTo>
                  <a:lnTo>
                    <a:pt x="419989" y="22606"/>
                  </a:lnTo>
                  <a:lnTo>
                    <a:pt x="419989" y="45212"/>
                  </a:lnTo>
                  <a:cubicBezTo>
                    <a:pt x="212979" y="45212"/>
                    <a:pt x="45212" y="213106"/>
                    <a:pt x="45212" y="420370"/>
                  </a:cubicBezTo>
                  <a:close/>
                </a:path>
              </a:pathLst>
            </a:custGeom>
            <a:solidFill>
              <a:srgbClr val="00539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505595" y="3588808"/>
            <a:ext cx="1619231" cy="119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Ending Balance </a:t>
            </a:r>
          </a:p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003057"/>
                </a:solidFill>
                <a:latin typeface="Arial Bold"/>
                <a:ea typeface="Arial Bold"/>
                <a:cs typeface="Arial Bold"/>
                <a:sym typeface="Arial Bold"/>
              </a:rPr>
              <a:t>Sheet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600960" y="3413760"/>
            <a:ext cx="894080" cy="246267"/>
            <a:chOff x="0" y="0"/>
            <a:chExt cx="1192107" cy="3283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92149" cy="328295"/>
            </a:xfrm>
            <a:custGeom>
              <a:avLst/>
              <a:gdLst/>
              <a:ahLst/>
              <a:cxnLst/>
              <a:rect l="l" t="t" r="r" b="b"/>
              <a:pathLst>
                <a:path w="1192149" h="328295">
                  <a:moveTo>
                    <a:pt x="0" y="82042"/>
                  </a:moveTo>
                  <a:lnTo>
                    <a:pt x="1027938" y="82042"/>
                  </a:lnTo>
                  <a:lnTo>
                    <a:pt x="1027938" y="0"/>
                  </a:lnTo>
                  <a:lnTo>
                    <a:pt x="1192149" y="164211"/>
                  </a:lnTo>
                  <a:lnTo>
                    <a:pt x="1027938" y="328295"/>
                  </a:lnTo>
                  <a:lnTo>
                    <a:pt x="1027938" y="246253"/>
                  </a:lnTo>
                  <a:lnTo>
                    <a:pt x="0" y="246253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620370" y="4711813"/>
            <a:ext cx="894080" cy="246267"/>
            <a:chOff x="0" y="0"/>
            <a:chExt cx="1192107" cy="3283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2149" cy="328295"/>
            </a:xfrm>
            <a:custGeom>
              <a:avLst/>
              <a:gdLst/>
              <a:ahLst/>
              <a:cxnLst/>
              <a:rect l="l" t="t" r="r" b="b"/>
              <a:pathLst>
                <a:path w="1192149" h="328295">
                  <a:moveTo>
                    <a:pt x="0" y="82042"/>
                  </a:moveTo>
                  <a:lnTo>
                    <a:pt x="1027938" y="82042"/>
                  </a:lnTo>
                  <a:lnTo>
                    <a:pt x="1027938" y="0"/>
                  </a:lnTo>
                  <a:lnTo>
                    <a:pt x="1192149" y="164211"/>
                  </a:lnTo>
                  <a:lnTo>
                    <a:pt x="1027938" y="328295"/>
                  </a:lnTo>
                  <a:lnTo>
                    <a:pt x="1027938" y="246253"/>
                  </a:lnTo>
                  <a:lnTo>
                    <a:pt x="0" y="246253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44025" y="3411333"/>
            <a:ext cx="894080" cy="246267"/>
            <a:chOff x="0" y="0"/>
            <a:chExt cx="1192107" cy="3283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92149" cy="328295"/>
            </a:xfrm>
            <a:custGeom>
              <a:avLst/>
              <a:gdLst/>
              <a:ahLst/>
              <a:cxnLst/>
              <a:rect l="l" t="t" r="r" b="b"/>
              <a:pathLst>
                <a:path w="1192149" h="328295">
                  <a:moveTo>
                    <a:pt x="0" y="82042"/>
                  </a:moveTo>
                  <a:lnTo>
                    <a:pt x="1027938" y="82042"/>
                  </a:lnTo>
                  <a:lnTo>
                    <a:pt x="1027938" y="0"/>
                  </a:lnTo>
                  <a:lnTo>
                    <a:pt x="1192149" y="164211"/>
                  </a:lnTo>
                  <a:lnTo>
                    <a:pt x="1027938" y="328295"/>
                  </a:lnTo>
                  <a:lnTo>
                    <a:pt x="1027938" y="246253"/>
                  </a:lnTo>
                  <a:lnTo>
                    <a:pt x="0" y="246253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527040" y="4714240"/>
            <a:ext cx="894080" cy="246267"/>
            <a:chOff x="0" y="0"/>
            <a:chExt cx="1192107" cy="3283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92149" cy="328295"/>
            </a:xfrm>
            <a:custGeom>
              <a:avLst/>
              <a:gdLst/>
              <a:ahLst/>
              <a:cxnLst/>
              <a:rect l="l" t="t" r="r" b="b"/>
              <a:pathLst>
                <a:path w="1192149" h="328295">
                  <a:moveTo>
                    <a:pt x="0" y="82042"/>
                  </a:moveTo>
                  <a:lnTo>
                    <a:pt x="1027938" y="82042"/>
                  </a:lnTo>
                  <a:lnTo>
                    <a:pt x="1027938" y="0"/>
                  </a:lnTo>
                  <a:lnTo>
                    <a:pt x="1192149" y="164211"/>
                  </a:lnTo>
                  <a:lnTo>
                    <a:pt x="1027938" y="328295"/>
                  </a:lnTo>
                  <a:lnTo>
                    <a:pt x="1027938" y="246253"/>
                  </a:lnTo>
                  <a:lnTo>
                    <a:pt x="0" y="246253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9120" y="3820161"/>
            <a:ext cx="181362" cy="812800"/>
            <a:chOff x="0" y="0"/>
            <a:chExt cx="241816" cy="10837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1808" cy="1083691"/>
            </a:xfrm>
            <a:custGeom>
              <a:avLst/>
              <a:gdLst/>
              <a:ahLst/>
              <a:cxnLst/>
              <a:rect l="l" t="t" r="r" b="b"/>
              <a:pathLst>
                <a:path w="241808" h="1083691">
                  <a:moveTo>
                    <a:pt x="0" y="120904"/>
                  </a:moveTo>
                  <a:lnTo>
                    <a:pt x="120904" y="0"/>
                  </a:lnTo>
                  <a:lnTo>
                    <a:pt x="241808" y="120904"/>
                  </a:lnTo>
                  <a:lnTo>
                    <a:pt x="181356" y="120904"/>
                  </a:lnTo>
                  <a:lnTo>
                    <a:pt x="181356" y="962787"/>
                  </a:lnTo>
                  <a:lnTo>
                    <a:pt x="241808" y="962787"/>
                  </a:lnTo>
                  <a:lnTo>
                    <a:pt x="120904" y="1083691"/>
                  </a:lnTo>
                  <a:lnTo>
                    <a:pt x="0" y="962787"/>
                  </a:lnTo>
                  <a:lnTo>
                    <a:pt x="60452" y="962787"/>
                  </a:lnTo>
                  <a:lnTo>
                    <a:pt x="60452" y="120904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8989" y="1295628"/>
            <a:ext cx="7614242" cy="1186446"/>
            <a:chOff x="0" y="0"/>
            <a:chExt cx="10152323" cy="15819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52380" cy="1581912"/>
            </a:xfrm>
            <a:custGeom>
              <a:avLst/>
              <a:gdLst/>
              <a:ahLst/>
              <a:cxnLst/>
              <a:rect l="l" t="t" r="r" b="b"/>
              <a:pathLst>
                <a:path w="10152380" h="1581912">
                  <a:moveTo>
                    <a:pt x="0" y="395478"/>
                  </a:moveTo>
                  <a:lnTo>
                    <a:pt x="9361297" y="395478"/>
                  </a:lnTo>
                  <a:lnTo>
                    <a:pt x="9361297" y="0"/>
                  </a:lnTo>
                  <a:lnTo>
                    <a:pt x="10152380" y="790956"/>
                  </a:lnTo>
                  <a:lnTo>
                    <a:pt x="9361425" y="1581912"/>
                  </a:lnTo>
                  <a:lnTo>
                    <a:pt x="9361425" y="1186434"/>
                  </a:lnTo>
                  <a:lnTo>
                    <a:pt x="0" y="1186434"/>
                  </a:lnTo>
                  <a:close/>
                </a:path>
              </a:pathLst>
            </a:custGeom>
            <a:solidFill>
              <a:srgbClr val="15284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04240" y="1662036"/>
            <a:ext cx="7457440" cy="4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133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Period activities – operating, investing and financing </a:t>
            </a:r>
          </a:p>
        </p:txBody>
      </p:sp>
      <p:sp>
        <p:nvSpPr>
          <p:cNvPr id="39" name="Title 3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Financial statements –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Key accounting data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35567"/>
            <a:ext cx="8595360" cy="503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Annual report (form 10K) 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– most important sections: </a:t>
            </a:r>
          </a:p>
          <a:p>
            <a:pPr marL="495444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Description of the business and risk factors </a:t>
            </a:r>
          </a:p>
          <a:p>
            <a:pPr marL="495444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Management discussion and analysis (MD&amp;A)</a:t>
            </a:r>
          </a:p>
          <a:p>
            <a:pPr marL="495444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Consolidated Financial statements and Notes </a:t>
            </a:r>
          </a:p>
          <a:p>
            <a:pPr marL="305089" lvl="1" indent="-152545"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Other: 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Press releases, earnings announcements and guidance </a:t>
            </a:r>
          </a:p>
          <a:p>
            <a:pPr marL="305089" lvl="1" indent="-152545"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How to obtain the data: </a:t>
            </a:r>
          </a:p>
          <a:p>
            <a:pPr marL="495444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Corporate websites / investor relations</a:t>
            </a:r>
          </a:p>
          <a:p>
            <a:pPr marL="495444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SEC website: </a:t>
            </a:r>
            <a:r>
              <a:rPr lang="en-US" sz="2300" u="sng" dirty="0">
                <a:solidFill>
                  <a:srgbClr val="B2B3B2"/>
                </a:solidFill>
                <a:latin typeface="Arial"/>
                <a:ea typeface="Arial"/>
                <a:cs typeface="Arial"/>
                <a:sym typeface="Arial"/>
                <a:hlinkClick r:id="rId3" tooltip="http://www.sec.gov/"/>
              </a:rPr>
              <a:t>www.sec.gov</a:t>
            </a:r>
            <a:r>
              <a:rPr lang="en-US" sz="2300" dirty="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305089" lvl="1" indent="-152545" algn="l">
              <a:lnSpc>
                <a:spcPct val="130000"/>
              </a:lnSpc>
            </a:pPr>
            <a:endParaRPr lang="en-US" sz="2300" dirty="0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Key accounting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Communication and timing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1535567"/>
            <a:ext cx="8595360" cy="501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Annual and quarterly reports </a:t>
            </a:r>
          </a:p>
          <a:p>
            <a:pPr algn="l">
              <a:lnSpc>
                <a:spcPct val="130000"/>
              </a:lnSpc>
            </a:pPr>
            <a:endParaRPr lang="en-US" sz="2300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Earnings announcements and earnings guidance </a:t>
            </a:r>
          </a:p>
          <a:p>
            <a:pPr algn="l">
              <a:lnSpc>
                <a:spcPct val="130000"/>
              </a:lnSpc>
            </a:pPr>
            <a:endParaRPr lang="en-US" sz="2300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Important product and personnel news </a:t>
            </a:r>
          </a:p>
          <a:p>
            <a:pPr algn="l">
              <a:lnSpc>
                <a:spcPct val="130000"/>
              </a:lnSpc>
            </a:pPr>
            <a:endParaRPr lang="en-US" sz="2300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All material information must reach the public at the same time. Insiders may not trade on material, non-public information.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Communication and timing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10591" y="1077234"/>
            <a:ext cx="3225190" cy="705510"/>
          </a:xfrm>
          <a:custGeom>
            <a:avLst/>
            <a:gdLst/>
            <a:ahLst/>
            <a:cxnLst/>
            <a:rect l="l" t="t" r="r" b="b"/>
            <a:pathLst>
              <a:path w="3225190" h="705510">
                <a:moveTo>
                  <a:pt x="0" y="0"/>
                </a:moveTo>
                <a:lnTo>
                  <a:pt x="3225190" y="0"/>
                </a:lnTo>
                <a:lnTo>
                  <a:pt x="3225190" y="705511"/>
                </a:lnTo>
                <a:lnTo>
                  <a:pt x="0" y="705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735029" y="2272453"/>
            <a:ext cx="7287050" cy="3145994"/>
            <a:chOff x="0" y="0"/>
            <a:chExt cx="9716066" cy="41946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6066" cy="4194658"/>
            </a:xfrm>
            <a:custGeom>
              <a:avLst/>
              <a:gdLst/>
              <a:ahLst/>
              <a:cxnLst/>
              <a:rect l="l" t="t" r="r" b="b"/>
              <a:pathLst>
                <a:path w="9716066" h="4194658">
                  <a:moveTo>
                    <a:pt x="0" y="0"/>
                  </a:moveTo>
                  <a:lnTo>
                    <a:pt x="9716066" y="0"/>
                  </a:lnTo>
                  <a:lnTo>
                    <a:pt x="9716066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9716066" cy="4289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31"/>
                </a:lnSpc>
              </a:pPr>
              <a:r>
                <a:rPr lang="en-US" sz="4693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Summary </a:t>
              </a:r>
            </a:p>
          </p:txBody>
        </p:sp>
      </p:grpSp>
      <p:sp>
        <p:nvSpPr>
          <p:cNvPr id="17" name="Title 17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303306" y="6547012"/>
            <a:ext cx="1962614" cy="429322"/>
          </a:xfrm>
          <a:custGeom>
            <a:avLst/>
            <a:gdLst/>
            <a:ahLst/>
            <a:cxnLst/>
            <a:rect l="l" t="t" r="r" b="b"/>
            <a:pathLst>
              <a:path w="1962614" h="429322">
                <a:moveTo>
                  <a:pt x="0" y="0"/>
                </a:moveTo>
                <a:lnTo>
                  <a:pt x="1962614" y="0"/>
                </a:lnTo>
                <a:lnTo>
                  <a:pt x="1962614" y="429322"/>
                </a:lnTo>
                <a:lnTo>
                  <a:pt x="0" y="4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9120" y="1535567"/>
            <a:ext cx="8595360" cy="4093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089" lvl="2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purpose of the three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main financial statements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and what information is provided on these statements</a:t>
            </a:r>
          </a:p>
          <a:p>
            <a:pPr marL="543089" lvl="2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Who is responsible for the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accuracy</a:t>
            </a:r>
            <a:r>
              <a:rPr lang="en-US" sz="2300" b="1" dirty="0">
                <a:solidFill>
                  <a:srgbClr val="00274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of the financial statements </a:t>
            </a:r>
          </a:p>
          <a:p>
            <a:pPr marL="543089" lvl="2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How to find filings and disclosures on the SEC website (sec.gov)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/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/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/>
            </a:r>
            <a:r>
              <a:rPr lang="en-US" sz="2300" b="1" dirty="0">
                <a:solidFill>
                  <a:srgbClr val="00274C"/>
                </a:solidFill>
                <a:latin typeface="Arial Bold"/>
                <a:ea typeface="Arial Bold"/>
                <a:cs typeface="Arial Bold"/>
                <a:sym typeface="Arial Bold"/>
              </a:rPr>
              <a:t/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2300" u="sng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  <a:hlinkClick r:id="rId3" tooltip="http://www.sec.gov/"/>
              </a:rPr>
              <a:t/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marL="543089" lvl="2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 structure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of the accounting reports</a:t>
            </a:r>
          </a:p>
          <a:p>
            <a:pPr marL="543089" lvl="2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How to find data about the current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market share prices </a:t>
            </a:r>
          </a:p>
          <a:p>
            <a:pPr marL="274546" lvl="2" indent="-91515" algn="l">
              <a:lnSpc>
                <a:spcPct val="130000"/>
              </a:lnSpc>
            </a:pPr>
            <a:endParaRPr lang="en-US" sz="2300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NEED to know from this class </a:t>
              </a:r>
            </a:p>
          </p:txBody>
        </p:sp>
      </p:grpSp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NEED to know from this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551</Words>
  <Application>Microsoft Office PowerPoint</Application>
  <PresentationFormat>Custom</PresentationFormat>
  <Paragraphs>128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Arial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financial accounting.pptx</dc:title>
  <dc:creator>Veselina Dinova</dc:creator>
  <cp:lastModifiedBy>Veselina Dinova</cp:lastModifiedBy>
  <cp:revision>1</cp:revision>
  <dcterms:created xsi:type="dcterms:W3CDTF">2006-08-16T00:00:00Z</dcterms:created>
  <dcterms:modified xsi:type="dcterms:W3CDTF">2025-09-01T17:28:14Z</dcterms:modified>
  <dc:identifier>DAGpmug30Zo</dc:identifier>
</cp:coreProperties>
</file>
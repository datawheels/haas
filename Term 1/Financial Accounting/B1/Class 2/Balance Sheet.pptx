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753600" cy="7315200"/>
  <p:notesSz cx="6858000" cy="9144000"/>
  <p:embeddedFontLst>
    <p:embeddedFont>
      <p:font typeface="Arial Bold" panose="020B0704020202020204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122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elina Dinova" userId="5935860719f7b8c5" providerId="LiveId" clId="{4B4E9993-6D55-4F39-B7EE-D860DEB4728B}"/>
    <pc:docChg chg="custSel modSld">
      <pc:chgData name="Veselina Dinova" userId="5935860719f7b8c5" providerId="LiveId" clId="{4B4E9993-6D55-4F39-B7EE-D860DEB4728B}" dt="2026-09-07T20:19:59.503" v="141" actId="478"/>
      <pc:docMkLst>
        <pc:docMk/>
      </pc:docMkLst>
      <pc:sldChg chg="delSp modSp mod">
        <pc:chgData name="Veselina Dinova" userId="5935860719f7b8c5" providerId="LiveId" clId="{4B4E9993-6D55-4F39-B7EE-D860DEB4728B}" dt="2026-09-07T20:19:35.642" v="138" actId="478"/>
        <pc:sldMkLst>
          <pc:docMk/>
          <pc:sldMk cId="0" sldId="259"/>
        </pc:sldMkLst>
        <pc:spChg chg="del">
          <ac:chgData name="Veselina Dinova" userId="5935860719f7b8c5" providerId="LiveId" clId="{4B4E9993-6D55-4F39-B7EE-D860DEB4728B}" dt="2026-09-07T20:19:35.642" v="138" actId="478"/>
          <ac:spMkLst>
            <pc:docMk/>
            <pc:sldMk cId="0" sldId="259"/>
            <ac:spMk id="12" creationId="{00000000-0000-0000-0000-000000000000}"/>
          </ac:spMkLst>
        </pc:spChg>
      </pc:sldChg>
      <pc:sldChg chg="delSp modSp mod">
        <pc:chgData name="Veselina Dinova" userId="5935860719f7b8c5" providerId="LiveId" clId="{4B4E9993-6D55-4F39-B7EE-D860DEB4728B}" dt="2026-09-07T20:19:44.087" v="139" actId="478"/>
        <pc:sldMkLst>
          <pc:docMk/>
          <pc:sldMk cId="0" sldId="261"/>
        </pc:sldMkLst>
        <pc:spChg chg="del">
          <ac:chgData name="Veselina Dinova" userId="5935860719f7b8c5" providerId="LiveId" clId="{4B4E9993-6D55-4F39-B7EE-D860DEB4728B}" dt="2026-09-07T20:19:44.087" v="139" actId="478"/>
          <ac:spMkLst>
            <pc:docMk/>
            <pc:sldMk cId="0" sldId="261"/>
            <ac:spMk id="12" creationId="{00000000-0000-0000-0000-000000000000}"/>
          </ac:spMkLst>
        </pc:spChg>
      </pc:sldChg>
      <pc:sldChg chg="delSp modSp mod">
        <pc:chgData name="Veselina Dinova" userId="5935860719f7b8c5" providerId="LiveId" clId="{4B4E9993-6D55-4F39-B7EE-D860DEB4728B}" dt="2026-09-07T20:19:59.503" v="141" actId="478"/>
        <pc:sldMkLst>
          <pc:docMk/>
          <pc:sldMk cId="0" sldId="266"/>
        </pc:sldMkLst>
        <pc:spChg chg="del mod">
          <ac:chgData name="Veselina Dinova" userId="5935860719f7b8c5" providerId="LiveId" clId="{4B4E9993-6D55-4F39-B7EE-D860DEB4728B}" dt="2026-09-07T20:19:59.503" v="141" actId="478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51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610591" y="1077234"/>
            <a:ext cx="3225190" cy="705510"/>
            <a:chOff x="0" y="0"/>
            <a:chExt cx="4300254" cy="9406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00220" cy="940689"/>
            </a:xfrm>
            <a:custGeom>
              <a:avLst/>
              <a:gdLst/>
              <a:ahLst/>
              <a:cxnLst/>
              <a:rect l="l" t="t" r="r" b="b"/>
              <a:pathLst>
                <a:path w="4300220" h="940689">
                  <a:moveTo>
                    <a:pt x="0" y="0"/>
                  </a:moveTo>
                  <a:lnTo>
                    <a:pt x="4300220" y="0"/>
                  </a:lnTo>
                  <a:lnTo>
                    <a:pt x="4300220" y="940689"/>
                  </a:lnTo>
                  <a:lnTo>
                    <a:pt x="0" y="940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7681" y="2272453"/>
            <a:ext cx="8018572" cy="3145994"/>
            <a:chOff x="0" y="0"/>
            <a:chExt cx="10691429" cy="41946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91429" cy="4194658"/>
            </a:xfrm>
            <a:custGeom>
              <a:avLst/>
              <a:gdLst/>
              <a:ahLst/>
              <a:cxnLst/>
              <a:rect l="l" t="t" r="r" b="b"/>
              <a:pathLst>
                <a:path w="10691429" h="4194658">
                  <a:moveTo>
                    <a:pt x="0" y="0"/>
                  </a:moveTo>
                  <a:lnTo>
                    <a:pt x="10691429" y="0"/>
                  </a:lnTo>
                  <a:lnTo>
                    <a:pt x="10691429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61925"/>
              <a:ext cx="10691429" cy="4356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6"/>
                </a:lnSpc>
              </a:pPr>
              <a:r>
                <a:rPr lang="en-US" sz="4266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Balance Sheet details</a:t>
              </a:r>
            </a:p>
          </p:txBody>
        </p:sp>
      </p:grpSp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Balance Sheet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Purpose and structure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45092"/>
            <a:ext cx="8595360" cy="3297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9"/>
              </a:lnSpc>
            </a:pPr>
            <a:endParaRPr dirty="0"/>
          </a:p>
          <a:p>
            <a:pPr algn="ctr">
              <a:lnSpc>
                <a:spcPts val="3739"/>
              </a:lnSpc>
            </a:pPr>
            <a:endParaRPr dirty="0"/>
          </a:p>
          <a:p>
            <a:pPr algn="ctr">
              <a:lnSpc>
                <a:spcPts val="3693"/>
              </a:lnSpc>
            </a:pPr>
            <a:r>
              <a:rPr lang="en-US" sz="27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Snapshot of financial position at a point in time: </a:t>
            </a:r>
          </a:p>
          <a:p>
            <a:pPr algn="l">
              <a:lnSpc>
                <a:spcPts val="2918"/>
              </a:lnSpc>
            </a:pPr>
            <a:endParaRPr lang="en-US" sz="27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918"/>
              </a:lnSpc>
            </a:pPr>
            <a:endParaRPr lang="en-US" sz="27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5663"/>
              </a:lnSpc>
            </a:pPr>
            <a:r>
              <a:rPr lang="en-US" sz="4139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Assets = Liabilities + Equity </a:t>
            </a:r>
          </a:p>
          <a:p>
            <a:pPr algn="l">
              <a:lnSpc>
                <a:spcPts val="2918"/>
              </a:lnSpc>
            </a:pPr>
            <a:endParaRPr lang="en-US" sz="4139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Purpose and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Purpose and structure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462105"/>
            <a:ext cx="8595360" cy="455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Assets — resources expected to provide future economic benefit; monetary or non-monetary, tangible or intangible, current or long-term.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Liabilities — obligations with a reasonably estimable amount and timing; to pay cash or deliver goods or services; current or long-term.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Equity — capital invested by shareholders plus cumulative earnings, whether or not yet recognized.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Purpose and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Assets – description and rules for recording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455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Assets:</a:t>
            </a:r>
          </a:p>
          <a:p>
            <a:pPr marL="490898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Provide future economic benefits </a:t>
            </a:r>
          </a:p>
          <a:p>
            <a:pPr marL="490898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Result of past transactions </a:t>
            </a:r>
          </a:p>
          <a:p>
            <a:pPr marL="490898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Are controlled by the firm</a:t>
            </a:r>
          </a:p>
          <a:p>
            <a:pPr marL="490898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Can be reasonably measured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eported at: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Historical cost OR Fair value</a:t>
            </a:r>
          </a:p>
          <a:p>
            <a:pPr marL="295995" lvl="1" indent="-147997" algn="l">
              <a:lnSpc>
                <a:spcPct val="130000"/>
              </a:lnSpc>
            </a:pPr>
            <a:endParaRPr lang="en-US" sz="2300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rules for recording assets are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guided by GAAP,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not chosen by management.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Assets – types and examples 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462105"/>
            <a:ext cx="8595360" cy="501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Current (short-term) assets: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Expected to be converted into cash in less than one year. </a:t>
            </a:r>
          </a:p>
          <a:p>
            <a:pPr marL="490898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Examples: Cash and cash equivalents; Accounts receivable; Inventory, Prepaid expenses </a:t>
            </a:r>
          </a:p>
          <a:p>
            <a:pPr marL="295995" lvl="1" indent="-147997"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Long-term assets: </a:t>
            </a:r>
          </a:p>
          <a:p>
            <a:pPr marL="490898" lvl="1" indent="-342900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Examples: Property, plant and equipment (PPE); Long-term investments; Goodwill and other intangible assets </a:t>
            </a:r>
          </a:p>
          <a:p>
            <a:pPr marL="295995" lvl="1" indent="-147997"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7998" lvl="1">
              <a:lnSpc>
                <a:spcPct val="130000"/>
              </a:lnSpc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Assets are reported on the balance sheet based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on liquidity.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 </a:t>
            </a:r>
          </a:p>
          <a:p>
            <a:pPr marL="274546" lvl="1" indent="-137273"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Assets – types and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9101193" cy="1131518"/>
            <a:chOff x="0" y="0"/>
            <a:chExt cx="12134923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34924" cy="1508690"/>
            </a:xfrm>
            <a:custGeom>
              <a:avLst/>
              <a:gdLst/>
              <a:ahLst/>
              <a:cxnLst/>
              <a:rect l="l" t="t" r="r" b="b"/>
              <a:pathLst>
                <a:path w="12134924" h="1508690">
                  <a:moveTo>
                    <a:pt x="0" y="0"/>
                  </a:moveTo>
                  <a:lnTo>
                    <a:pt x="12134924" y="0"/>
                  </a:lnTo>
                  <a:lnTo>
                    <a:pt x="12134924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134923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Liabilities – description and rules for recording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363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Liabilities: </a:t>
            </a:r>
          </a:p>
          <a:p>
            <a:pPr marL="493042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Have a reaso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nably estimated value and time frame</a:t>
            </a:r>
          </a:p>
          <a:p>
            <a:pPr marL="493042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Could be obligations to pay cash or deliver goods or services</a:t>
            </a:r>
          </a:p>
          <a:p>
            <a:pPr marL="300284" lvl="1" indent="-150142"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Rules about recording liabilities:</a:t>
            </a:r>
          </a:p>
          <a:p>
            <a:pPr marL="503766" lvl="1" indent="-251883" algn="l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Probability of occurrence</a:t>
            </a:r>
          </a:p>
          <a:p>
            <a:pPr marL="503766" lvl="1" indent="-251883" algn="l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Amount estimation </a:t>
            </a:r>
          </a:p>
          <a:p>
            <a:pPr algn="l">
              <a:lnSpc>
                <a:spcPct val="130000"/>
              </a:lnSpc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Liabilities – types and examples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455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Current (short-term) liabilities: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Expected to be repaid within one year. </a:t>
            </a:r>
          </a:p>
          <a:p>
            <a:pPr marL="493042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Examples: Accounts payable; Accrued expenses; Short-term debt; Deferred (unearned) revenues</a:t>
            </a:r>
          </a:p>
          <a:p>
            <a:pPr marL="300284" lvl="1" indent="-150142" algn="l">
              <a:lnSpc>
                <a:spcPct val="130000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Long-term liabilities: </a:t>
            </a:r>
          </a:p>
          <a:p>
            <a:pPr marL="493042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Examples: Long-term debt; Other long-term obligations - pension liabilities, insurance liabilities, deferred taxes. </a:t>
            </a:r>
          </a:p>
          <a:p>
            <a:pPr marL="300284" lvl="1" indent="-150142" algn="l">
              <a:lnSpc>
                <a:spcPct val="130000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Also reported on the balance sheet based on when they are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due. 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Liabilities – types and examples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Equity – description and components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455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Equity (book value of equity)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– net amount of capital by the shareholders and cumulative retained earnings</a:t>
            </a:r>
          </a:p>
          <a:p>
            <a:pPr marL="492993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Contributed capital </a:t>
            </a:r>
          </a:p>
          <a:p>
            <a:pPr marL="493042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Earned capital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(mainly Retained earnings - RE)</a:t>
            </a:r>
          </a:p>
          <a:p>
            <a:pPr marL="150142" lvl="1" algn="l">
              <a:lnSpc>
                <a:spcPct val="130000"/>
              </a:lnSpc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	= Prior RE plus Net Income minus Dividends </a:t>
            </a:r>
          </a:p>
          <a:p>
            <a:pPr marL="300284" lvl="1" indent="-150142"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Market value of equity: </a:t>
            </a:r>
          </a:p>
          <a:p>
            <a:pPr marL="503765" lvl="1" indent="-251882" algn="l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Current share price times the shares outstanding. </a:t>
            </a:r>
          </a:p>
          <a:p>
            <a:pPr marL="503766" lvl="1" indent="-251883" algn="l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Could be materially different from the book value, usually higher. 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Equity – description and 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Balance sheet – key ratios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676400"/>
            <a:ext cx="8595360" cy="409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Current ratio = Current Assets / Current Liabilities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– to assess the chance for insolvency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Debt to Equity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Debt to Total Assets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– to assess the company’s level of indebtedness. 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Market value of equity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versus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book value of equity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– to assess the market expectations for future growth</a:t>
            </a:r>
          </a:p>
          <a:p>
            <a:pPr algn="l">
              <a:lnSpc>
                <a:spcPct val="130000"/>
              </a:lnSpc>
            </a:pPr>
            <a:endParaRPr lang="en-US" sz="2333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Balance sheet – key ratios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610591" y="1077234"/>
            <a:ext cx="3225190" cy="705510"/>
            <a:chOff x="0" y="0"/>
            <a:chExt cx="4300254" cy="9406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00220" cy="940689"/>
            </a:xfrm>
            <a:custGeom>
              <a:avLst/>
              <a:gdLst/>
              <a:ahLst/>
              <a:cxnLst/>
              <a:rect l="l" t="t" r="r" b="b"/>
              <a:pathLst>
                <a:path w="4300220" h="940689">
                  <a:moveTo>
                    <a:pt x="0" y="0"/>
                  </a:moveTo>
                  <a:lnTo>
                    <a:pt x="4300220" y="0"/>
                  </a:lnTo>
                  <a:lnTo>
                    <a:pt x="4300220" y="940689"/>
                  </a:lnTo>
                  <a:lnTo>
                    <a:pt x="0" y="940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35029" y="2272453"/>
            <a:ext cx="7287050" cy="3145994"/>
            <a:chOff x="0" y="0"/>
            <a:chExt cx="9716066" cy="41946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16066" cy="4194658"/>
            </a:xfrm>
            <a:custGeom>
              <a:avLst/>
              <a:gdLst/>
              <a:ahLst/>
              <a:cxnLst/>
              <a:rect l="l" t="t" r="r" b="b"/>
              <a:pathLst>
                <a:path w="9716066" h="4194658">
                  <a:moveTo>
                    <a:pt x="0" y="0"/>
                  </a:moveTo>
                  <a:lnTo>
                    <a:pt x="9716066" y="0"/>
                  </a:lnTo>
                  <a:lnTo>
                    <a:pt x="9716066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9716066" cy="4289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31"/>
                </a:lnSpc>
              </a:pPr>
              <a:r>
                <a:rPr lang="en-US" sz="4693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Summary </a:t>
              </a:r>
            </a:p>
          </p:txBody>
        </p:sp>
      </p:grpSp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Balance sheet – key points to remember 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486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Certain assets or liabilities are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not recorded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on the BS. 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Some are reported at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market value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(if available); others at net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acquisition cost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and may have higher current market value. 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Often the values are at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management discretion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and hard to verify. 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There is a difference, </a:t>
            </a:r>
            <a:r>
              <a:rPr lang="en-US" sz="230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often substantial, between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book value of equity</a:t>
            </a:r>
            <a:r>
              <a:rPr lang="en-US" sz="2300" dirty="0">
                <a:solidFill>
                  <a:srgbClr val="00274C"/>
                </a:solidFill>
                <a:latin typeface="Arial"/>
                <a:cs typeface="Arial"/>
                <a:sym typeface="Arial Bold"/>
              </a:rPr>
              <a:t> </a:t>
            </a:r>
            <a:r>
              <a:rPr lang="en-US" sz="2300" dirty="0">
                <a:solidFill>
                  <a:srgbClr val="00274C"/>
                </a:solidFill>
                <a:latin typeface="Arial"/>
                <a:cs typeface="Arial"/>
                <a:sym typeface="Arial"/>
              </a:rPr>
              <a:t>and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current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market value of equity. 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BS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values are date specific,</a:t>
            </a:r>
            <a:r>
              <a:rPr lang="en-US" sz="2300" b="1" dirty="0">
                <a:solidFill>
                  <a:srgbClr val="00274C"/>
                </a:solidFill>
                <a:latin typeface="Arial"/>
                <a:ea typeface="Arial Bold"/>
                <a:cs typeface="Arial"/>
                <a:sym typeface="Arial"/>
              </a:rPr>
              <a:t>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 Bold"/>
                <a:cs typeface="Arial"/>
                <a:sym typeface="Arial"/>
              </a:rPr>
              <a:t>and they do not capture intra-period c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hanges. </a:t>
            </a:r>
          </a:p>
          <a:p>
            <a:pPr marL="274546" lvl="1" indent="-137273"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557</Words>
  <Application>Microsoft Office PowerPoint</Application>
  <PresentationFormat>Custom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Bold</vt:lpstr>
      <vt:lpstr>Calibri</vt:lpstr>
      <vt:lpstr>Office Theme</vt:lpstr>
      <vt:lpstr>Balance Sheet details</vt:lpstr>
      <vt:lpstr>Purpose and structure</vt:lpstr>
      <vt:lpstr>Purpose and structure</vt:lpstr>
      <vt:lpstr>PowerPoint Presentation</vt:lpstr>
      <vt:lpstr>Assets – types and examples</vt:lpstr>
      <vt:lpstr>PowerPoint Presentation</vt:lpstr>
      <vt:lpstr>Liabilities – types and examples</vt:lpstr>
      <vt:lpstr>Equity – description and components</vt:lpstr>
      <vt:lpstr>Balance sheet – key ratios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Balance sheet.pptx</dc:title>
  <dc:creator>Veselina Dinova</dc:creator>
  <cp:lastModifiedBy>Veselina Dinova</cp:lastModifiedBy>
  <cp:revision>1</cp:revision>
  <dcterms:created xsi:type="dcterms:W3CDTF">2006-08-16T00:00:00Z</dcterms:created>
  <dcterms:modified xsi:type="dcterms:W3CDTF">2026-09-07T20:20:02Z</dcterms:modified>
  <dc:identifier>DAGq8AYq2_Y</dc:identifier>
</cp:coreProperties>
</file>
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753600" cy="7315200"/>
  <p:notesSz cx="6858000" cy="9144000"/>
  <p:embeddedFontLst>
    <p:embeddedFont>
      <p:font typeface="Arial Bold" panose="020B0704020202020204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00"/>
    <a:srgbClr val="A50021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122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elina Dinova" userId="5935860719f7b8c5" providerId="LiveId" clId="{4B4E9993-6D55-4F39-B7EE-D860DEB4728B}"/>
    <pc:docChg chg="custSel modSld">
      <pc:chgData name="Veselina Dinova" userId="5935860719f7b8c5" providerId="LiveId" clId="{4B4E9993-6D55-4F39-B7EE-D860DEB4728B}" dt="2026-09-07T20:19:17.152" v="70" actId="478"/>
      <pc:docMkLst>
        <pc:docMk/>
      </pc:docMkLst>
      <pc:sldChg chg="delSp modSp mod">
        <pc:chgData name="Veselina Dinova" userId="5935860719f7b8c5" providerId="LiveId" clId="{4B4E9993-6D55-4F39-B7EE-D860DEB4728B}" dt="2026-09-07T20:16:55.022" v="67" actId="478"/>
        <pc:sldMkLst>
          <pc:docMk/>
          <pc:sldMk cId="0" sldId="257"/>
        </pc:sldMkLst>
        <pc:spChg chg="del">
          <ac:chgData name="Veselina Dinova" userId="5935860719f7b8c5" providerId="LiveId" clId="{4B4E9993-6D55-4F39-B7EE-D860DEB4728B}" dt="2026-09-07T20:16:55.022" v="67" actId="478"/>
          <ac:spMkLst>
            <pc:docMk/>
            <pc:sldMk cId="0" sldId="257"/>
            <ac:spMk id="12" creationId="{00000000-0000-0000-0000-000000000000}"/>
          </ac:spMkLst>
        </pc:spChg>
      </pc:sldChg>
      <pc:sldChg chg="delSp mod">
        <pc:chgData name="Veselina Dinova" userId="5935860719f7b8c5" providerId="LiveId" clId="{4B4E9993-6D55-4F39-B7EE-D860DEB4728B}" dt="2026-09-07T20:17:04.686" v="68" actId="478"/>
        <pc:sldMkLst>
          <pc:docMk/>
          <pc:sldMk cId="0" sldId="260"/>
        </pc:sldMkLst>
        <pc:spChg chg="del">
          <ac:chgData name="Veselina Dinova" userId="5935860719f7b8c5" providerId="LiveId" clId="{4B4E9993-6D55-4F39-B7EE-D860DEB4728B}" dt="2026-09-07T20:17:04.686" v="68" actId="478"/>
          <ac:spMkLst>
            <pc:docMk/>
            <pc:sldMk cId="0" sldId="260"/>
            <ac:spMk id="39" creationId="{00000000-0000-0000-0000-000000000000}"/>
          </ac:spMkLst>
        </pc:spChg>
      </pc:sldChg>
      <pc:sldChg chg="delSp mod">
        <pc:chgData name="Veselina Dinova" userId="5935860719f7b8c5" providerId="LiveId" clId="{4B4E9993-6D55-4F39-B7EE-D860DEB4728B}" dt="2026-09-07T20:18:58.707" v="69" actId="478"/>
        <pc:sldMkLst>
          <pc:docMk/>
          <pc:sldMk cId="0" sldId="261"/>
        </pc:sldMkLst>
        <pc:spChg chg="del">
          <ac:chgData name="Veselina Dinova" userId="5935860719f7b8c5" providerId="LiveId" clId="{4B4E9993-6D55-4F39-B7EE-D860DEB4728B}" dt="2026-09-07T20:18:58.707" v="69" actId="478"/>
          <ac:spMkLst>
            <pc:docMk/>
            <pc:sldMk cId="0" sldId="261"/>
            <ac:spMk id="36" creationId="{00000000-0000-0000-0000-000000000000}"/>
          </ac:spMkLst>
        </pc:spChg>
      </pc:sldChg>
      <pc:sldChg chg="delSp mod">
        <pc:chgData name="Veselina Dinova" userId="5935860719f7b8c5" providerId="LiveId" clId="{4B4E9993-6D55-4F39-B7EE-D860DEB4728B}" dt="2026-09-07T20:19:17.152" v="70" actId="478"/>
        <pc:sldMkLst>
          <pc:docMk/>
          <pc:sldMk cId="0" sldId="266"/>
        </pc:sldMkLst>
        <pc:spChg chg="del">
          <ac:chgData name="Veselina Dinova" userId="5935860719f7b8c5" providerId="LiveId" clId="{4B4E9993-6D55-4F39-B7EE-D860DEB4728B}" dt="2026-09-07T20:19:17.152" v="70" actId="478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01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610591" y="1077234"/>
            <a:ext cx="3225190" cy="705510"/>
            <a:chOff x="0" y="0"/>
            <a:chExt cx="4300254" cy="9406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00220" cy="940689"/>
            </a:xfrm>
            <a:custGeom>
              <a:avLst/>
              <a:gdLst/>
              <a:ahLst/>
              <a:cxnLst/>
              <a:rect l="l" t="t" r="r" b="b"/>
              <a:pathLst>
                <a:path w="4300220" h="940689">
                  <a:moveTo>
                    <a:pt x="0" y="0"/>
                  </a:moveTo>
                  <a:lnTo>
                    <a:pt x="4300220" y="0"/>
                  </a:lnTo>
                  <a:lnTo>
                    <a:pt x="4300220" y="940689"/>
                  </a:lnTo>
                  <a:lnTo>
                    <a:pt x="0" y="940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7681" y="2272453"/>
            <a:ext cx="8018572" cy="3145994"/>
            <a:chOff x="0" y="0"/>
            <a:chExt cx="10691429" cy="41946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91429" cy="4194658"/>
            </a:xfrm>
            <a:custGeom>
              <a:avLst/>
              <a:gdLst/>
              <a:ahLst/>
              <a:cxnLst/>
              <a:rect l="l" t="t" r="r" b="b"/>
              <a:pathLst>
                <a:path w="10691429" h="4194658">
                  <a:moveTo>
                    <a:pt x="0" y="0"/>
                  </a:moveTo>
                  <a:lnTo>
                    <a:pt x="10691429" y="0"/>
                  </a:lnTo>
                  <a:lnTo>
                    <a:pt x="10691429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61925"/>
              <a:ext cx="10691429" cy="4356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6"/>
                </a:lnSpc>
              </a:pPr>
              <a:r>
                <a:rPr lang="en-US" sz="4266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Income Statement - details</a:t>
              </a:r>
            </a:p>
          </p:txBody>
        </p:sp>
      </p:grpSp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Income Statement -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Income statement – purpose and structure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368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33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Profitability over a period: revenue recognized minus the expenses charged against it.</a:t>
            </a:r>
          </a:p>
          <a:p>
            <a:pPr algn="l">
              <a:lnSpc>
                <a:spcPct val="130000"/>
              </a:lnSpc>
            </a:pPr>
            <a:endParaRPr lang="en-US" sz="2333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33" b="1" dirty="0">
                <a:solidFill>
                  <a:srgbClr val="336600"/>
                </a:solidFill>
                <a:latin typeface="Arial Bold"/>
                <a:ea typeface="Arial Bold"/>
                <a:cs typeface="Arial Bold"/>
                <a:sym typeface="Arial Bold"/>
              </a:rPr>
              <a:t>Revenue</a:t>
            </a:r>
            <a:r>
              <a:rPr lang="en-US" sz="2333" dirty="0">
                <a:solidFill>
                  <a:srgbClr val="00BF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33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minus</a:t>
            </a:r>
            <a:r>
              <a:rPr lang="en-US" sz="2333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33" b="1" dirty="0">
                <a:solidFill>
                  <a:srgbClr val="A50021"/>
                </a:solidFill>
                <a:latin typeface="Arial Bold"/>
                <a:cs typeface="Arial Bold"/>
                <a:sym typeface="Arial Bold"/>
              </a:rPr>
              <a:t>Cost of revenue</a:t>
            </a:r>
          </a:p>
          <a:p>
            <a:pPr>
              <a:lnSpc>
                <a:spcPct val="130000"/>
              </a:lnSpc>
            </a:pPr>
            <a:r>
              <a:rPr lang="en-US" sz="2333" b="1" dirty="0">
                <a:solidFill>
                  <a:srgbClr val="336600"/>
                </a:solidFill>
                <a:latin typeface="Arial Bold"/>
                <a:cs typeface="Arial Bold"/>
                <a:sym typeface="Arial Bold"/>
              </a:rPr>
              <a:t>     Gross profit </a:t>
            </a:r>
            <a:r>
              <a:rPr lang="en-US" sz="2333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minus </a:t>
            </a:r>
            <a:r>
              <a:rPr lang="en-US" sz="2333" b="1" dirty="0">
                <a:solidFill>
                  <a:srgbClr val="A50021"/>
                </a:solidFill>
                <a:latin typeface="Arial Bold"/>
                <a:cs typeface="Arial Bold"/>
                <a:sym typeface="Arial Bold"/>
              </a:rPr>
              <a:t>Operating expenses </a:t>
            </a:r>
          </a:p>
          <a:p>
            <a:pPr>
              <a:lnSpc>
                <a:spcPct val="130000"/>
              </a:lnSpc>
            </a:pPr>
            <a:r>
              <a:rPr lang="en-US" sz="2333" b="1" dirty="0">
                <a:solidFill>
                  <a:srgbClr val="336600"/>
                </a:solidFill>
                <a:latin typeface="Arial Bold"/>
                <a:cs typeface="Arial Bold"/>
                <a:sym typeface="Arial Bold"/>
              </a:rPr>
              <a:t>          Operating profit </a:t>
            </a:r>
            <a:r>
              <a:rPr lang="en-US" sz="2333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minus </a:t>
            </a:r>
            <a:r>
              <a:rPr lang="en-US" sz="2333" b="1" dirty="0">
                <a:solidFill>
                  <a:srgbClr val="A50021"/>
                </a:solidFill>
                <a:latin typeface="Arial Bold"/>
                <a:cs typeface="Arial Bold"/>
                <a:sym typeface="Arial Bold"/>
              </a:rPr>
              <a:t>Other expense/income </a:t>
            </a:r>
          </a:p>
          <a:p>
            <a:pPr>
              <a:lnSpc>
                <a:spcPct val="130000"/>
              </a:lnSpc>
            </a:pPr>
            <a:r>
              <a:rPr lang="en-US" sz="2333" b="1" dirty="0">
                <a:solidFill>
                  <a:srgbClr val="336600"/>
                </a:solidFill>
                <a:latin typeface="Arial Bold"/>
                <a:cs typeface="Arial Bold"/>
                <a:sym typeface="Arial Bold"/>
              </a:rPr>
              <a:t>               Pre-tax income </a:t>
            </a:r>
            <a:r>
              <a:rPr lang="en-US" sz="2333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minus </a:t>
            </a:r>
            <a:r>
              <a:rPr lang="en-US" sz="2333" b="1" dirty="0">
                <a:solidFill>
                  <a:srgbClr val="A50021"/>
                </a:solidFill>
                <a:latin typeface="Arial Bold"/>
                <a:cs typeface="Arial Bold"/>
                <a:sym typeface="Arial Bold"/>
              </a:rPr>
              <a:t>Provision income taxes</a:t>
            </a:r>
          </a:p>
          <a:p>
            <a:pPr algn="l">
              <a:lnSpc>
                <a:spcPct val="130000"/>
              </a:lnSpc>
            </a:pPr>
            <a:r>
              <a:rPr lang="en-US" sz="2333" b="1" dirty="0">
                <a:solidFill>
                  <a:srgbClr val="336600"/>
                </a:solidFill>
                <a:latin typeface="Arial Bold"/>
                <a:cs typeface="Arial Bold"/>
                <a:sym typeface="Arial Bold"/>
              </a:rPr>
              <a:t>                    Net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Operating activities at the firm</a:t>
              </a:r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672996" y="1442357"/>
            <a:ext cx="6407608" cy="4430487"/>
            <a:chOff x="0" y="0"/>
            <a:chExt cx="8690096" cy="60086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90102" cy="6008751"/>
            </a:xfrm>
            <a:custGeom>
              <a:avLst/>
              <a:gdLst/>
              <a:ahLst/>
              <a:cxnLst/>
              <a:rect l="l" t="t" r="r" b="b"/>
              <a:pathLst>
                <a:path w="8690102" h="6008751">
                  <a:moveTo>
                    <a:pt x="0" y="0"/>
                  </a:moveTo>
                  <a:lnTo>
                    <a:pt x="8690102" y="0"/>
                  </a:lnTo>
                  <a:lnTo>
                    <a:pt x="8690102" y="6008751"/>
                  </a:lnTo>
                  <a:lnTo>
                    <a:pt x="0" y="6008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12008" y="5994893"/>
            <a:ext cx="6805223" cy="15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lang="en-US" sz="900">
                <a:solidFill>
                  <a:srgbClr val="003057"/>
                </a:solidFill>
                <a:latin typeface="Arial"/>
                <a:ea typeface="Arial"/>
                <a:cs typeface="Arial"/>
                <a:sym typeface="Arial"/>
              </a:rPr>
              <a:t>Source: Financial accounting, Libby, Libby and Hodge, 10ᵗʰ edition, McGraw-Hill Education</a:t>
            </a:r>
          </a:p>
        </p:txBody>
      </p:sp>
      <p:sp>
        <p:nvSpPr>
          <p:cNvPr id="14" name="Title 14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Operating activities at the firm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Cash versus Accrual Accounting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716659"/>
            <a:ext cx="8595360" cy="317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C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 Bold"/>
              </a:rPr>
              <a:t>a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sh accounting principle: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revenues and expenses are recorded at the time of the cash exchange. 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A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 Bold"/>
              </a:rPr>
              <a:t>c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crual accounting principl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 Bold"/>
              </a:rPr>
              <a:t>e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: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revenues and expenses are recorded when earned or incurred. 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US GAAP requires accrual accounting. 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Cash versus Accrual Accounting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Accrual Accounting – Revenue recognition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71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133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Revenue recognized when earned and realized/realizable, not when cash is collected.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00200" y="2478947"/>
            <a:ext cx="7350117" cy="3400076"/>
            <a:chOff x="0" y="0"/>
            <a:chExt cx="9425997" cy="4350102"/>
          </a:xfrm>
        </p:grpSpPr>
        <p:grpSp>
          <p:nvGrpSpPr>
            <p:cNvPr id="13" name="Group 13"/>
            <p:cNvGrpSpPr/>
            <p:nvPr/>
          </p:nvGrpSpPr>
          <p:grpSpPr>
            <a:xfrm>
              <a:off x="478587" y="1048634"/>
              <a:ext cx="2312661" cy="1658073"/>
              <a:chOff x="0" y="0"/>
              <a:chExt cx="2312661" cy="165807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731" y="6731"/>
                <a:ext cx="2298319" cy="1642999"/>
              </a:xfrm>
              <a:custGeom>
                <a:avLst/>
                <a:gdLst/>
                <a:ahLst/>
                <a:cxnLst/>
                <a:rect l="l" t="t" r="r" b="b"/>
                <a:pathLst>
                  <a:path w="2298319" h="1642999">
                    <a:moveTo>
                      <a:pt x="0" y="0"/>
                    </a:moveTo>
                    <a:lnTo>
                      <a:pt x="2298319" y="0"/>
                    </a:lnTo>
                    <a:lnTo>
                      <a:pt x="2298319" y="1314450"/>
                    </a:lnTo>
                    <a:lnTo>
                      <a:pt x="1149096" y="1642999"/>
                    </a:lnTo>
                    <a:lnTo>
                      <a:pt x="0" y="1314450"/>
                    </a:lnTo>
                    <a:close/>
                  </a:path>
                </a:pathLst>
              </a:custGeom>
              <a:solidFill>
                <a:srgbClr val="FAD38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0" y="0"/>
                <a:ext cx="2311781" cy="1656588"/>
              </a:xfrm>
              <a:custGeom>
                <a:avLst/>
                <a:gdLst/>
                <a:ahLst/>
                <a:cxnLst/>
                <a:rect l="l" t="t" r="r" b="b"/>
                <a:pathLst>
                  <a:path w="2311781" h="1656588">
                    <a:moveTo>
                      <a:pt x="6731" y="0"/>
                    </a:moveTo>
                    <a:lnTo>
                      <a:pt x="2305050" y="0"/>
                    </a:lnTo>
                    <a:cubicBezTo>
                      <a:pt x="2308733" y="0"/>
                      <a:pt x="2311781" y="3048"/>
                      <a:pt x="2311781" y="6731"/>
                    </a:cubicBezTo>
                    <a:lnTo>
                      <a:pt x="2311781" y="1321181"/>
                    </a:lnTo>
                    <a:cubicBezTo>
                      <a:pt x="2311781" y="1324229"/>
                      <a:pt x="2309749" y="1326896"/>
                      <a:pt x="2306828" y="1327658"/>
                    </a:cubicBezTo>
                    <a:lnTo>
                      <a:pt x="1157732" y="1656207"/>
                    </a:lnTo>
                    <a:cubicBezTo>
                      <a:pt x="1156462" y="1656588"/>
                      <a:pt x="1155192" y="1656588"/>
                      <a:pt x="1154049" y="1656207"/>
                    </a:cubicBezTo>
                    <a:lnTo>
                      <a:pt x="4953" y="1327658"/>
                    </a:lnTo>
                    <a:cubicBezTo>
                      <a:pt x="2032" y="1326769"/>
                      <a:pt x="0" y="1324229"/>
                      <a:pt x="0" y="1321181"/>
                    </a:cubicBezTo>
                    <a:lnTo>
                      <a:pt x="0" y="6731"/>
                    </a:lnTo>
                    <a:cubicBezTo>
                      <a:pt x="0" y="3048"/>
                      <a:pt x="3048" y="0"/>
                      <a:pt x="6731" y="0"/>
                    </a:cubicBezTo>
                    <a:moveTo>
                      <a:pt x="6731" y="13589"/>
                    </a:moveTo>
                    <a:lnTo>
                      <a:pt x="6731" y="6731"/>
                    </a:lnTo>
                    <a:lnTo>
                      <a:pt x="13462" y="6731"/>
                    </a:lnTo>
                    <a:lnTo>
                      <a:pt x="13462" y="1321181"/>
                    </a:lnTo>
                    <a:lnTo>
                      <a:pt x="6731" y="1321181"/>
                    </a:lnTo>
                    <a:lnTo>
                      <a:pt x="8636" y="1314704"/>
                    </a:lnTo>
                    <a:lnTo>
                      <a:pt x="1157732" y="1643253"/>
                    </a:lnTo>
                    <a:lnTo>
                      <a:pt x="1155827" y="1649730"/>
                    </a:lnTo>
                    <a:lnTo>
                      <a:pt x="1153922" y="1643253"/>
                    </a:lnTo>
                    <a:lnTo>
                      <a:pt x="2303018" y="1314704"/>
                    </a:lnTo>
                    <a:lnTo>
                      <a:pt x="2304923" y="1321181"/>
                    </a:lnTo>
                    <a:lnTo>
                      <a:pt x="2298192" y="1321181"/>
                    </a:lnTo>
                    <a:lnTo>
                      <a:pt x="2298192" y="6731"/>
                    </a:lnTo>
                    <a:lnTo>
                      <a:pt x="2304923" y="6731"/>
                    </a:lnTo>
                    <a:lnTo>
                      <a:pt x="2304923" y="13462"/>
                    </a:lnTo>
                    <a:lnTo>
                      <a:pt x="6731" y="13462"/>
                    </a:lnTo>
                    <a:close/>
                  </a:path>
                </a:pathLst>
              </a:custGeom>
              <a:solidFill>
                <a:srgbClr val="FAD38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85804" y="1036631"/>
              <a:ext cx="2279541" cy="1236343"/>
              <a:chOff x="0" y="0"/>
              <a:chExt cx="2279541" cy="123634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-1524" y="-1524"/>
                <a:ext cx="2282571" cy="1239393"/>
              </a:xfrm>
              <a:custGeom>
                <a:avLst/>
                <a:gdLst/>
                <a:ahLst/>
                <a:cxnLst/>
                <a:rect l="l" t="t" r="r" b="b"/>
                <a:pathLst>
                  <a:path w="2282571" h="1239393">
                    <a:moveTo>
                      <a:pt x="1524" y="0"/>
                    </a:moveTo>
                    <a:lnTo>
                      <a:pt x="2281047" y="0"/>
                    </a:lnTo>
                    <a:cubicBezTo>
                      <a:pt x="2281936" y="0"/>
                      <a:pt x="2282571" y="762"/>
                      <a:pt x="2282571" y="1524"/>
                    </a:cubicBezTo>
                    <a:lnTo>
                      <a:pt x="2282571" y="1237869"/>
                    </a:lnTo>
                    <a:cubicBezTo>
                      <a:pt x="2282571" y="1238758"/>
                      <a:pt x="2281809" y="1239393"/>
                      <a:pt x="2281047" y="1239393"/>
                    </a:cubicBezTo>
                    <a:lnTo>
                      <a:pt x="1524" y="1239393"/>
                    </a:lnTo>
                    <a:cubicBezTo>
                      <a:pt x="635" y="1239393"/>
                      <a:pt x="0" y="1238631"/>
                      <a:pt x="0" y="1237869"/>
                    </a:cubicBezTo>
                    <a:lnTo>
                      <a:pt x="0" y="1524"/>
                    </a:lnTo>
                    <a:cubicBezTo>
                      <a:pt x="0" y="635"/>
                      <a:pt x="762" y="0"/>
                      <a:pt x="1524" y="0"/>
                    </a:cubicBezTo>
                    <a:moveTo>
                      <a:pt x="1524" y="3048"/>
                    </a:moveTo>
                    <a:lnTo>
                      <a:pt x="1524" y="1524"/>
                    </a:lnTo>
                    <a:lnTo>
                      <a:pt x="3048" y="1524"/>
                    </a:lnTo>
                    <a:lnTo>
                      <a:pt x="3048" y="1237869"/>
                    </a:lnTo>
                    <a:lnTo>
                      <a:pt x="1524" y="1237869"/>
                    </a:lnTo>
                    <a:lnTo>
                      <a:pt x="1524" y="1236345"/>
                    </a:lnTo>
                    <a:lnTo>
                      <a:pt x="2281047" y="1236345"/>
                    </a:lnTo>
                    <a:lnTo>
                      <a:pt x="2281047" y="1237869"/>
                    </a:lnTo>
                    <a:lnTo>
                      <a:pt x="2279523" y="1237869"/>
                    </a:lnTo>
                    <a:lnTo>
                      <a:pt x="2279523" y="1524"/>
                    </a:lnTo>
                    <a:lnTo>
                      <a:pt x="2281047" y="1524"/>
                    </a:lnTo>
                    <a:lnTo>
                      <a:pt x="2281047" y="3048"/>
                    </a:lnTo>
                    <a:lnTo>
                      <a:pt x="1524" y="3048"/>
                    </a:lnTo>
                    <a:close/>
                  </a:path>
                </a:pathLst>
              </a:custGeom>
              <a:solidFill>
                <a:srgbClr val="FAD38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2279541" cy="1264918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ctr">
                  <a:lnSpc>
                    <a:spcPts val="1791"/>
                  </a:lnSpc>
                </a:pPr>
                <a:r>
                  <a:rPr lang="en-US" sz="1493" b="1">
                    <a:solidFill>
                      <a:srgbClr val="FF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1</a:t>
                </a:r>
              </a:p>
              <a:p>
                <a:pPr algn="ctr">
                  <a:lnSpc>
                    <a:spcPts val="1612"/>
                  </a:lnSpc>
                </a:pPr>
                <a:r>
                  <a:rPr lang="en-US" sz="1493">
                    <a:solidFill>
                      <a:srgbClr val="003057"/>
                    </a:solidFill>
                    <a:latin typeface="Arial"/>
                    <a:ea typeface="Arial"/>
                    <a:cs typeface="Arial"/>
                    <a:sym typeface="Arial"/>
                  </a:rPr>
                  <a:t>before product/service delivery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082506" y="1048634"/>
              <a:ext cx="2312661" cy="1658073"/>
              <a:chOff x="0" y="0"/>
              <a:chExt cx="2312661" cy="165807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731" y="6731"/>
                <a:ext cx="2298319" cy="1642999"/>
              </a:xfrm>
              <a:custGeom>
                <a:avLst/>
                <a:gdLst/>
                <a:ahLst/>
                <a:cxnLst/>
                <a:rect l="l" t="t" r="r" b="b"/>
                <a:pathLst>
                  <a:path w="2298319" h="1642999">
                    <a:moveTo>
                      <a:pt x="0" y="0"/>
                    </a:moveTo>
                    <a:lnTo>
                      <a:pt x="2298319" y="0"/>
                    </a:lnTo>
                    <a:lnTo>
                      <a:pt x="2298319" y="1314450"/>
                    </a:lnTo>
                    <a:lnTo>
                      <a:pt x="1149096" y="1642999"/>
                    </a:lnTo>
                    <a:lnTo>
                      <a:pt x="0" y="1314450"/>
                    </a:lnTo>
                    <a:close/>
                  </a:path>
                </a:pathLst>
              </a:custGeom>
              <a:solidFill>
                <a:srgbClr val="83B4A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0" y="0"/>
                <a:ext cx="2311781" cy="1656588"/>
              </a:xfrm>
              <a:custGeom>
                <a:avLst/>
                <a:gdLst/>
                <a:ahLst/>
                <a:cxnLst/>
                <a:rect l="l" t="t" r="r" b="b"/>
                <a:pathLst>
                  <a:path w="2311781" h="1656588">
                    <a:moveTo>
                      <a:pt x="6731" y="0"/>
                    </a:moveTo>
                    <a:lnTo>
                      <a:pt x="2305050" y="0"/>
                    </a:lnTo>
                    <a:cubicBezTo>
                      <a:pt x="2308733" y="0"/>
                      <a:pt x="2311781" y="3048"/>
                      <a:pt x="2311781" y="6731"/>
                    </a:cubicBezTo>
                    <a:lnTo>
                      <a:pt x="2311781" y="1321181"/>
                    </a:lnTo>
                    <a:cubicBezTo>
                      <a:pt x="2311781" y="1324229"/>
                      <a:pt x="2309749" y="1326896"/>
                      <a:pt x="2306828" y="1327658"/>
                    </a:cubicBezTo>
                    <a:lnTo>
                      <a:pt x="1157732" y="1656207"/>
                    </a:lnTo>
                    <a:cubicBezTo>
                      <a:pt x="1156462" y="1656588"/>
                      <a:pt x="1155192" y="1656588"/>
                      <a:pt x="1154049" y="1656207"/>
                    </a:cubicBezTo>
                    <a:lnTo>
                      <a:pt x="4953" y="1327658"/>
                    </a:lnTo>
                    <a:cubicBezTo>
                      <a:pt x="2032" y="1326769"/>
                      <a:pt x="0" y="1324229"/>
                      <a:pt x="0" y="1321181"/>
                    </a:cubicBezTo>
                    <a:lnTo>
                      <a:pt x="0" y="6731"/>
                    </a:lnTo>
                    <a:cubicBezTo>
                      <a:pt x="0" y="3048"/>
                      <a:pt x="3048" y="0"/>
                      <a:pt x="6731" y="0"/>
                    </a:cubicBezTo>
                    <a:moveTo>
                      <a:pt x="6731" y="13589"/>
                    </a:moveTo>
                    <a:lnTo>
                      <a:pt x="6731" y="6731"/>
                    </a:lnTo>
                    <a:lnTo>
                      <a:pt x="13462" y="6731"/>
                    </a:lnTo>
                    <a:lnTo>
                      <a:pt x="13462" y="1321181"/>
                    </a:lnTo>
                    <a:lnTo>
                      <a:pt x="6731" y="1321181"/>
                    </a:lnTo>
                    <a:lnTo>
                      <a:pt x="8636" y="1314704"/>
                    </a:lnTo>
                    <a:lnTo>
                      <a:pt x="1157732" y="1643253"/>
                    </a:lnTo>
                    <a:lnTo>
                      <a:pt x="1155827" y="1649730"/>
                    </a:lnTo>
                    <a:lnTo>
                      <a:pt x="1153922" y="1643253"/>
                    </a:lnTo>
                    <a:lnTo>
                      <a:pt x="2303018" y="1314704"/>
                    </a:lnTo>
                    <a:lnTo>
                      <a:pt x="2304923" y="1321181"/>
                    </a:lnTo>
                    <a:lnTo>
                      <a:pt x="2298192" y="1321181"/>
                    </a:lnTo>
                    <a:lnTo>
                      <a:pt x="2298192" y="6731"/>
                    </a:lnTo>
                    <a:lnTo>
                      <a:pt x="2304923" y="6731"/>
                    </a:lnTo>
                    <a:lnTo>
                      <a:pt x="2304923" y="13462"/>
                    </a:lnTo>
                    <a:lnTo>
                      <a:pt x="6731" y="13462"/>
                    </a:lnTo>
                    <a:close/>
                  </a:path>
                </a:pathLst>
              </a:custGeom>
              <a:solidFill>
                <a:srgbClr val="83B4A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211643" y="1069016"/>
              <a:ext cx="2035701" cy="1142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1"/>
                </a:lnSpc>
              </a:pPr>
              <a:r>
                <a:rPr lang="en-US" sz="1493" b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  <a:p>
              <a:pPr algn="ctr">
                <a:lnSpc>
                  <a:spcPts val="1612"/>
                </a:lnSpc>
              </a:pPr>
              <a:r>
                <a:rPr lang="en-US" sz="1493">
                  <a:solidFill>
                    <a:srgbClr val="003057"/>
                  </a:solidFill>
                  <a:latin typeface="Arial"/>
                  <a:ea typeface="Arial"/>
                  <a:cs typeface="Arial"/>
                  <a:sym typeface="Arial"/>
                </a:rPr>
                <a:t>when product/service</a:t>
              </a:r>
            </a:p>
            <a:p>
              <a:pPr algn="ctr">
                <a:lnSpc>
                  <a:spcPts val="1612"/>
                </a:lnSpc>
              </a:pPr>
              <a:r>
                <a:rPr lang="en-US" sz="1493">
                  <a:solidFill>
                    <a:srgbClr val="003057"/>
                  </a:solidFill>
                  <a:latin typeface="Arial"/>
                  <a:ea typeface="Arial"/>
                  <a:cs typeface="Arial"/>
                  <a:sym typeface="Arial"/>
                </a:rPr>
                <a:t>is delivered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654265" y="1036138"/>
              <a:ext cx="2312661" cy="1658073"/>
              <a:chOff x="0" y="0"/>
              <a:chExt cx="2312661" cy="165807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731" y="6731"/>
                <a:ext cx="2298319" cy="1642999"/>
              </a:xfrm>
              <a:custGeom>
                <a:avLst/>
                <a:gdLst/>
                <a:ahLst/>
                <a:cxnLst/>
                <a:rect l="l" t="t" r="r" b="b"/>
                <a:pathLst>
                  <a:path w="2298319" h="1642999">
                    <a:moveTo>
                      <a:pt x="0" y="0"/>
                    </a:moveTo>
                    <a:lnTo>
                      <a:pt x="2298319" y="0"/>
                    </a:lnTo>
                    <a:lnTo>
                      <a:pt x="2298319" y="1314450"/>
                    </a:lnTo>
                    <a:lnTo>
                      <a:pt x="1149096" y="1642999"/>
                    </a:lnTo>
                    <a:lnTo>
                      <a:pt x="0" y="1314450"/>
                    </a:lnTo>
                    <a:close/>
                  </a:path>
                </a:pathLst>
              </a:custGeom>
              <a:solidFill>
                <a:srgbClr val="EFC0B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0" y="0"/>
                <a:ext cx="2311781" cy="1656588"/>
              </a:xfrm>
              <a:custGeom>
                <a:avLst/>
                <a:gdLst/>
                <a:ahLst/>
                <a:cxnLst/>
                <a:rect l="l" t="t" r="r" b="b"/>
                <a:pathLst>
                  <a:path w="2311781" h="1656588">
                    <a:moveTo>
                      <a:pt x="6731" y="0"/>
                    </a:moveTo>
                    <a:lnTo>
                      <a:pt x="2305050" y="0"/>
                    </a:lnTo>
                    <a:cubicBezTo>
                      <a:pt x="2308733" y="0"/>
                      <a:pt x="2311781" y="3048"/>
                      <a:pt x="2311781" y="6731"/>
                    </a:cubicBezTo>
                    <a:lnTo>
                      <a:pt x="2311781" y="1321181"/>
                    </a:lnTo>
                    <a:cubicBezTo>
                      <a:pt x="2311781" y="1324229"/>
                      <a:pt x="2309749" y="1326896"/>
                      <a:pt x="2306828" y="1327658"/>
                    </a:cubicBezTo>
                    <a:lnTo>
                      <a:pt x="1157732" y="1656207"/>
                    </a:lnTo>
                    <a:cubicBezTo>
                      <a:pt x="1156462" y="1656588"/>
                      <a:pt x="1155192" y="1656588"/>
                      <a:pt x="1154049" y="1656207"/>
                    </a:cubicBezTo>
                    <a:lnTo>
                      <a:pt x="4953" y="1327658"/>
                    </a:lnTo>
                    <a:cubicBezTo>
                      <a:pt x="2032" y="1326769"/>
                      <a:pt x="0" y="1324229"/>
                      <a:pt x="0" y="1321181"/>
                    </a:cubicBezTo>
                    <a:lnTo>
                      <a:pt x="0" y="6731"/>
                    </a:lnTo>
                    <a:cubicBezTo>
                      <a:pt x="0" y="3048"/>
                      <a:pt x="3048" y="0"/>
                      <a:pt x="6731" y="0"/>
                    </a:cubicBezTo>
                    <a:moveTo>
                      <a:pt x="6731" y="13589"/>
                    </a:moveTo>
                    <a:lnTo>
                      <a:pt x="6731" y="6731"/>
                    </a:lnTo>
                    <a:lnTo>
                      <a:pt x="13462" y="6731"/>
                    </a:lnTo>
                    <a:lnTo>
                      <a:pt x="13462" y="1321181"/>
                    </a:lnTo>
                    <a:lnTo>
                      <a:pt x="6731" y="1321181"/>
                    </a:lnTo>
                    <a:lnTo>
                      <a:pt x="8636" y="1314704"/>
                    </a:lnTo>
                    <a:lnTo>
                      <a:pt x="1157732" y="1643253"/>
                    </a:lnTo>
                    <a:lnTo>
                      <a:pt x="1155827" y="1649730"/>
                    </a:lnTo>
                    <a:lnTo>
                      <a:pt x="1153922" y="1643253"/>
                    </a:lnTo>
                    <a:lnTo>
                      <a:pt x="2303018" y="1314704"/>
                    </a:lnTo>
                    <a:lnTo>
                      <a:pt x="2304923" y="1321181"/>
                    </a:lnTo>
                    <a:lnTo>
                      <a:pt x="2298192" y="1321181"/>
                    </a:lnTo>
                    <a:lnTo>
                      <a:pt x="2298192" y="6731"/>
                    </a:lnTo>
                    <a:lnTo>
                      <a:pt x="2304923" y="6731"/>
                    </a:lnTo>
                    <a:lnTo>
                      <a:pt x="2304923" y="13462"/>
                    </a:lnTo>
                    <a:lnTo>
                      <a:pt x="6731" y="13462"/>
                    </a:lnTo>
                    <a:close/>
                  </a:path>
                </a:pathLst>
              </a:custGeom>
              <a:solidFill>
                <a:srgbClr val="EFC0B2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661483" y="1024134"/>
              <a:ext cx="2279541" cy="1236343"/>
              <a:chOff x="0" y="0"/>
              <a:chExt cx="2279541" cy="123634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-1524" y="-1524"/>
                <a:ext cx="2282571" cy="1239393"/>
              </a:xfrm>
              <a:custGeom>
                <a:avLst/>
                <a:gdLst/>
                <a:ahLst/>
                <a:cxnLst/>
                <a:rect l="l" t="t" r="r" b="b"/>
                <a:pathLst>
                  <a:path w="2282571" h="1239393">
                    <a:moveTo>
                      <a:pt x="1524" y="0"/>
                    </a:moveTo>
                    <a:lnTo>
                      <a:pt x="2281047" y="0"/>
                    </a:lnTo>
                    <a:cubicBezTo>
                      <a:pt x="2281936" y="0"/>
                      <a:pt x="2282571" y="762"/>
                      <a:pt x="2282571" y="1524"/>
                    </a:cubicBezTo>
                    <a:lnTo>
                      <a:pt x="2282571" y="1237869"/>
                    </a:lnTo>
                    <a:cubicBezTo>
                      <a:pt x="2282571" y="1238758"/>
                      <a:pt x="2281809" y="1239393"/>
                      <a:pt x="2281047" y="1239393"/>
                    </a:cubicBezTo>
                    <a:lnTo>
                      <a:pt x="1524" y="1239393"/>
                    </a:lnTo>
                    <a:cubicBezTo>
                      <a:pt x="635" y="1239393"/>
                      <a:pt x="0" y="1238631"/>
                      <a:pt x="0" y="1237869"/>
                    </a:cubicBezTo>
                    <a:lnTo>
                      <a:pt x="0" y="1524"/>
                    </a:lnTo>
                    <a:cubicBezTo>
                      <a:pt x="0" y="635"/>
                      <a:pt x="762" y="0"/>
                      <a:pt x="1524" y="0"/>
                    </a:cubicBezTo>
                    <a:moveTo>
                      <a:pt x="1524" y="3048"/>
                    </a:moveTo>
                    <a:lnTo>
                      <a:pt x="1524" y="1524"/>
                    </a:lnTo>
                    <a:lnTo>
                      <a:pt x="3048" y="1524"/>
                    </a:lnTo>
                    <a:lnTo>
                      <a:pt x="3048" y="1237869"/>
                    </a:lnTo>
                    <a:lnTo>
                      <a:pt x="1524" y="1237869"/>
                    </a:lnTo>
                    <a:lnTo>
                      <a:pt x="1524" y="1236345"/>
                    </a:lnTo>
                    <a:lnTo>
                      <a:pt x="2281047" y="1236345"/>
                    </a:lnTo>
                    <a:lnTo>
                      <a:pt x="2281047" y="1237869"/>
                    </a:lnTo>
                    <a:lnTo>
                      <a:pt x="2279523" y="1237869"/>
                    </a:lnTo>
                    <a:lnTo>
                      <a:pt x="2279523" y="1524"/>
                    </a:lnTo>
                    <a:lnTo>
                      <a:pt x="2281047" y="1524"/>
                    </a:lnTo>
                    <a:lnTo>
                      <a:pt x="2281047" y="3048"/>
                    </a:lnTo>
                    <a:lnTo>
                      <a:pt x="1524" y="3048"/>
                    </a:lnTo>
                    <a:close/>
                  </a:path>
                </a:pathLst>
              </a:custGeom>
              <a:solidFill>
                <a:srgbClr val="EFC0B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28575"/>
                <a:ext cx="2279541" cy="1264918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ctr">
                  <a:lnSpc>
                    <a:spcPts val="1791"/>
                  </a:lnSpc>
                </a:pPr>
                <a:r>
                  <a:rPr lang="en-US" sz="1493" b="1">
                    <a:solidFill>
                      <a:srgbClr val="FF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3</a:t>
                </a:r>
              </a:p>
              <a:p>
                <a:pPr algn="ctr">
                  <a:lnSpc>
                    <a:spcPts val="1612"/>
                  </a:lnSpc>
                </a:pPr>
                <a:r>
                  <a:rPr lang="en-US" sz="1493">
                    <a:solidFill>
                      <a:srgbClr val="003057"/>
                    </a:solidFill>
                    <a:latin typeface="Arial"/>
                    <a:ea typeface="Arial"/>
                    <a:cs typeface="Arial"/>
                    <a:sym typeface="Arial"/>
                  </a:rPr>
                  <a:t>after product/service delivery</a:t>
                </a: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467119" y="0"/>
              <a:ext cx="7511275" cy="1036631"/>
            </a:xfrm>
            <a:custGeom>
              <a:avLst/>
              <a:gdLst/>
              <a:ahLst/>
              <a:cxnLst/>
              <a:rect l="l" t="t" r="r" b="b"/>
              <a:pathLst>
                <a:path w="7511275" h="1036631">
                  <a:moveTo>
                    <a:pt x="0" y="0"/>
                  </a:moveTo>
                  <a:lnTo>
                    <a:pt x="7511275" y="0"/>
                  </a:lnTo>
                  <a:lnTo>
                    <a:pt x="7511275" y="1036631"/>
                  </a:lnTo>
                  <a:lnTo>
                    <a:pt x="0" y="1036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941" y="267094"/>
              <a:ext cx="6309923" cy="394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1"/>
                </a:lnSpc>
              </a:pPr>
              <a:r>
                <a:rPr lang="en-US" sz="1493">
                  <a:solidFill>
                    <a:srgbClr val="003057"/>
                  </a:solidFill>
                  <a:latin typeface="Arial"/>
                  <a:ea typeface="Arial"/>
                  <a:cs typeface="Arial"/>
                  <a:sym typeface="Arial"/>
                </a:rPr>
                <a:t>Cash may be received . . . 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2557779"/>
              <a:ext cx="8669730" cy="892656"/>
              <a:chOff x="0" y="0"/>
              <a:chExt cx="8669730" cy="89265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669655" cy="892556"/>
              </a:xfrm>
              <a:custGeom>
                <a:avLst/>
                <a:gdLst/>
                <a:ahLst/>
                <a:cxnLst/>
                <a:rect l="l" t="t" r="r" b="b"/>
                <a:pathLst>
                  <a:path w="8669655" h="892556">
                    <a:moveTo>
                      <a:pt x="0" y="223139"/>
                    </a:moveTo>
                    <a:lnTo>
                      <a:pt x="8223377" y="223139"/>
                    </a:lnTo>
                    <a:lnTo>
                      <a:pt x="8223377" y="0"/>
                    </a:lnTo>
                    <a:lnTo>
                      <a:pt x="8669655" y="446278"/>
                    </a:lnTo>
                    <a:lnTo>
                      <a:pt x="8223377" y="892556"/>
                    </a:lnTo>
                    <a:lnTo>
                      <a:pt x="8223377" y="669544"/>
                    </a:lnTo>
                    <a:lnTo>
                      <a:pt x="0" y="669544"/>
                    </a:lnTo>
                    <a:close/>
                  </a:path>
                </a:pathLst>
              </a:custGeom>
              <a:solidFill>
                <a:srgbClr val="D8623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7759403" y="2827508"/>
              <a:ext cx="1666594" cy="334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1"/>
                </a:lnSpc>
              </a:pPr>
              <a:r>
                <a:rPr lang="en-US" sz="1493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2328379" y="2769833"/>
              <a:ext cx="3844810" cy="1580269"/>
              <a:chOff x="0" y="0"/>
              <a:chExt cx="3844810" cy="158026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31" y="6731"/>
                <a:ext cx="3830447" cy="1565275"/>
              </a:xfrm>
              <a:custGeom>
                <a:avLst/>
                <a:gdLst/>
                <a:ahLst/>
                <a:cxnLst/>
                <a:rect l="l" t="t" r="r" b="b"/>
                <a:pathLst>
                  <a:path w="3830447" h="1565275">
                    <a:moveTo>
                      <a:pt x="0" y="704723"/>
                    </a:moveTo>
                    <a:lnTo>
                      <a:pt x="825754" y="704723"/>
                    </a:lnTo>
                    <a:lnTo>
                      <a:pt x="825754" y="391287"/>
                    </a:lnTo>
                    <a:lnTo>
                      <a:pt x="468503" y="391287"/>
                    </a:lnTo>
                    <a:lnTo>
                      <a:pt x="1915287" y="0"/>
                    </a:lnTo>
                    <a:lnTo>
                      <a:pt x="3361944" y="391287"/>
                    </a:lnTo>
                    <a:lnTo>
                      <a:pt x="3004693" y="391287"/>
                    </a:lnTo>
                    <a:lnTo>
                      <a:pt x="3004693" y="704723"/>
                    </a:lnTo>
                    <a:lnTo>
                      <a:pt x="3830447" y="704723"/>
                    </a:lnTo>
                    <a:lnTo>
                      <a:pt x="3830447" y="1565275"/>
                    </a:lnTo>
                    <a:lnTo>
                      <a:pt x="0" y="1565275"/>
                    </a:lnTo>
                    <a:close/>
                  </a:path>
                </a:pathLst>
              </a:custGeom>
              <a:solidFill>
                <a:srgbClr val="F3B43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0" y="0"/>
                <a:ext cx="3843909" cy="1578737"/>
              </a:xfrm>
              <a:custGeom>
                <a:avLst/>
                <a:gdLst/>
                <a:ahLst/>
                <a:cxnLst/>
                <a:rect l="l" t="t" r="r" b="b"/>
                <a:pathLst>
                  <a:path w="3843909" h="1578737">
                    <a:moveTo>
                      <a:pt x="6731" y="704596"/>
                    </a:moveTo>
                    <a:lnTo>
                      <a:pt x="832485" y="704596"/>
                    </a:lnTo>
                    <a:lnTo>
                      <a:pt x="832485" y="711327"/>
                    </a:lnTo>
                    <a:lnTo>
                      <a:pt x="825754" y="711327"/>
                    </a:lnTo>
                    <a:lnTo>
                      <a:pt x="825754" y="398018"/>
                    </a:lnTo>
                    <a:lnTo>
                      <a:pt x="832485" y="398018"/>
                    </a:lnTo>
                    <a:lnTo>
                      <a:pt x="832485" y="404749"/>
                    </a:lnTo>
                    <a:lnTo>
                      <a:pt x="475234" y="404749"/>
                    </a:lnTo>
                    <a:cubicBezTo>
                      <a:pt x="471805" y="404749"/>
                      <a:pt x="469011" y="402209"/>
                      <a:pt x="468503" y="398907"/>
                    </a:cubicBezTo>
                    <a:cubicBezTo>
                      <a:pt x="467995" y="395605"/>
                      <a:pt x="470154" y="392303"/>
                      <a:pt x="473456" y="391414"/>
                    </a:cubicBezTo>
                    <a:lnTo>
                      <a:pt x="1920240" y="254"/>
                    </a:lnTo>
                    <a:cubicBezTo>
                      <a:pt x="1921383" y="0"/>
                      <a:pt x="1922653" y="0"/>
                      <a:pt x="1923796" y="254"/>
                    </a:cubicBezTo>
                    <a:lnTo>
                      <a:pt x="3370453" y="391541"/>
                    </a:lnTo>
                    <a:cubicBezTo>
                      <a:pt x="3373755" y="392430"/>
                      <a:pt x="3375787" y="395605"/>
                      <a:pt x="3375406" y="399034"/>
                    </a:cubicBezTo>
                    <a:cubicBezTo>
                      <a:pt x="3375025" y="402463"/>
                      <a:pt x="3372104" y="404876"/>
                      <a:pt x="3368675" y="404876"/>
                    </a:cubicBezTo>
                    <a:lnTo>
                      <a:pt x="3011424" y="404876"/>
                    </a:lnTo>
                    <a:lnTo>
                      <a:pt x="3011424" y="398145"/>
                    </a:lnTo>
                    <a:lnTo>
                      <a:pt x="3018155" y="398145"/>
                    </a:lnTo>
                    <a:lnTo>
                      <a:pt x="3018155" y="711454"/>
                    </a:lnTo>
                    <a:lnTo>
                      <a:pt x="3011424" y="711454"/>
                    </a:lnTo>
                    <a:lnTo>
                      <a:pt x="3011424" y="704723"/>
                    </a:lnTo>
                    <a:lnTo>
                      <a:pt x="3837178" y="704723"/>
                    </a:lnTo>
                    <a:cubicBezTo>
                      <a:pt x="3840861" y="704723"/>
                      <a:pt x="3843909" y="707771"/>
                      <a:pt x="3843909" y="711454"/>
                    </a:cubicBezTo>
                    <a:lnTo>
                      <a:pt x="3843909" y="1572006"/>
                    </a:lnTo>
                    <a:cubicBezTo>
                      <a:pt x="3843909" y="1575689"/>
                      <a:pt x="3840861" y="1578737"/>
                      <a:pt x="3837178" y="1578737"/>
                    </a:cubicBezTo>
                    <a:lnTo>
                      <a:pt x="6731" y="1578737"/>
                    </a:lnTo>
                    <a:cubicBezTo>
                      <a:pt x="3048" y="1578737"/>
                      <a:pt x="0" y="1575689"/>
                      <a:pt x="0" y="1572006"/>
                    </a:cubicBezTo>
                    <a:lnTo>
                      <a:pt x="0" y="711454"/>
                    </a:lnTo>
                    <a:cubicBezTo>
                      <a:pt x="0" y="707771"/>
                      <a:pt x="3048" y="704723"/>
                      <a:pt x="6731" y="704723"/>
                    </a:cubicBezTo>
                    <a:moveTo>
                      <a:pt x="6731" y="718312"/>
                    </a:moveTo>
                    <a:lnTo>
                      <a:pt x="6731" y="711581"/>
                    </a:lnTo>
                    <a:lnTo>
                      <a:pt x="13462" y="711581"/>
                    </a:lnTo>
                    <a:lnTo>
                      <a:pt x="13462" y="1572133"/>
                    </a:lnTo>
                    <a:lnTo>
                      <a:pt x="6731" y="1572133"/>
                    </a:lnTo>
                    <a:lnTo>
                      <a:pt x="6731" y="1565402"/>
                    </a:lnTo>
                    <a:lnTo>
                      <a:pt x="3837051" y="1565402"/>
                    </a:lnTo>
                    <a:lnTo>
                      <a:pt x="3837051" y="1572133"/>
                    </a:lnTo>
                    <a:lnTo>
                      <a:pt x="3830320" y="1572133"/>
                    </a:lnTo>
                    <a:lnTo>
                      <a:pt x="3830320" y="711454"/>
                    </a:lnTo>
                    <a:lnTo>
                      <a:pt x="3837051" y="711454"/>
                    </a:lnTo>
                    <a:lnTo>
                      <a:pt x="3837051" y="718185"/>
                    </a:lnTo>
                    <a:lnTo>
                      <a:pt x="3011424" y="718185"/>
                    </a:lnTo>
                    <a:cubicBezTo>
                      <a:pt x="3007741" y="718185"/>
                      <a:pt x="3004693" y="715137"/>
                      <a:pt x="3004693" y="711454"/>
                    </a:cubicBezTo>
                    <a:lnTo>
                      <a:pt x="3004693" y="398018"/>
                    </a:lnTo>
                    <a:cubicBezTo>
                      <a:pt x="3004693" y="394335"/>
                      <a:pt x="3007741" y="391287"/>
                      <a:pt x="3011424" y="391287"/>
                    </a:cubicBezTo>
                    <a:lnTo>
                      <a:pt x="3368675" y="391287"/>
                    </a:lnTo>
                    <a:lnTo>
                      <a:pt x="3368675" y="398018"/>
                    </a:lnTo>
                    <a:lnTo>
                      <a:pt x="3366897" y="404495"/>
                    </a:lnTo>
                    <a:lnTo>
                      <a:pt x="1920240" y="13335"/>
                    </a:lnTo>
                    <a:lnTo>
                      <a:pt x="1922018" y="6858"/>
                    </a:lnTo>
                    <a:lnTo>
                      <a:pt x="1923796" y="13335"/>
                    </a:lnTo>
                    <a:lnTo>
                      <a:pt x="477012" y="404622"/>
                    </a:lnTo>
                    <a:lnTo>
                      <a:pt x="475234" y="398145"/>
                    </a:lnTo>
                    <a:lnTo>
                      <a:pt x="475234" y="391414"/>
                    </a:lnTo>
                    <a:lnTo>
                      <a:pt x="832485" y="391414"/>
                    </a:lnTo>
                    <a:cubicBezTo>
                      <a:pt x="836168" y="391414"/>
                      <a:pt x="839216" y="394462"/>
                      <a:pt x="839216" y="398145"/>
                    </a:cubicBezTo>
                    <a:lnTo>
                      <a:pt x="839216" y="711454"/>
                    </a:lnTo>
                    <a:cubicBezTo>
                      <a:pt x="839216" y="715137"/>
                      <a:pt x="836168" y="718185"/>
                      <a:pt x="832485" y="718185"/>
                    </a:cubicBezTo>
                    <a:lnTo>
                      <a:pt x="6731" y="718185"/>
                    </a:lnTo>
                    <a:close/>
                  </a:path>
                </a:pathLst>
              </a:custGeom>
              <a:solidFill>
                <a:srgbClr val="003057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713321" y="3052947"/>
              <a:ext cx="1923592" cy="394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1"/>
                </a:lnSpc>
              </a:pPr>
              <a:r>
                <a:rPr lang="en-US" sz="1493" b="1">
                  <a:solidFill>
                    <a:srgbClr val="CE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DELIVERY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5722" y="3638866"/>
              <a:ext cx="3623906" cy="394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1"/>
                </a:lnSpc>
              </a:pPr>
              <a:r>
                <a:rPr lang="en-US" sz="1493">
                  <a:solidFill>
                    <a:srgbClr val="003057"/>
                  </a:solidFill>
                  <a:latin typeface="Arial"/>
                  <a:ea typeface="Arial"/>
                  <a:cs typeface="Arial"/>
                  <a:sym typeface="Arial"/>
                </a:rPr>
                <a:t>Record REVENUE </a:t>
              </a:r>
              <a:r>
                <a:rPr lang="en-US" sz="1493" b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Accrual Accounting – Expense recognition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183880" cy="1084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133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Matching principle: </a:t>
            </a:r>
            <a:r>
              <a:rPr lang="en-US" sz="2133" dirty="0">
                <a:solidFill>
                  <a:srgbClr val="15284B"/>
                </a:solidFill>
                <a:latin typeface="Arial"/>
                <a:ea typeface="Arial Bold"/>
                <a:cs typeface="Arial"/>
                <a:sym typeface="Arial"/>
              </a:rPr>
              <a:t>record</a:t>
            </a:r>
            <a:r>
              <a:rPr lang="en-US" sz="2133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expenses with the revenue generated with them.</a:t>
            </a:r>
          </a:p>
          <a:p>
            <a:pPr algn="l">
              <a:lnSpc>
                <a:spcPts val="2918"/>
              </a:lnSpc>
            </a:pPr>
            <a:endParaRPr lang="en-US" sz="2133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594352" y="2595099"/>
            <a:ext cx="6564896" cy="3527799"/>
            <a:chOff x="0" y="0"/>
            <a:chExt cx="8413188" cy="4421151"/>
          </a:xfrm>
        </p:grpSpPr>
        <p:grpSp>
          <p:nvGrpSpPr>
            <p:cNvPr id="13" name="Group 13"/>
            <p:cNvGrpSpPr/>
            <p:nvPr/>
          </p:nvGrpSpPr>
          <p:grpSpPr>
            <a:xfrm>
              <a:off x="464425" y="931163"/>
              <a:ext cx="2244228" cy="1628804"/>
              <a:chOff x="0" y="0"/>
              <a:chExt cx="2244228" cy="162880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731" y="6731"/>
                <a:ext cx="2230247" cy="1614043"/>
              </a:xfrm>
              <a:custGeom>
                <a:avLst/>
                <a:gdLst/>
                <a:ahLst/>
                <a:cxnLst/>
                <a:rect l="l" t="t" r="r" b="b"/>
                <a:pathLst>
                  <a:path w="2230247" h="1614043">
                    <a:moveTo>
                      <a:pt x="0" y="0"/>
                    </a:moveTo>
                    <a:lnTo>
                      <a:pt x="2230247" y="0"/>
                    </a:lnTo>
                    <a:lnTo>
                      <a:pt x="2230247" y="1291209"/>
                    </a:lnTo>
                    <a:lnTo>
                      <a:pt x="1115187" y="1614043"/>
                    </a:lnTo>
                    <a:lnTo>
                      <a:pt x="0" y="1291209"/>
                    </a:lnTo>
                    <a:close/>
                  </a:path>
                </a:pathLst>
              </a:custGeom>
              <a:solidFill>
                <a:srgbClr val="FAD38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0" y="0"/>
                <a:ext cx="2243709" cy="1627632"/>
              </a:xfrm>
              <a:custGeom>
                <a:avLst/>
                <a:gdLst/>
                <a:ahLst/>
                <a:cxnLst/>
                <a:rect l="l" t="t" r="r" b="b"/>
                <a:pathLst>
                  <a:path w="2243709" h="1627632">
                    <a:moveTo>
                      <a:pt x="6731" y="0"/>
                    </a:moveTo>
                    <a:lnTo>
                      <a:pt x="2236978" y="0"/>
                    </a:lnTo>
                    <a:cubicBezTo>
                      <a:pt x="2240661" y="0"/>
                      <a:pt x="2243709" y="3048"/>
                      <a:pt x="2243709" y="6731"/>
                    </a:cubicBezTo>
                    <a:lnTo>
                      <a:pt x="2243709" y="1297940"/>
                    </a:lnTo>
                    <a:cubicBezTo>
                      <a:pt x="2243709" y="1300988"/>
                      <a:pt x="2241677" y="1303655"/>
                      <a:pt x="2238756" y="1304417"/>
                    </a:cubicBezTo>
                    <a:lnTo>
                      <a:pt x="1123696" y="1627251"/>
                    </a:lnTo>
                    <a:cubicBezTo>
                      <a:pt x="1122426" y="1627632"/>
                      <a:pt x="1121156" y="1627632"/>
                      <a:pt x="1119886" y="1627251"/>
                    </a:cubicBezTo>
                    <a:lnTo>
                      <a:pt x="4953" y="1304417"/>
                    </a:lnTo>
                    <a:cubicBezTo>
                      <a:pt x="2032" y="1303528"/>
                      <a:pt x="0" y="1300988"/>
                      <a:pt x="0" y="1297940"/>
                    </a:cubicBezTo>
                    <a:lnTo>
                      <a:pt x="0" y="6731"/>
                    </a:lnTo>
                    <a:cubicBezTo>
                      <a:pt x="0" y="3048"/>
                      <a:pt x="3048" y="0"/>
                      <a:pt x="6731" y="0"/>
                    </a:cubicBezTo>
                    <a:moveTo>
                      <a:pt x="6731" y="13589"/>
                    </a:moveTo>
                    <a:lnTo>
                      <a:pt x="6731" y="6731"/>
                    </a:lnTo>
                    <a:lnTo>
                      <a:pt x="13462" y="6731"/>
                    </a:lnTo>
                    <a:lnTo>
                      <a:pt x="13462" y="1297940"/>
                    </a:lnTo>
                    <a:lnTo>
                      <a:pt x="6731" y="1297940"/>
                    </a:lnTo>
                    <a:lnTo>
                      <a:pt x="8636" y="1291463"/>
                    </a:lnTo>
                    <a:lnTo>
                      <a:pt x="1123696" y="1614297"/>
                    </a:lnTo>
                    <a:lnTo>
                      <a:pt x="1121791" y="1620774"/>
                    </a:lnTo>
                    <a:lnTo>
                      <a:pt x="1119886" y="1614297"/>
                    </a:lnTo>
                    <a:lnTo>
                      <a:pt x="2234946" y="1291463"/>
                    </a:lnTo>
                    <a:lnTo>
                      <a:pt x="2236851" y="1297940"/>
                    </a:lnTo>
                    <a:lnTo>
                      <a:pt x="2230120" y="1297940"/>
                    </a:lnTo>
                    <a:lnTo>
                      <a:pt x="2230120" y="6731"/>
                    </a:lnTo>
                    <a:lnTo>
                      <a:pt x="2236851" y="6731"/>
                    </a:lnTo>
                    <a:lnTo>
                      <a:pt x="2236851" y="13462"/>
                    </a:lnTo>
                    <a:lnTo>
                      <a:pt x="6731" y="13462"/>
                    </a:lnTo>
                    <a:close/>
                  </a:path>
                </a:pathLst>
              </a:custGeom>
              <a:solidFill>
                <a:srgbClr val="FAD38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71429" y="942632"/>
              <a:ext cx="2212088" cy="1391775"/>
              <a:chOff x="0" y="0"/>
              <a:chExt cx="2212088" cy="13917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-1524" y="-1524"/>
                <a:ext cx="2215134" cy="1394841"/>
              </a:xfrm>
              <a:custGeom>
                <a:avLst/>
                <a:gdLst/>
                <a:ahLst/>
                <a:cxnLst/>
                <a:rect l="l" t="t" r="r" b="b"/>
                <a:pathLst>
                  <a:path w="2215134" h="1394841">
                    <a:moveTo>
                      <a:pt x="1524" y="0"/>
                    </a:moveTo>
                    <a:lnTo>
                      <a:pt x="2213610" y="0"/>
                    </a:lnTo>
                    <a:cubicBezTo>
                      <a:pt x="2214499" y="0"/>
                      <a:pt x="2215134" y="762"/>
                      <a:pt x="2215134" y="1524"/>
                    </a:cubicBezTo>
                    <a:lnTo>
                      <a:pt x="2215134" y="1393317"/>
                    </a:lnTo>
                    <a:cubicBezTo>
                      <a:pt x="2215134" y="1394206"/>
                      <a:pt x="2214372" y="1394841"/>
                      <a:pt x="2213610" y="1394841"/>
                    </a:cubicBezTo>
                    <a:lnTo>
                      <a:pt x="1524" y="1394841"/>
                    </a:lnTo>
                    <a:cubicBezTo>
                      <a:pt x="635" y="1394841"/>
                      <a:pt x="0" y="1394079"/>
                      <a:pt x="0" y="1393317"/>
                    </a:cubicBezTo>
                    <a:lnTo>
                      <a:pt x="0" y="1524"/>
                    </a:lnTo>
                    <a:cubicBezTo>
                      <a:pt x="0" y="635"/>
                      <a:pt x="762" y="0"/>
                      <a:pt x="1524" y="0"/>
                    </a:cubicBezTo>
                    <a:moveTo>
                      <a:pt x="1524" y="3048"/>
                    </a:moveTo>
                    <a:lnTo>
                      <a:pt x="1524" y="1524"/>
                    </a:lnTo>
                    <a:lnTo>
                      <a:pt x="3048" y="1524"/>
                    </a:lnTo>
                    <a:lnTo>
                      <a:pt x="3048" y="1393317"/>
                    </a:lnTo>
                    <a:lnTo>
                      <a:pt x="1524" y="1393317"/>
                    </a:lnTo>
                    <a:lnTo>
                      <a:pt x="1524" y="1391793"/>
                    </a:lnTo>
                    <a:lnTo>
                      <a:pt x="2213610" y="1391793"/>
                    </a:lnTo>
                    <a:lnTo>
                      <a:pt x="2213610" y="1393317"/>
                    </a:lnTo>
                    <a:lnTo>
                      <a:pt x="2212086" y="1393317"/>
                    </a:lnTo>
                    <a:lnTo>
                      <a:pt x="2212086" y="1524"/>
                    </a:lnTo>
                    <a:lnTo>
                      <a:pt x="2213610" y="1524"/>
                    </a:lnTo>
                    <a:lnTo>
                      <a:pt x="2213610" y="3048"/>
                    </a:lnTo>
                    <a:lnTo>
                      <a:pt x="1524" y="3048"/>
                    </a:lnTo>
                    <a:close/>
                  </a:path>
                </a:pathLst>
              </a:custGeom>
              <a:solidFill>
                <a:srgbClr val="FAD38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2212088" cy="1420350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ctr">
                  <a:lnSpc>
                    <a:spcPts val="1791"/>
                  </a:lnSpc>
                </a:pPr>
                <a:r>
                  <a:rPr lang="en-US" sz="1493" b="1">
                    <a:solidFill>
                      <a:srgbClr val="FF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1</a:t>
                </a:r>
              </a:p>
              <a:p>
                <a:pPr algn="ctr">
                  <a:lnSpc>
                    <a:spcPts val="1612"/>
                  </a:lnSpc>
                </a:pPr>
                <a:r>
                  <a:rPr lang="en-US" sz="1493">
                    <a:solidFill>
                      <a:srgbClr val="003057"/>
                    </a:solidFill>
                    <a:latin typeface="Arial"/>
                    <a:ea typeface="Arial"/>
                    <a:cs typeface="Arial"/>
                    <a:sym typeface="Arial"/>
                  </a:rPr>
                  <a:t>to purchase supplies before being used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991293" y="931163"/>
              <a:ext cx="2244228" cy="1628804"/>
              <a:chOff x="0" y="0"/>
              <a:chExt cx="2244228" cy="162880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731" y="6731"/>
                <a:ext cx="2230247" cy="1614043"/>
              </a:xfrm>
              <a:custGeom>
                <a:avLst/>
                <a:gdLst/>
                <a:ahLst/>
                <a:cxnLst/>
                <a:rect l="l" t="t" r="r" b="b"/>
                <a:pathLst>
                  <a:path w="2230247" h="1614043">
                    <a:moveTo>
                      <a:pt x="0" y="0"/>
                    </a:moveTo>
                    <a:lnTo>
                      <a:pt x="2230247" y="0"/>
                    </a:lnTo>
                    <a:lnTo>
                      <a:pt x="2230247" y="1291209"/>
                    </a:lnTo>
                    <a:lnTo>
                      <a:pt x="1115187" y="1614043"/>
                    </a:lnTo>
                    <a:lnTo>
                      <a:pt x="0" y="1291209"/>
                    </a:lnTo>
                    <a:close/>
                  </a:path>
                </a:pathLst>
              </a:custGeom>
              <a:solidFill>
                <a:srgbClr val="83B4A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0" y="0"/>
                <a:ext cx="2243709" cy="1627632"/>
              </a:xfrm>
              <a:custGeom>
                <a:avLst/>
                <a:gdLst/>
                <a:ahLst/>
                <a:cxnLst/>
                <a:rect l="l" t="t" r="r" b="b"/>
                <a:pathLst>
                  <a:path w="2243709" h="1627632">
                    <a:moveTo>
                      <a:pt x="6731" y="0"/>
                    </a:moveTo>
                    <a:lnTo>
                      <a:pt x="2236978" y="0"/>
                    </a:lnTo>
                    <a:cubicBezTo>
                      <a:pt x="2240661" y="0"/>
                      <a:pt x="2243709" y="3048"/>
                      <a:pt x="2243709" y="6731"/>
                    </a:cubicBezTo>
                    <a:lnTo>
                      <a:pt x="2243709" y="1297940"/>
                    </a:lnTo>
                    <a:cubicBezTo>
                      <a:pt x="2243709" y="1300988"/>
                      <a:pt x="2241677" y="1303655"/>
                      <a:pt x="2238756" y="1304417"/>
                    </a:cubicBezTo>
                    <a:lnTo>
                      <a:pt x="1123696" y="1627251"/>
                    </a:lnTo>
                    <a:cubicBezTo>
                      <a:pt x="1122426" y="1627632"/>
                      <a:pt x="1121156" y="1627632"/>
                      <a:pt x="1119886" y="1627251"/>
                    </a:cubicBezTo>
                    <a:lnTo>
                      <a:pt x="4953" y="1304417"/>
                    </a:lnTo>
                    <a:cubicBezTo>
                      <a:pt x="2032" y="1303528"/>
                      <a:pt x="0" y="1300988"/>
                      <a:pt x="0" y="1297940"/>
                    </a:cubicBezTo>
                    <a:lnTo>
                      <a:pt x="0" y="6731"/>
                    </a:lnTo>
                    <a:cubicBezTo>
                      <a:pt x="0" y="3048"/>
                      <a:pt x="3048" y="0"/>
                      <a:pt x="6731" y="0"/>
                    </a:cubicBezTo>
                    <a:moveTo>
                      <a:pt x="6731" y="13589"/>
                    </a:moveTo>
                    <a:lnTo>
                      <a:pt x="6731" y="6731"/>
                    </a:lnTo>
                    <a:lnTo>
                      <a:pt x="13462" y="6731"/>
                    </a:lnTo>
                    <a:lnTo>
                      <a:pt x="13462" y="1297940"/>
                    </a:lnTo>
                    <a:lnTo>
                      <a:pt x="6731" y="1297940"/>
                    </a:lnTo>
                    <a:lnTo>
                      <a:pt x="8636" y="1291463"/>
                    </a:lnTo>
                    <a:lnTo>
                      <a:pt x="1123696" y="1614297"/>
                    </a:lnTo>
                    <a:lnTo>
                      <a:pt x="1121791" y="1620774"/>
                    </a:lnTo>
                    <a:lnTo>
                      <a:pt x="1119886" y="1614297"/>
                    </a:lnTo>
                    <a:lnTo>
                      <a:pt x="2234946" y="1291463"/>
                    </a:lnTo>
                    <a:lnTo>
                      <a:pt x="2236851" y="1297940"/>
                    </a:lnTo>
                    <a:lnTo>
                      <a:pt x="2230120" y="1297940"/>
                    </a:lnTo>
                    <a:lnTo>
                      <a:pt x="2230120" y="6731"/>
                    </a:lnTo>
                    <a:lnTo>
                      <a:pt x="2236851" y="6731"/>
                    </a:lnTo>
                    <a:lnTo>
                      <a:pt x="2236851" y="13462"/>
                    </a:lnTo>
                    <a:lnTo>
                      <a:pt x="6731" y="13462"/>
                    </a:lnTo>
                    <a:close/>
                  </a:path>
                </a:pathLst>
              </a:custGeom>
              <a:solidFill>
                <a:srgbClr val="83B4A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120216" y="975017"/>
              <a:ext cx="1968248" cy="1298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1"/>
                </a:lnSpc>
              </a:pPr>
              <a:r>
                <a:rPr lang="en-US" sz="1493" b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  <a:p>
              <a:pPr algn="ctr">
                <a:lnSpc>
                  <a:spcPts val="1612"/>
                </a:lnSpc>
              </a:pPr>
              <a:r>
                <a:rPr lang="en-US" sz="1493">
                  <a:solidFill>
                    <a:srgbClr val="003057"/>
                  </a:solidFill>
                  <a:latin typeface="Arial"/>
                  <a:ea typeface="Arial"/>
                  <a:cs typeface="Arial"/>
                  <a:sym typeface="Arial"/>
                </a:rPr>
                <a:t>for repairs the same day (services used)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486953" y="918887"/>
              <a:ext cx="2244228" cy="1628804"/>
              <a:chOff x="0" y="0"/>
              <a:chExt cx="2244228" cy="162880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731" y="6731"/>
                <a:ext cx="2230247" cy="1614043"/>
              </a:xfrm>
              <a:custGeom>
                <a:avLst/>
                <a:gdLst/>
                <a:ahLst/>
                <a:cxnLst/>
                <a:rect l="l" t="t" r="r" b="b"/>
                <a:pathLst>
                  <a:path w="2230247" h="1614043">
                    <a:moveTo>
                      <a:pt x="0" y="0"/>
                    </a:moveTo>
                    <a:lnTo>
                      <a:pt x="2230247" y="0"/>
                    </a:lnTo>
                    <a:lnTo>
                      <a:pt x="2230247" y="1291209"/>
                    </a:lnTo>
                    <a:lnTo>
                      <a:pt x="1115187" y="1614043"/>
                    </a:lnTo>
                    <a:lnTo>
                      <a:pt x="0" y="1291209"/>
                    </a:lnTo>
                    <a:close/>
                  </a:path>
                </a:pathLst>
              </a:custGeom>
              <a:solidFill>
                <a:srgbClr val="EFC0B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0" y="0"/>
                <a:ext cx="2243709" cy="1627632"/>
              </a:xfrm>
              <a:custGeom>
                <a:avLst/>
                <a:gdLst/>
                <a:ahLst/>
                <a:cxnLst/>
                <a:rect l="l" t="t" r="r" b="b"/>
                <a:pathLst>
                  <a:path w="2243709" h="1627632">
                    <a:moveTo>
                      <a:pt x="6731" y="0"/>
                    </a:moveTo>
                    <a:lnTo>
                      <a:pt x="2236978" y="0"/>
                    </a:lnTo>
                    <a:cubicBezTo>
                      <a:pt x="2240661" y="0"/>
                      <a:pt x="2243709" y="3048"/>
                      <a:pt x="2243709" y="6731"/>
                    </a:cubicBezTo>
                    <a:lnTo>
                      <a:pt x="2243709" y="1297940"/>
                    </a:lnTo>
                    <a:cubicBezTo>
                      <a:pt x="2243709" y="1300988"/>
                      <a:pt x="2241677" y="1303655"/>
                      <a:pt x="2238756" y="1304417"/>
                    </a:cubicBezTo>
                    <a:lnTo>
                      <a:pt x="1123696" y="1627251"/>
                    </a:lnTo>
                    <a:cubicBezTo>
                      <a:pt x="1122426" y="1627632"/>
                      <a:pt x="1121156" y="1627632"/>
                      <a:pt x="1119886" y="1627251"/>
                    </a:cubicBezTo>
                    <a:lnTo>
                      <a:pt x="4953" y="1304417"/>
                    </a:lnTo>
                    <a:cubicBezTo>
                      <a:pt x="2032" y="1303528"/>
                      <a:pt x="0" y="1300988"/>
                      <a:pt x="0" y="1297940"/>
                    </a:cubicBezTo>
                    <a:lnTo>
                      <a:pt x="0" y="6731"/>
                    </a:lnTo>
                    <a:cubicBezTo>
                      <a:pt x="0" y="3048"/>
                      <a:pt x="3048" y="0"/>
                      <a:pt x="6731" y="0"/>
                    </a:cubicBezTo>
                    <a:moveTo>
                      <a:pt x="6731" y="13589"/>
                    </a:moveTo>
                    <a:lnTo>
                      <a:pt x="6731" y="6731"/>
                    </a:lnTo>
                    <a:lnTo>
                      <a:pt x="13462" y="6731"/>
                    </a:lnTo>
                    <a:lnTo>
                      <a:pt x="13462" y="1297940"/>
                    </a:lnTo>
                    <a:lnTo>
                      <a:pt x="6731" y="1297940"/>
                    </a:lnTo>
                    <a:lnTo>
                      <a:pt x="8636" y="1291463"/>
                    </a:lnTo>
                    <a:lnTo>
                      <a:pt x="1123696" y="1614297"/>
                    </a:lnTo>
                    <a:lnTo>
                      <a:pt x="1121791" y="1620774"/>
                    </a:lnTo>
                    <a:lnTo>
                      <a:pt x="1119886" y="1614297"/>
                    </a:lnTo>
                    <a:lnTo>
                      <a:pt x="2234946" y="1291463"/>
                    </a:lnTo>
                    <a:lnTo>
                      <a:pt x="2236851" y="1297940"/>
                    </a:lnTo>
                    <a:lnTo>
                      <a:pt x="2230120" y="1297940"/>
                    </a:lnTo>
                    <a:lnTo>
                      <a:pt x="2230120" y="6731"/>
                    </a:lnTo>
                    <a:lnTo>
                      <a:pt x="2236851" y="6731"/>
                    </a:lnTo>
                    <a:lnTo>
                      <a:pt x="2236851" y="13462"/>
                    </a:lnTo>
                    <a:lnTo>
                      <a:pt x="6731" y="13462"/>
                    </a:lnTo>
                    <a:close/>
                  </a:path>
                </a:pathLst>
              </a:custGeom>
              <a:solidFill>
                <a:srgbClr val="EFC0B2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615876" y="1001169"/>
              <a:ext cx="1968248" cy="1298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1"/>
                </a:lnSpc>
              </a:pPr>
              <a:r>
                <a:rPr lang="en-US" sz="1493" b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  <a:p>
              <a:pPr algn="ctr">
                <a:lnSpc>
                  <a:spcPts val="1612"/>
                </a:lnSpc>
              </a:pPr>
              <a:r>
                <a:rPr lang="en-US" sz="1493">
                  <a:solidFill>
                    <a:srgbClr val="003057"/>
                  </a:solidFill>
                  <a:latin typeface="Arial"/>
                  <a:ea typeface="Arial"/>
                  <a:cs typeface="Arial"/>
                  <a:sym typeface="Arial"/>
                </a:rPr>
                <a:t>to employees for work in the prior period 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53297" y="0"/>
              <a:ext cx="7289013" cy="929200"/>
            </a:xfrm>
            <a:custGeom>
              <a:avLst/>
              <a:gdLst/>
              <a:ahLst/>
              <a:cxnLst/>
              <a:rect l="l" t="t" r="r" b="b"/>
              <a:pathLst>
                <a:path w="7289013" h="929200">
                  <a:moveTo>
                    <a:pt x="0" y="0"/>
                  </a:moveTo>
                  <a:lnTo>
                    <a:pt x="7289012" y="0"/>
                  </a:lnTo>
                  <a:lnTo>
                    <a:pt x="7289012" y="929200"/>
                  </a:lnTo>
                  <a:lnTo>
                    <a:pt x="0" y="92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931" y="262951"/>
              <a:ext cx="6115994" cy="3863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1"/>
                </a:lnSpc>
              </a:pPr>
              <a:r>
                <a:rPr lang="en-US" sz="1493">
                  <a:solidFill>
                    <a:srgbClr val="003057"/>
                  </a:solidFill>
                  <a:latin typeface="Arial"/>
                  <a:ea typeface="Arial"/>
                  <a:cs typeface="Arial"/>
                  <a:sym typeface="Arial"/>
                </a:rPr>
                <a:t>Cash may be paid . . .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2413667"/>
              <a:ext cx="8413188" cy="876898"/>
              <a:chOff x="0" y="0"/>
              <a:chExt cx="8413188" cy="87689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413115" cy="876808"/>
              </a:xfrm>
              <a:custGeom>
                <a:avLst/>
                <a:gdLst/>
                <a:ahLst/>
                <a:cxnLst/>
                <a:rect l="l" t="t" r="r" b="b"/>
                <a:pathLst>
                  <a:path w="8413115" h="876808">
                    <a:moveTo>
                      <a:pt x="0" y="219202"/>
                    </a:moveTo>
                    <a:lnTo>
                      <a:pt x="7974711" y="219202"/>
                    </a:lnTo>
                    <a:lnTo>
                      <a:pt x="7974711" y="0"/>
                    </a:lnTo>
                    <a:lnTo>
                      <a:pt x="8413115" y="438404"/>
                    </a:lnTo>
                    <a:lnTo>
                      <a:pt x="7974711" y="876808"/>
                    </a:lnTo>
                    <a:lnTo>
                      <a:pt x="7974711" y="657733"/>
                    </a:lnTo>
                    <a:lnTo>
                      <a:pt x="0" y="657733"/>
                    </a:lnTo>
                    <a:close/>
                  </a:path>
                </a:pathLst>
              </a:custGeom>
              <a:solidFill>
                <a:srgbClr val="D8623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085327" y="2621978"/>
              <a:ext cx="4094625" cy="1799172"/>
              <a:chOff x="0" y="0"/>
              <a:chExt cx="4094625" cy="179917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731" y="6731"/>
                <a:ext cx="4080637" cy="1784477"/>
              </a:xfrm>
              <a:custGeom>
                <a:avLst/>
                <a:gdLst/>
                <a:ahLst/>
                <a:cxnLst/>
                <a:rect l="l" t="t" r="r" b="b"/>
                <a:pathLst>
                  <a:path w="4080637" h="1784477">
                    <a:moveTo>
                      <a:pt x="0" y="803402"/>
                    </a:moveTo>
                    <a:lnTo>
                      <a:pt x="799592" y="803402"/>
                    </a:lnTo>
                    <a:lnTo>
                      <a:pt x="799592" y="446151"/>
                    </a:lnTo>
                    <a:lnTo>
                      <a:pt x="392684" y="446151"/>
                    </a:lnTo>
                    <a:lnTo>
                      <a:pt x="2040382" y="0"/>
                    </a:lnTo>
                    <a:lnTo>
                      <a:pt x="3688080" y="446151"/>
                    </a:lnTo>
                    <a:lnTo>
                      <a:pt x="3281172" y="446151"/>
                    </a:lnTo>
                    <a:lnTo>
                      <a:pt x="3281172" y="803402"/>
                    </a:lnTo>
                    <a:lnTo>
                      <a:pt x="4080637" y="803402"/>
                    </a:lnTo>
                    <a:lnTo>
                      <a:pt x="4080637" y="1784477"/>
                    </a:lnTo>
                    <a:lnTo>
                      <a:pt x="0" y="1784477"/>
                    </a:lnTo>
                    <a:close/>
                  </a:path>
                </a:pathLst>
              </a:custGeom>
              <a:solidFill>
                <a:srgbClr val="F3B43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0" y="0"/>
                <a:ext cx="4094099" cy="1797939"/>
              </a:xfrm>
              <a:custGeom>
                <a:avLst/>
                <a:gdLst/>
                <a:ahLst/>
                <a:cxnLst/>
                <a:rect l="l" t="t" r="r" b="b"/>
                <a:pathLst>
                  <a:path w="4094099" h="1797939">
                    <a:moveTo>
                      <a:pt x="6731" y="803275"/>
                    </a:moveTo>
                    <a:lnTo>
                      <a:pt x="806323" y="803275"/>
                    </a:lnTo>
                    <a:lnTo>
                      <a:pt x="806323" y="810006"/>
                    </a:lnTo>
                    <a:lnTo>
                      <a:pt x="799592" y="810006"/>
                    </a:lnTo>
                    <a:lnTo>
                      <a:pt x="799592" y="452882"/>
                    </a:lnTo>
                    <a:lnTo>
                      <a:pt x="806323" y="452882"/>
                    </a:lnTo>
                    <a:lnTo>
                      <a:pt x="806323" y="459613"/>
                    </a:lnTo>
                    <a:lnTo>
                      <a:pt x="399415" y="459613"/>
                    </a:lnTo>
                    <a:cubicBezTo>
                      <a:pt x="395986" y="459613"/>
                      <a:pt x="393192" y="457073"/>
                      <a:pt x="392684" y="453771"/>
                    </a:cubicBezTo>
                    <a:cubicBezTo>
                      <a:pt x="392176" y="450469"/>
                      <a:pt x="394335" y="447167"/>
                      <a:pt x="397637" y="446278"/>
                    </a:cubicBezTo>
                    <a:lnTo>
                      <a:pt x="2045335" y="254"/>
                    </a:lnTo>
                    <a:cubicBezTo>
                      <a:pt x="2046478" y="0"/>
                      <a:pt x="2047748" y="0"/>
                      <a:pt x="2048891" y="254"/>
                    </a:cubicBezTo>
                    <a:lnTo>
                      <a:pt x="3696589" y="446278"/>
                    </a:lnTo>
                    <a:cubicBezTo>
                      <a:pt x="3699891" y="447167"/>
                      <a:pt x="3701923" y="450342"/>
                      <a:pt x="3701542" y="453771"/>
                    </a:cubicBezTo>
                    <a:cubicBezTo>
                      <a:pt x="3701161" y="457200"/>
                      <a:pt x="3698240" y="459613"/>
                      <a:pt x="3694811" y="459613"/>
                    </a:cubicBezTo>
                    <a:lnTo>
                      <a:pt x="3287903" y="459613"/>
                    </a:lnTo>
                    <a:lnTo>
                      <a:pt x="3287903" y="452882"/>
                    </a:lnTo>
                    <a:lnTo>
                      <a:pt x="3294634" y="452882"/>
                    </a:lnTo>
                    <a:lnTo>
                      <a:pt x="3294634" y="810133"/>
                    </a:lnTo>
                    <a:lnTo>
                      <a:pt x="3287903" y="810133"/>
                    </a:lnTo>
                    <a:lnTo>
                      <a:pt x="3287903" y="803402"/>
                    </a:lnTo>
                    <a:lnTo>
                      <a:pt x="4087368" y="803402"/>
                    </a:lnTo>
                    <a:cubicBezTo>
                      <a:pt x="4091051" y="803402"/>
                      <a:pt x="4094099" y="806450"/>
                      <a:pt x="4094099" y="810133"/>
                    </a:cubicBezTo>
                    <a:lnTo>
                      <a:pt x="4094099" y="1791208"/>
                    </a:lnTo>
                    <a:cubicBezTo>
                      <a:pt x="4094099" y="1794891"/>
                      <a:pt x="4091051" y="1797939"/>
                      <a:pt x="4087368" y="1797939"/>
                    </a:cubicBezTo>
                    <a:lnTo>
                      <a:pt x="6731" y="1797939"/>
                    </a:lnTo>
                    <a:cubicBezTo>
                      <a:pt x="3048" y="1797939"/>
                      <a:pt x="0" y="1794891"/>
                      <a:pt x="0" y="1791208"/>
                    </a:cubicBezTo>
                    <a:lnTo>
                      <a:pt x="0" y="810133"/>
                    </a:lnTo>
                    <a:cubicBezTo>
                      <a:pt x="0" y="806450"/>
                      <a:pt x="3048" y="803402"/>
                      <a:pt x="6731" y="803402"/>
                    </a:cubicBezTo>
                    <a:moveTo>
                      <a:pt x="6731" y="816991"/>
                    </a:moveTo>
                    <a:lnTo>
                      <a:pt x="6731" y="810260"/>
                    </a:lnTo>
                    <a:lnTo>
                      <a:pt x="13462" y="810260"/>
                    </a:lnTo>
                    <a:lnTo>
                      <a:pt x="13462" y="1791335"/>
                    </a:lnTo>
                    <a:lnTo>
                      <a:pt x="6731" y="1791335"/>
                    </a:lnTo>
                    <a:lnTo>
                      <a:pt x="6731" y="1784604"/>
                    </a:lnTo>
                    <a:lnTo>
                      <a:pt x="4087368" y="1784604"/>
                    </a:lnTo>
                    <a:lnTo>
                      <a:pt x="4087368" y="1791335"/>
                    </a:lnTo>
                    <a:lnTo>
                      <a:pt x="4080637" y="1791335"/>
                    </a:lnTo>
                    <a:lnTo>
                      <a:pt x="4080637" y="810133"/>
                    </a:lnTo>
                    <a:lnTo>
                      <a:pt x="4087368" y="810133"/>
                    </a:lnTo>
                    <a:lnTo>
                      <a:pt x="4087368" y="816864"/>
                    </a:lnTo>
                    <a:lnTo>
                      <a:pt x="3287903" y="816864"/>
                    </a:lnTo>
                    <a:cubicBezTo>
                      <a:pt x="3284220" y="816864"/>
                      <a:pt x="3281172" y="813816"/>
                      <a:pt x="3281172" y="810133"/>
                    </a:cubicBezTo>
                    <a:lnTo>
                      <a:pt x="3281172" y="452882"/>
                    </a:lnTo>
                    <a:cubicBezTo>
                      <a:pt x="3281172" y="449199"/>
                      <a:pt x="3284220" y="446151"/>
                      <a:pt x="3287903" y="446151"/>
                    </a:cubicBezTo>
                    <a:lnTo>
                      <a:pt x="3694811" y="446151"/>
                    </a:lnTo>
                    <a:lnTo>
                      <a:pt x="3694811" y="452882"/>
                    </a:lnTo>
                    <a:lnTo>
                      <a:pt x="3693033" y="459359"/>
                    </a:lnTo>
                    <a:lnTo>
                      <a:pt x="2045335" y="13335"/>
                    </a:lnTo>
                    <a:lnTo>
                      <a:pt x="2047113" y="6858"/>
                    </a:lnTo>
                    <a:lnTo>
                      <a:pt x="2048891" y="13335"/>
                    </a:lnTo>
                    <a:lnTo>
                      <a:pt x="401066" y="459359"/>
                    </a:lnTo>
                    <a:lnTo>
                      <a:pt x="399288" y="452882"/>
                    </a:lnTo>
                    <a:lnTo>
                      <a:pt x="399288" y="446151"/>
                    </a:lnTo>
                    <a:lnTo>
                      <a:pt x="806323" y="446151"/>
                    </a:lnTo>
                    <a:cubicBezTo>
                      <a:pt x="810006" y="446151"/>
                      <a:pt x="813054" y="449199"/>
                      <a:pt x="813054" y="452882"/>
                    </a:cubicBezTo>
                    <a:lnTo>
                      <a:pt x="813054" y="810133"/>
                    </a:lnTo>
                    <a:cubicBezTo>
                      <a:pt x="813054" y="813816"/>
                      <a:pt x="810006" y="816864"/>
                      <a:pt x="806323" y="816864"/>
                    </a:cubicBezTo>
                    <a:lnTo>
                      <a:pt x="6731" y="816864"/>
                    </a:lnTo>
                    <a:close/>
                  </a:path>
                </a:pathLst>
              </a:custGeom>
              <a:solidFill>
                <a:srgbClr val="003057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645000" y="3288400"/>
              <a:ext cx="4960008" cy="722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1"/>
                </a:lnSpc>
              </a:pPr>
              <a:r>
                <a:rPr lang="en-US" sz="1493" b="1">
                  <a:solidFill>
                    <a:srgbClr val="CE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USED</a:t>
              </a:r>
            </a:p>
            <a:p>
              <a:pPr algn="ctr">
                <a:lnSpc>
                  <a:spcPts val="1791"/>
                </a:lnSpc>
              </a:pPr>
              <a:r>
                <a:rPr lang="en-US" sz="1493" b="1">
                  <a:solidFill>
                    <a:srgbClr val="CE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(INCURRED to generate revenue)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54581" y="3910740"/>
              <a:ext cx="3509457" cy="3863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1"/>
                </a:lnSpc>
              </a:pPr>
              <a:r>
                <a:rPr lang="en-US" sz="1493">
                  <a:solidFill>
                    <a:srgbClr val="003057"/>
                  </a:solidFill>
                  <a:latin typeface="Arial"/>
                  <a:ea typeface="Arial"/>
                  <a:cs typeface="Arial"/>
                  <a:sym typeface="Arial"/>
                </a:rPr>
                <a:t>Record EXPENSE </a:t>
              </a:r>
              <a:r>
                <a:rPr lang="en-US" sz="1493" b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here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Expenses – examples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455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Cost of Goods Sold or COGS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 - the costs directly tied to the production and sale of the product or service  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Operating expenses</a:t>
            </a: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 - NOT directly tied to the production/sales: </a:t>
            </a:r>
          </a:p>
          <a:p>
            <a:pPr marL="503765" lvl="1" indent="-251882" algn="l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Sales and Marketing</a:t>
            </a:r>
          </a:p>
          <a:p>
            <a:pPr marL="503765" lvl="1" indent="-251882" algn="l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General and administrative</a:t>
            </a:r>
          </a:p>
          <a:p>
            <a:pPr marL="503766" lvl="1" indent="-251883" algn="l">
              <a:lnSpc>
                <a:spcPct val="130000"/>
              </a:lnSpc>
              <a:buFont typeface="Arial"/>
              <a:buChar char="•"/>
            </a:pPr>
            <a:r>
              <a:rPr lang="en-US" sz="2300" dirty="0">
                <a:solidFill>
                  <a:srgbClr val="15284B"/>
                </a:solidFill>
                <a:latin typeface="Arial"/>
                <a:ea typeface="Arial"/>
                <a:cs typeface="Arial"/>
                <a:sym typeface="Arial"/>
              </a:rPr>
              <a:t>Research and development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15284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Non-operating (financial) expenses </a:t>
            </a: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Provision for income taxes 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Expenses – examples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Earnings per share (EPS)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616023"/>
            <a:ext cx="8595360" cy="363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EPS = Net income / Shares outstanding — the slice of profit each share owns.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2993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00274C"/>
                </a:solidFill>
                <a:latin typeface="Arial Bold"/>
                <a:ea typeface="Arial Bold"/>
                <a:cs typeface="Arial Bold"/>
                <a:sym typeface="Arial Bold"/>
              </a:rPr>
              <a:t>Basic EPS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- based on shares currently outstanding</a:t>
            </a:r>
          </a:p>
          <a:p>
            <a:pPr algn="l">
              <a:lnSpc>
                <a:spcPct val="130000"/>
              </a:lnSpc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93042" lvl="1" indent="-3429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00274C"/>
                </a:solidFill>
                <a:latin typeface="Arial Bold"/>
                <a:ea typeface="Arial Bold"/>
                <a:cs typeface="Arial Bold"/>
                <a:sym typeface="Arial Bold"/>
              </a:rPr>
              <a:t>Diluted EPS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- based on shares currently outstanding, and the net number of shares that may become outstanding in the future. 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Earnings per share (EPS)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Income statement – key ratios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73667"/>
            <a:ext cx="8595360" cy="452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Gross profit margin = (Sales – Cost of Sales) / Sales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– product or service profit or unit economics</a:t>
            </a: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Operating profit margin = Operating income / Sales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–  core business profitability </a:t>
            </a:r>
          </a:p>
          <a:p>
            <a:pPr algn="l">
              <a:lnSpc>
                <a:spcPct val="130000"/>
              </a:lnSpc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Net profit margin = Net income / Sales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 Bold"/>
                <a:cs typeface="Arial"/>
                <a:sym typeface="Arial"/>
              </a:rPr>
              <a:t>bottom-line profitability</a:t>
            </a:r>
            <a:endParaRPr lang="en-US" sz="2300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endParaRPr lang="en-US" sz="2300" dirty="0">
              <a:solidFill>
                <a:srgbClr val="00305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Market price to Earnings (PE) =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 Bold"/>
              </a:rPr>
              <a:t>market valuation multiple  </a:t>
            </a:r>
          </a:p>
          <a:p>
            <a:pPr algn="l">
              <a:lnSpc>
                <a:spcPct val="130000"/>
              </a:lnSpc>
            </a:pPr>
            <a:endParaRPr lang="en-US" sz="2133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Income statement – key ratios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610591" y="1077234"/>
            <a:ext cx="3225190" cy="705510"/>
            <a:chOff x="0" y="0"/>
            <a:chExt cx="4300254" cy="9406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00220" cy="940689"/>
            </a:xfrm>
            <a:custGeom>
              <a:avLst/>
              <a:gdLst/>
              <a:ahLst/>
              <a:cxnLst/>
              <a:rect l="l" t="t" r="r" b="b"/>
              <a:pathLst>
                <a:path w="4300220" h="940689">
                  <a:moveTo>
                    <a:pt x="0" y="0"/>
                  </a:moveTo>
                  <a:lnTo>
                    <a:pt x="4300220" y="0"/>
                  </a:lnTo>
                  <a:lnTo>
                    <a:pt x="4300220" y="940689"/>
                  </a:lnTo>
                  <a:lnTo>
                    <a:pt x="0" y="940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7681" y="2272453"/>
            <a:ext cx="8018572" cy="3145994"/>
            <a:chOff x="0" y="0"/>
            <a:chExt cx="10691429" cy="41946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91429" cy="4194658"/>
            </a:xfrm>
            <a:custGeom>
              <a:avLst/>
              <a:gdLst/>
              <a:ahLst/>
              <a:cxnLst/>
              <a:rect l="l" t="t" r="r" b="b"/>
              <a:pathLst>
                <a:path w="10691429" h="4194658">
                  <a:moveTo>
                    <a:pt x="0" y="0"/>
                  </a:moveTo>
                  <a:lnTo>
                    <a:pt x="10691429" y="0"/>
                  </a:lnTo>
                  <a:lnTo>
                    <a:pt x="10691429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61925"/>
              <a:ext cx="10691429" cy="4356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6"/>
                </a:lnSpc>
              </a:pPr>
              <a:r>
                <a:rPr lang="en-US" sz="4266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Summary</a:t>
              </a:r>
            </a:p>
          </p:txBody>
        </p:sp>
      </p:grpSp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Income statement – summary and notes 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87680" y="1547831"/>
            <a:ext cx="8595360" cy="493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revenues and expenses may be both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cash or non-cash.  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cost of revenues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represents the direct cost of production of the product or service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sold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operating expenses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might not be directly related to the revenues recognized. 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Cash flows for equipment, stock issuance, buybacks, and debt are not on the income statement.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income statement may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differ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from company to company. </a:t>
            </a:r>
          </a:p>
          <a:p>
            <a:pPr marL="480173" lvl="1" indent="-342900" algn="l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material expenses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are clearly displayed. </a:t>
            </a:r>
          </a:p>
          <a:p>
            <a:pPr marL="274546" lvl="1" indent="-137273" algn="l">
              <a:lnSpc>
                <a:spcPct val="130000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507</Words>
  <Application>Microsoft Office PowerPoint</Application>
  <PresentationFormat>Custom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Bold</vt:lpstr>
      <vt:lpstr>Calibri</vt:lpstr>
      <vt:lpstr>Office Theme</vt:lpstr>
      <vt:lpstr>Income Statement - details</vt:lpstr>
      <vt:lpstr>PowerPoint Presentation</vt:lpstr>
      <vt:lpstr>Operating activities at the firm</vt:lpstr>
      <vt:lpstr>Cash versus Accrual Accounting</vt:lpstr>
      <vt:lpstr>PowerPoint Presentation</vt:lpstr>
      <vt:lpstr>PowerPoint Presentation</vt:lpstr>
      <vt:lpstr>Expenses – examples</vt:lpstr>
      <vt:lpstr>Earnings per share (EPS)</vt:lpstr>
      <vt:lpstr>Income statement – key ratios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Income statement - details.pptx</dc:title>
  <dc:creator>Veselina Dinova</dc:creator>
  <cp:lastModifiedBy>Veselina Dinova</cp:lastModifiedBy>
  <cp:revision>1</cp:revision>
  <dcterms:created xsi:type="dcterms:W3CDTF">2006-08-16T00:00:00Z</dcterms:created>
  <dcterms:modified xsi:type="dcterms:W3CDTF">2026-09-07T20:19:19Z</dcterms:modified>
  <dc:identifier>DAGrGQ20Cwc</dc:identifier>
</cp:coreProperties>
</file>